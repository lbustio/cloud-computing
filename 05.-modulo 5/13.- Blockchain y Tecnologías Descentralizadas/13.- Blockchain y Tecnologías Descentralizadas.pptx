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</p:sldIdLst>
  <p:notesMasterIdLst>
    <p:notesMasterId r:id="rId5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notesMaster" Target="notesMasters/notesMaster1.xml"/><Relationship Id="rId60" Type="http://schemas.openxmlformats.org/officeDocument/2006/relationships/presProps" Target="presProps.xml"/><Relationship Id="rId61" Type="http://schemas.openxmlformats.org/officeDocument/2006/relationships/viewProps" Target="viewProps.xml"/><Relationship Id="rId62" Type="http://schemas.openxmlformats.org/officeDocument/2006/relationships/theme" Target="theme/theme1.xml"/><Relationship Id="rId6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96012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BLOCKCHAIN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58368" y="173736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8F5"/>
                </a:solidFill>
              </a:rPr>
              <a:t>Arquitectura, consenso, seguridad e ingeniería de sistemas distribuidos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58368" y="22402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7DD"/>
                </a:solidFill>
              </a:rPr>
              <a:t>Clase de maestría - enfoque técnico, sin criptomonedas, sin NFT, sin especulación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4206240"/>
            <a:ext cx="1078992" cy="502920"/>
          </a:xfrm>
          <a:prstGeom prst="rect">
            <a:avLst/>
          </a:prstGeom>
          <a:solidFill>
            <a:srgbClr val="0E9488"/>
          </a:solidFill>
          <a:ln w="12700">
            <a:solidFill>
              <a:srgbClr val="A9D7F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B0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947672" y="4453128"/>
            <a:ext cx="438912" cy="164592"/>
          </a:xfrm>
          <a:prstGeom prst="line">
            <a:avLst/>
          </a:prstGeom>
          <a:noFill/>
          <a:ln w="25400">
            <a:solidFill>
              <a:srgbClr val="A9D7F2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2441448" y="4370832"/>
            <a:ext cx="1078992" cy="502920"/>
          </a:xfrm>
          <a:prstGeom prst="rect">
            <a:avLst/>
          </a:prstGeom>
          <a:solidFill>
            <a:srgbClr val="1677B8"/>
          </a:solidFill>
          <a:ln w="12700">
            <a:solidFill>
              <a:srgbClr val="A9D7F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520440" y="4617720"/>
            <a:ext cx="438912" cy="-164592"/>
          </a:xfrm>
          <a:prstGeom prst="line">
            <a:avLst/>
          </a:prstGeom>
          <a:noFill/>
          <a:ln w="25400">
            <a:solidFill>
              <a:srgbClr val="A9D7F2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4014216" y="4206240"/>
            <a:ext cx="1078992" cy="502920"/>
          </a:xfrm>
          <a:prstGeom prst="rect">
            <a:avLst/>
          </a:prstGeom>
          <a:solidFill>
            <a:srgbClr val="0E9488"/>
          </a:solidFill>
          <a:ln w="12700">
            <a:solidFill>
              <a:srgbClr val="A9D7F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093208" y="4453128"/>
            <a:ext cx="438912" cy="164592"/>
          </a:xfrm>
          <a:prstGeom prst="line">
            <a:avLst/>
          </a:prstGeom>
          <a:noFill/>
          <a:ln w="25400">
            <a:solidFill>
              <a:srgbClr val="A9D7F2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5586984" y="4370832"/>
            <a:ext cx="1078992" cy="502920"/>
          </a:xfrm>
          <a:prstGeom prst="rect">
            <a:avLst/>
          </a:prstGeom>
          <a:solidFill>
            <a:srgbClr val="1677B8"/>
          </a:solidFill>
          <a:ln w="12700">
            <a:solidFill>
              <a:srgbClr val="A9D7F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B3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665976" y="4617720"/>
            <a:ext cx="438912" cy="-164592"/>
          </a:xfrm>
          <a:prstGeom prst="line">
            <a:avLst/>
          </a:prstGeom>
          <a:noFill/>
          <a:ln w="25400">
            <a:solidFill>
              <a:srgbClr val="A9D7F2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7159752" y="4206240"/>
            <a:ext cx="1078992" cy="502920"/>
          </a:xfrm>
          <a:prstGeom prst="rect">
            <a:avLst/>
          </a:prstGeom>
          <a:solidFill>
            <a:srgbClr val="0E9488"/>
          </a:solidFill>
          <a:ln w="12700">
            <a:solidFill>
              <a:srgbClr val="A9D7F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B4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238744" y="4453128"/>
            <a:ext cx="438912" cy="164592"/>
          </a:xfrm>
          <a:prstGeom prst="line">
            <a:avLst/>
          </a:prstGeom>
          <a:noFill/>
          <a:ln w="25400">
            <a:solidFill>
              <a:srgbClr val="A9D7F2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8732520" y="4370832"/>
            <a:ext cx="1078992" cy="502920"/>
          </a:xfrm>
          <a:prstGeom prst="rect">
            <a:avLst/>
          </a:prstGeom>
          <a:solidFill>
            <a:srgbClr val="1677B8"/>
          </a:solidFill>
          <a:ln w="12700">
            <a:solidFill>
              <a:srgbClr val="A9D7F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B5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811512" y="4617720"/>
            <a:ext cx="438912" cy="-164592"/>
          </a:xfrm>
          <a:prstGeom prst="line">
            <a:avLst/>
          </a:prstGeom>
          <a:noFill/>
          <a:ln w="25400">
            <a:solidFill>
              <a:srgbClr val="A9D7F2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10305288" y="4206240"/>
            <a:ext cx="1078992" cy="502920"/>
          </a:xfrm>
          <a:prstGeom prst="rect">
            <a:avLst/>
          </a:prstGeom>
          <a:solidFill>
            <a:srgbClr val="0E9488"/>
          </a:solidFill>
          <a:ln w="12700">
            <a:solidFill>
              <a:srgbClr val="A9D7F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B6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8368" y="6364224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FC7DD"/>
                </a:solidFill>
              </a:rPr>
              <a:t>Fuente base: Rayenizadeh &amp; Rafsanjani; EU Blockchain Observatory and Forum; Mathur; Liao.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 Alcance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475720" y="16459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A"/>
                </a:solidFill>
              </a:rPr>
              <a:t>02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Alcance de la clase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960120"/>
            <a:ext cx="108813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B677A"/>
                </a:solidFill>
              </a:rPr>
              <a:t>La clase trata blockchain como tecnología de sistemas distribuidos, no como mercado especulativo.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11155680" cy="0"/>
          </a:xfrm>
          <a:prstGeom prst="line">
            <a:avLst/>
          </a:prstGeom>
          <a:noFill/>
          <a:ln w="6350">
            <a:solidFill>
              <a:srgbClr val="B8C4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45920"/>
            <a:ext cx="5669280" cy="292608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r>
              <a:rPr lang="en-US" sz="1500" b="1" dirty="0">
                <a:solidFill>
                  <a:srgbClr val="102033"/>
                </a:solidFill>
              </a:rPr>
              <a:t>Dentro: ledger distribuido, bloques, hashes, firmas, consenso, permisos, seguridad, escalabilidad e interoperabilidad.</a:t>
            </a:r>
            <a:endParaRPr lang="en-US" sz="1500" dirty="0"/>
          </a:p>
          <a:p>
            <a:r>
              <a:rPr lang="en-US" sz="1500" dirty="0">
                <a:solidFill>
                  <a:srgbClr val="102033"/>
                </a:solidFill>
              </a:rPr>
              <a:t>Fuera: criptomonedas, trading, NFT, DeFi, coleccionables digitales y narrativa de inversión.</a:t>
            </a:r>
            <a:endParaRPr lang="en-US" sz="1500" dirty="0"/>
          </a:p>
          <a:p>
            <a:r>
              <a:rPr lang="en-US" sz="1500" dirty="0">
                <a:solidFill>
                  <a:srgbClr val="102033"/>
                </a:solidFill>
              </a:rPr>
              <a:t>Criterio: cada concepto se explica por su función arquitectónica y su impacto en confianza, integridad y disponibilidad.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949440" y="1828800"/>
            <a:ext cx="3977640" cy="914400"/>
          </a:xfrm>
          <a:prstGeom prst="rect">
            <a:avLst/>
          </a:prstGeom>
          <a:solidFill>
            <a:srgbClr val="0B1F3A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Blockchain como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infraestructura de estado compartido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720840" y="3337560"/>
            <a:ext cx="995782" cy="156911"/>
          </a:xfrm>
          <a:prstGeom prst="rect">
            <a:avLst/>
          </a:prstGeom>
          <a:solidFill>
            <a:srgbClr val="0E9488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FFFFFF"/>
                </a:solidFill>
              </a:rPr>
              <a:t>Bloque 0</a:t>
            </a:r>
            <a:endParaRPr lang="en-US" sz="660" dirty="0"/>
          </a:p>
        </p:txBody>
      </p:sp>
      <p:sp>
        <p:nvSpPr>
          <p:cNvPr id="10" name="Text 8"/>
          <p:cNvSpPr/>
          <p:nvPr/>
        </p:nvSpPr>
        <p:spPr>
          <a:xfrm>
            <a:off x="6720840" y="3506541"/>
            <a:ext cx="995782" cy="374172"/>
          </a:xfrm>
          <a:prstGeom prst="rect">
            <a:avLst/>
          </a:prstGeom>
          <a:solidFill>
            <a:srgbClr val="FFFFFF"/>
          </a:solidFill>
          <a:ln w="10160">
            <a:solidFill>
              <a:srgbClr val="B8C4D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561" dirty="0">
                <a:solidFill>
                  <a:srgbClr val="102033"/>
                </a:solidFill>
              </a:rPr>
              <a:t>datos</a:t>
            </a:r>
            <a:endParaRPr lang="en-US" sz="561" dirty="0"/>
          </a:p>
          <a:p>
            <a:pPr algn="ctr" indent="0" marL="0">
              <a:buNone/>
            </a:pPr>
            <a:r>
              <a:rPr lang="en-US" sz="561" dirty="0">
                <a:solidFill>
                  <a:srgbClr val="102033"/>
                </a:solidFill>
              </a:rPr>
              <a:t>prev_hash</a:t>
            </a:r>
            <a:endParaRPr lang="en-US" sz="561" dirty="0"/>
          </a:p>
          <a:p>
            <a:pPr algn="ctr" indent="0" marL="0">
              <a:buNone/>
            </a:pPr>
            <a:r>
              <a:rPr lang="en-US" sz="561" dirty="0">
                <a:solidFill>
                  <a:srgbClr val="102033"/>
                </a:solidFill>
              </a:rPr>
              <a:t>hash</a:t>
            </a:r>
            <a:endParaRPr lang="en-US" sz="561" dirty="0"/>
          </a:p>
        </p:txBody>
      </p:sp>
      <p:sp>
        <p:nvSpPr>
          <p:cNvPr id="11" name="Shape 9"/>
          <p:cNvSpPr/>
          <p:nvPr/>
        </p:nvSpPr>
        <p:spPr>
          <a:xfrm>
            <a:off x="7716622" y="3681557"/>
            <a:ext cx="205191" cy="0"/>
          </a:xfrm>
          <a:prstGeom prst="line">
            <a:avLst/>
          </a:prstGeom>
          <a:noFill/>
          <a:ln w="19050">
            <a:solidFill>
              <a:srgbClr val="314156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7921813" y="3337560"/>
            <a:ext cx="995782" cy="156911"/>
          </a:xfrm>
          <a:prstGeom prst="rect">
            <a:avLst/>
          </a:prstGeom>
          <a:solidFill>
            <a:srgbClr val="1677B8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FFFFFF"/>
                </a:solidFill>
              </a:rPr>
              <a:t>Bloque 1</a:t>
            </a:r>
            <a:endParaRPr lang="en-US" sz="660" dirty="0"/>
          </a:p>
        </p:txBody>
      </p:sp>
      <p:sp>
        <p:nvSpPr>
          <p:cNvPr id="13" name="Text 11"/>
          <p:cNvSpPr/>
          <p:nvPr/>
        </p:nvSpPr>
        <p:spPr>
          <a:xfrm>
            <a:off x="7921813" y="3506541"/>
            <a:ext cx="995782" cy="374172"/>
          </a:xfrm>
          <a:prstGeom prst="rect">
            <a:avLst/>
          </a:prstGeom>
          <a:solidFill>
            <a:srgbClr val="FFFFFF"/>
          </a:solidFill>
          <a:ln w="10160">
            <a:solidFill>
              <a:srgbClr val="B8C4D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561" dirty="0">
                <a:solidFill>
                  <a:srgbClr val="102033"/>
                </a:solidFill>
              </a:rPr>
              <a:t>datos</a:t>
            </a:r>
            <a:endParaRPr lang="en-US" sz="561" dirty="0"/>
          </a:p>
          <a:p>
            <a:pPr algn="ctr" indent="0" marL="0">
              <a:buNone/>
            </a:pPr>
            <a:r>
              <a:rPr lang="en-US" sz="561" dirty="0">
                <a:solidFill>
                  <a:srgbClr val="102033"/>
                </a:solidFill>
              </a:rPr>
              <a:t>prev_hash</a:t>
            </a:r>
            <a:endParaRPr lang="en-US" sz="561" dirty="0"/>
          </a:p>
          <a:p>
            <a:pPr algn="ctr" indent="0" marL="0">
              <a:buNone/>
            </a:pPr>
            <a:r>
              <a:rPr lang="en-US" sz="561" dirty="0">
                <a:solidFill>
                  <a:srgbClr val="102033"/>
                </a:solidFill>
              </a:rPr>
              <a:t>hash</a:t>
            </a:r>
            <a:endParaRPr lang="en-US" sz="561" dirty="0"/>
          </a:p>
        </p:txBody>
      </p:sp>
      <p:sp>
        <p:nvSpPr>
          <p:cNvPr id="14" name="Shape 12"/>
          <p:cNvSpPr/>
          <p:nvPr/>
        </p:nvSpPr>
        <p:spPr>
          <a:xfrm>
            <a:off x="8917595" y="3681557"/>
            <a:ext cx="205191" cy="0"/>
          </a:xfrm>
          <a:prstGeom prst="line">
            <a:avLst/>
          </a:prstGeom>
          <a:noFill/>
          <a:ln w="19050">
            <a:solidFill>
              <a:srgbClr val="314156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9122786" y="3337560"/>
            <a:ext cx="995782" cy="156911"/>
          </a:xfrm>
          <a:prstGeom prst="rect">
            <a:avLst/>
          </a:prstGeom>
          <a:solidFill>
            <a:srgbClr val="1677B8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FFFFFF"/>
                </a:solidFill>
              </a:rPr>
              <a:t>Bloque 2</a:t>
            </a:r>
            <a:endParaRPr lang="en-US" sz="660" dirty="0"/>
          </a:p>
        </p:txBody>
      </p:sp>
      <p:sp>
        <p:nvSpPr>
          <p:cNvPr id="16" name="Text 14"/>
          <p:cNvSpPr/>
          <p:nvPr/>
        </p:nvSpPr>
        <p:spPr>
          <a:xfrm>
            <a:off x="9122786" y="3506541"/>
            <a:ext cx="995782" cy="374172"/>
          </a:xfrm>
          <a:prstGeom prst="rect">
            <a:avLst/>
          </a:prstGeom>
          <a:solidFill>
            <a:srgbClr val="FFFFFF"/>
          </a:solidFill>
          <a:ln w="10160">
            <a:solidFill>
              <a:srgbClr val="B8C4D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561" dirty="0">
                <a:solidFill>
                  <a:srgbClr val="102033"/>
                </a:solidFill>
              </a:rPr>
              <a:t>datos</a:t>
            </a:r>
            <a:endParaRPr lang="en-US" sz="561" dirty="0"/>
          </a:p>
          <a:p>
            <a:pPr algn="ctr" indent="0" marL="0">
              <a:buNone/>
            </a:pPr>
            <a:r>
              <a:rPr lang="en-US" sz="561" dirty="0">
                <a:solidFill>
                  <a:srgbClr val="102033"/>
                </a:solidFill>
              </a:rPr>
              <a:t>prev_hash</a:t>
            </a:r>
            <a:endParaRPr lang="en-US" sz="561" dirty="0"/>
          </a:p>
          <a:p>
            <a:pPr algn="ctr" indent="0" marL="0">
              <a:buNone/>
            </a:pPr>
            <a:r>
              <a:rPr lang="en-US" sz="561" dirty="0">
                <a:solidFill>
                  <a:srgbClr val="102033"/>
                </a:solidFill>
              </a:rPr>
              <a:t>hash</a:t>
            </a:r>
            <a:endParaRPr lang="en-US" sz="561" dirty="0"/>
          </a:p>
        </p:txBody>
      </p:sp>
      <p:sp>
        <p:nvSpPr>
          <p:cNvPr id="17" name="Shape 15"/>
          <p:cNvSpPr/>
          <p:nvPr/>
        </p:nvSpPr>
        <p:spPr>
          <a:xfrm>
            <a:off x="10118568" y="3681557"/>
            <a:ext cx="205191" cy="0"/>
          </a:xfrm>
          <a:prstGeom prst="line">
            <a:avLst/>
          </a:prstGeom>
          <a:noFill/>
          <a:ln w="19050">
            <a:solidFill>
              <a:srgbClr val="314156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10323759" y="3337560"/>
            <a:ext cx="995782" cy="156911"/>
          </a:xfrm>
          <a:prstGeom prst="rect">
            <a:avLst/>
          </a:prstGeom>
          <a:solidFill>
            <a:srgbClr val="1677B8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FFFFFF"/>
                </a:solidFill>
              </a:rPr>
              <a:t>Bloque 3</a:t>
            </a:r>
            <a:endParaRPr lang="en-US" sz="660" dirty="0"/>
          </a:p>
        </p:txBody>
      </p:sp>
      <p:sp>
        <p:nvSpPr>
          <p:cNvPr id="19" name="Text 17"/>
          <p:cNvSpPr/>
          <p:nvPr/>
        </p:nvSpPr>
        <p:spPr>
          <a:xfrm>
            <a:off x="10323759" y="3506541"/>
            <a:ext cx="995782" cy="374172"/>
          </a:xfrm>
          <a:prstGeom prst="rect">
            <a:avLst/>
          </a:prstGeom>
          <a:solidFill>
            <a:srgbClr val="FFFFFF"/>
          </a:solidFill>
          <a:ln w="10160">
            <a:solidFill>
              <a:srgbClr val="B8C4D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561" dirty="0">
                <a:solidFill>
                  <a:srgbClr val="102033"/>
                </a:solidFill>
              </a:rPr>
              <a:t>datos</a:t>
            </a:r>
            <a:endParaRPr lang="en-US" sz="561" dirty="0"/>
          </a:p>
          <a:p>
            <a:pPr algn="ctr" indent="0" marL="0">
              <a:buNone/>
            </a:pPr>
            <a:r>
              <a:rPr lang="en-US" sz="561" dirty="0">
                <a:solidFill>
                  <a:srgbClr val="102033"/>
                </a:solidFill>
              </a:rPr>
              <a:t>prev_hash</a:t>
            </a:r>
            <a:endParaRPr lang="en-US" sz="561" dirty="0"/>
          </a:p>
          <a:p>
            <a:pPr algn="ctr" indent="0" marL="0">
              <a:buNone/>
            </a:pPr>
            <a:r>
              <a:rPr lang="en-US" sz="561" dirty="0">
                <a:solidFill>
                  <a:srgbClr val="102033"/>
                </a:solidFill>
              </a:rPr>
              <a:t>hash</a:t>
            </a:r>
            <a:endParaRPr lang="en-US" sz="561" dirty="0"/>
          </a:p>
        </p:txBody>
      </p:sp>
      <p:sp>
        <p:nvSpPr>
          <p:cNvPr id="20" name="Text 18"/>
          <p:cNvSpPr/>
          <p:nvPr/>
        </p:nvSpPr>
        <p:spPr>
          <a:xfrm>
            <a:off x="530352" y="6528816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D8794"/>
                </a:solidFill>
              </a:rPr>
              <a:t>Base: Liao, diap. 2-5; Rayenizadeh &amp; Rafsanjani, sec. 1.2; EUBOF, pp. 5, 7-13.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 Alcance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475720" y="16459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A"/>
                </a:solidFill>
              </a:rPr>
              <a:t>03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Resultados de aprendizaje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960120"/>
            <a:ext cx="108813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B677A"/>
                </a:solidFill>
              </a:rPr>
              <a:t>Al final, el estudiante debe poder diseñar y criticar una solución blockchain sin caer en slogans.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11155680" cy="0"/>
          </a:xfrm>
          <a:prstGeom prst="line">
            <a:avLst/>
          </a:prstGeom>
          <a:noFill/>
          <a:ln w="6350">
            <a:solidFill>
              <a:srgbClr val="B8C4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72768"/>
            <a:ext cx="10789920" cy="402336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r>
              <a:rPr lang="en-US" sz="1600" dirty="0">
                <a:solidFill>
                  <a:srgbClr val="102033"/>
                </a:solidFill>
              </a:rPr>
              <a:t>Distinguir blockchain, ledger distribuido y base de datos replicada.</a:t>
            </a:r>
            <a:endParaRPr lang="en-US" sz="1600" dirty="0"/>
          </a:p>
          <a:p>
            <a:r>
              <a:rPr lang="en-US" sz="1600" dirty="0">
                <a:solidFill>
                  <a:srgbClr val="102033"/>
                </a:solidFill>
              </a:rPr>
              <a:t>Explicar el papel de hash, firma digital, bloque, nodo, consenso e inmutabilidad.</a:t>
            </a:r>
            <a:endParaRPr lang="en-US" sz="1600" dirty="0"/>
          </a:p>
          <a:p>
            <a:r>
              <a:rPr lang="en-US" sz="1600" dirty="0">
                <a:solidFill>
                  <a:srgbClr val="102033"/>
                </a:solidFill>
              </a:rPr>
              <a:t>Comparar arquitecturas permissionless, permissioned, privadas, públicas, consorciadas e híbridas.</a:t>
            </a:r>
            <a:endParaRPr lang="en-US" sz="1600" dirty="0"/>
          </a:p>
          <a:p>
            <a:r>
              <a:rPr lang="en-US" sz="1600" dirty="0">
                <a:solidFill>
                  <a:srgbClr val="102033"/>
                </a:solidFill>
              </a:rPr>
              <a:t>Identificar amenazas: claves, red, consenso, aplicaciones y gobernanza.</a:t>
            </a:r>
            <a:endParaRPr lang="en-US" sz="1600" dirty="0"/>
          </a:p>
          <a:p>
            <a:r>
              <a:rPr lang="en-US" sz="1600" dirty="0">
                <a:solidFill>
                  <a:srgbClr val="102033"/>
                </a:solidFill>
              </a:rPr>
              <a:t>Decidir cuándo blockchain aporta algo real y cuándo introduce complejidad inútil.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4008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A4F3"/>
                </a:solidFill>
              </a:rPr>
              <a:t>1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146304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Modelo conceptual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13232" y="224028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9E8F5"/>
                </a:solidFill>
              </a:rPr>
              <a:t>El problema central es coordinar un estado compartido entre partes que no dependen de una única autoridad operativa.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Modelo conceptual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475720" y="16459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A"/>
                </a:solidFill>
              </a:rPr>
              <a:t>05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problema que blockchain intenta resolver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960120"/>
            <a:ext cx="108813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B677A"/>
                </a:solidFill>
              </a:rPr>
              <a:t>Estado compartido verificable en un entorno multipartes.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11155680" cy="0"/>
          </a:xfrm>
          <a:prstGeom prst="line">
            <a:avLst/>
          </a:prstGeom>
          <a:noFill/>
          <a:ln w="6350">
            <a:solidFill>
              <a:srgbClr val="B8C4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11680"/>
            <a:ext cx="1280160" cy="457200"/>
          </a:xfrm>
          <a:prstGeom prst="rect">
            <a:avLst/>
          </a:prstGeom>
          <a:solidFill>
            <a:srgbClr val="D8ECFA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Parte 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1280160" cy="457200"/>
          </a:xfrm>
          <a:prstGeom prst="rect">
            <a:avLst/>
          </a:prstGeom>
          <a:solidFill>
            <a:srgbClr val="D8ECFA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Parte B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931920"/>
            <a:ext cx="1280160" cy="457200"/>
          </a:xfrm>
          <a:prstGeom prst="rect">
            <a:avLst/>
          </a:prstGeom>
          <a:solidFill>
            <a:srgbClr val="D8ECFA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Parte C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0" y="2606040"/>
            <a:ext cx="3063240" cy="1005840"/>
          </a:xfrm>
          <a:prstGeom prst="rect">
            <a:avLst/>
          </a:prstGeom>
          <a:solidFill>
            <a:srgbClr val="0B1F3A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Estado compartido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ordenado y verificable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2103120" y="2103120"/>
            <a:ext cx="2331720" cy="1005840"/>
          </a:xfrm>
          <a:prstGeom prst="line">
            <a:avLst/>
          </a:prstGeom>
          <a:noFill/>
          <a:ln w="15240">
            <a:solidFill>
              <a:srgbClr val="314156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103120" y="3063240"/>
            <a:ext cx="2331720" cy="45720"/>
          </a:xfrm>
          <a:prstGeom prst="line">
            <a:avLst/>
          </a:prstGeom>
          <a:noFill/>
          <a:ln w="15240">
            <a:solidFill>
              <a:srgbClr val="314156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103120" y="4023360"/>
            <a:ext cx="2331720" cy="-914400"/>
          </a:xfrm>
          <a:prstGeom prst="line">
            <a:avLst/>
          </a:prstGeom>
          <a:noFill/>
          <a:ln w="15240">
            <a:solidFill>
              <a:srgbClr val="314156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8138160" y="1828800"/>
            <a:ext cx="3291840" cy="265176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r>
              <a:rPr lang="en-US" sz="1400" dirty="0">
                <a:solidFill>
                  <a:srgbClr val="102033"/>
                </a:solidFill>
              </a:rPr>
              <a:t>Problema: cada parte tiene incentivos, datos y controles distintos.</a:t>
            </a:r>
            <a:endParaRPr lang="en-US" sz="1400" dirty="0"/>
          </a:p>
          <a:p>
            <a:r>
              <a:rPr lang="en-US" sz="1400" dirty="0">
                <a:solidFill>
                  <a:srgbClr val="102033"/>
                </a:solidFill>
              </a:rPr>
              <a:t>Objetivo: acordar qué ocurrió, en qué orden y bajo qué reglas.</a:t>
            </a:r>
            <a:endParaRPr lang="en-US" sz="1400" dirty="0"/>
          </a:p>
          <a:p>
            <a:r>
              <a:rPr lang="en-US" sz="1400" dirty="0">
                <a:solidFill>
                  <a:srgbClr val="102033"/>
                </a:solidFill>
              </a:rPr>
              <a:t>Mecanismo: replicación + criptografía + consenso + política de permisos.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0352" y="6528816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D8794"/>
                </a:solidFill>
              </a:rPr>
              <a:t>Base: Liao, diap. 5-7; Rayenizadeh &amp; Rafsanjani, sec. 1.2.1.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Modelo conceptual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475720" y="16459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A"/>
                </a:solidFill>
              </a:rPr>
              <a:t>06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Blockchain no es una sola cosa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960120"/>
            <a:ext cx="108813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B677A"/>
                </a:solidFill>
              </a:rPr>
              <a:t>El término cubre una idea técnica, implementaciones concretas y aplicaciones encima de esas implementaciones.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11155680" cy="0"/>
          </a:xfrm>
          <a:prstGeom prst="line">
            <a:avLst/>
          </a:prstGeom>
          <a:noFill/>
          <a:ln w="6350">
            <a:solidFill>
              <a:srgbClr val="B8C4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783080"/>
            <a:ext cx="2560320" cy="502920"/>
          </a:xfrm>
          <a:prstGeom prst="rect">
            <a:avLst/>
          </a:prstGeom>
          <a:solidFill>
            <a:srgbClr val="0B1F3A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1. Idea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450592"/>
            <a:ext cx="2560320" cy="777240"/>
          </a:xfrm>
          <a:prstGeom prst="rect">
            <a:avLst/>
          </a:prstGeom>
          <a:solidFill>
            <a:srgbClr val="FFFFFF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033"/>
                </a:solidFill>
              </a:rPr>
              <a:t>Ledger distribuido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2033"/>
                </a:solidFill>
              </a:rPr>
              <a:t>con bloques encadenados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00600" y="1783080"/>
            <a:ext cx="2560320" cy="502920"/>
          </a:xfrm>
          <a:prstGeom prst="rect">
            <a:avLst/>
          </a:prstGeom>
          <a:solidFill>
            <a:srgbClr val="0E9488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2. Sistema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00600" y="2450592"/>
            <a:ext cx="2560320" cy="777240"/>
          </a:xfrm>
          <a:prstGeom prst="rect">
            <a:avLst/>
          </a:prstGeom>
          <a:solidFill>
            <a:srgbClr val="FFFFFF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033"/>
                </a:solidFill>
              </a:rPr>
              <a:t>Red, protocolo, nodos,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2033"/>
                </a:solidFill>
              </a:rPr>
              <a:t>consenso y gobernanza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732520" y="1783080"/>
            <a:ext cx="2560320" cy="502920"/>
          </a:xfrm>
          <a:prstGeom prst="rect">
            <a:avLst/>
          </a:prstGeom>
          <a:solidFill>
            <a:srgbClr val="1677B8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3. Aplicación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732520" y="2450592"/>
            <a:ext cx="2560320" cy="777240"/>
          </a:xfrm>
          <a:prstGeom prst="rect">
            <a:avLst/>
          </a:prstGeom>
          <a:solidFill>
            <a:srgbClr val="FFFFFF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033"/>
                </a:solidFill>
              </a:rPr>
              <a:t>Caso de uso que escribe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2033"/>
                </a:solidFill>
              </a:rPr>
              <a:t>o lee del ledger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429000" y="2542032"/>
            <a:ext cx="1143000" cy="0"/>
          </a:xfrm>
          <a:prstGeom prst="line">
            <a:avLst/>
          </a:prstGeom>
          <a:noFill/>
          <a:ln w="19050">
            <a:solidFill>
              <a:srgbClr val="B8C4D2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406640" y="2542032"/>
            <a:ext cx="1143000" cy="0"/>
          </a:xfrm>
          <a:prstGeom prst="line">
            <a:avLst/>
          </a:prstGeom>
          <a:noFill/>
          <a:ln w="19050">
            <a:solidFill>
              <a:srgbClr val="B8C4D2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914400" y="4160520"/>
            <a:ext cx="10515600" cy="11430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r>
              <a:rPr lang="en-US" sz="1500" dirty="0">
                <a:solidFill>
                  <a:srgbClr val="102033"/>
                </a:solidFill>
              </a:rPr>
              <a:t>La confusión aparece cuando se toma una aplicación específica como si agotara la tecnología.</a:t>
            </a:r>
            <a:endParaRPr lang="en-US" sz="1500" dirty="0"/>
          </a:p>
          <a:p>
            <a:r>
              <a:rPr lang="en-US" sz="1500" dirty="0">
                <a:solidFill>
                  <a:srgbClr val="102033"/>
                </a:solidFill>
              </a:rPr>
              <a:t>En esta clase se estudia la capa técnica: datos, red, consenso, seguridad y gobernanza.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30352" y="6528816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D8794"/>
                </a:solidFill>
              </a:rPr>
              <a:t>Base: Liao, diap. 2-3.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Modelo conceptual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475720" y="16459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A"/>
                </a:solidFill>
              </a:rPr>
              <a:t>07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Definición operativa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960120"/>
            <a:ext cx="108813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B677A"/>
                </a:solidFill>
              </a:rPr>
              <a:t>Una blockchain es un ledger replicado que agrupa registros en bloques, los ordena y los enlaza criptográficamente.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11155680" cy="0"/>
          </a:xfrm>
          <a:prstGeom prst="line">
            <a:avLst/>
          </a:prstGeom>
          <a:noFill/>
          <a:ln w="6350">
            <a:solidFill>
              <a:srgbClr val="B8C4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00200"/>
            <a:ext cx="5669280" cy="329184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r>
              <a:rPr lang="en-US" sz="1500" b="1" dirty="0">
                <a:solidFill>
                  <a:srgbClr val="102033"/>
                </a:solidFill>
              </a:rPr>
              <a:t>Ledger compartido: varios nodos conservan una copia o vista verificable del historial.</a:t>
            </a:r>
            <a:endParaRPr lang="en-US" sz="1500" dirty="0"/>
          </a:p>
          <a:p>
            <a:r>
              <a:rPr lang="en-US" sz="1500" b="1" dirty="0">
                <a:solidFill>
                  <a:srgbClr val="102033"/>
                </a:solidFill>
              </a:rPr>
              <a:t>Bloques: contenedores de transacciones, timestamp, hash del bloque anterior y metadatos.</a:t>
            </a:r>
            <a:endParaRPr lang="en-US" sz="1500" dirty="0"/>
          </a:p>
          <a:p>
            <a:r>
              <a:rPr lang="en-US" sz="1500" b="1" dirty="0">
                <a:solidFill>
                  <a:srgbClr val="102033"/>
                </a:solidFill>
              </a:rPr>
              <a:t>Cadena: la referencia al hash anterior hace evidente la manipulación del historial.</a:t>
            </a:r>
            <a:endParaRPr lang="en-US" sz="1500" dirty="0"/>
          </a:p>
          <a:p>
            <a:r>
              <a:rPr lang="en-US" sz="1500" b="1" dirty="0">
                <a:solidFill>
                  <a:srgbClr val="102033"/>
                </a:solidFill>
              </a:rPr>
              <a:t>Consenso: protocolo para acordar qué bloque representa el siguiente estado válido.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12280" y="2011680"/>
            <a:ext cx="965606" cy="152156"/>
          </a:xfrm>
          <a:prstGeom prst="rect">
            <a:avLst/>
          </a:prstGeom>
          <a:solidFill>
            <a:srgbClr val="0E9488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</a:rPr>
              <a:t>Bloque 0</a:t>
            </a:r>
            <a:endParaRPr lang="en-US" sz="640" dirty="0"/>
          </a:p>
        </p:txBody>
      </p:sp>
      <p:sp>
        <p:nvSpPr>
          <p:cNvPr id="9" name="Text 7"/>
          <p:cNvSpPr/>
          <p:nvPr/>
        </p:nvSpPr>
        <p:spPr>
          <a:xfrm>
            <a:off x="6812280" y="2175540"/>
            <a:ext cx="965606" cy="362834"/>
          </a:xfrm>
          <a:prstGeom prst="rect">
            <a:avLst/>
          </a:prstGeom>
          <a:solidFill>
            <a:srgbClr val="FFFFFF"/>
          </a:solidFill>
          <a:ln w="10160">
            <a:solidFill>
              <a:srgbClr val="B8C4D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544" dirty="0">
                <a:solidFill>
                  <a:srgbClr val="102033"/>
                </a:solidFill>
              </a:rPr>
              <a:t>datos</a:t>
            </a:r>
            <a:endParaRPr lang="en-US" sz="544" dirty="0"/>
          </a:p>
          <a:p>
            <a:pPr algn="ctr" indent="0" marL="0">
              <a:buNone/>
            </a:pPr>
            <a:r>
              <a:rPr lang="en-US" sz="544" dirty="0">
                <a:solidFill>
                  <a:srgbClr val="102033"/>
                </a:solidFill>
              </a:rPr>
              <a:t>prev_hash</a:t>
            </a:r>
            <a:endParaRPr lang="en-US" sz="544" dirty="0"/>
          </a:p>
          <a:p>
            <a:pPr algn="ctr" indent="0" marL="0">
              <a:buNone/>
            </a:pPr>
            <a:r>
              <a:rPr lang="en-US" sz="544" dirty="0">
                <a:solidFill>
                  <a:srgbClr val="102033"/>
                </a:solidFill>
              </a:rPr>
              <a:t>hash</a:t>
            </a:r>
            <a:endParaRPr lang="en-US" sz="544" dirty="0"/>
          </a:p>
        </p:txBody>
      </p:sp>
      <p:sp>
        <p:nvSpPr>
          <p:cNvPr id="10" name="Shape 8"/>
          <p:cNvSpPr/>
          <p:nvPr/>
        </p:nvSpPr>
        <p:spPr>
          <a:xfrm>
            <a:off x="7777886" y="2345253"/>
            <a:ext cx="198973" cy="0"/>
          </a:xfrm>
          <a:prstGeom prst="line">
            <a:avLst/>
          </a:prstGeom>
          <a:noFill/>
          <a:ln w="19050">
            <a:solidFill>
              <a:srgbClr val="314156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7976860" y="2011680"/>
            <a:ext cx="965606" cy="152156"/>
          </a:xfrm>
          <a:prstGeom prst="rect">
            <a:avLst/>
          </a:prstGeom>
          <a:solidFill>
            <a:srgbClr val="1677B8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</a:rPr>
              <a:t>Bloque 1</a:t>
            </a:r>
            <a:endParaRPr lang="en-US" sz="640" dirty="0"/>
          </a:p>
        </p:txBody>
      </p:sp>
      <p:sp>
        <p:nvSpPr>
          <p:cNvPr id="12" name="Text 10"/>
          <p:cNvSpPr/>
          <p:nvPr/>
        </p:nvSpPr>
        <p:spPr>
          <a:xfrm>
            <a:off x="7976860" y="2175540"/>
            <a:ext cx="965606" cy="362834"/>
          </a:xfrm>
          <a:prstGeom prst="rect">
            <a:avLst/>
          </a:prstGeom>
          <a:solidFill>
            <a:srgbClr val="FFFFFF"/>
          </a:solidFill>
          <a:ln w="10160">
            <a:solidFill>
              <a:srgbClr val="B8C4D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544" dirty="0">
                <a:solidFill>
                  <a:srgbClr val="102033"/>
                </a:solidFill>
              </a:rPr>
              <a:t>datos</a:t>
            </a:r>
            <a:endParaRPr lang="en-US" sz="544" dirty="0"/>
          </a:p>
          <a:p>
            <a:pPr algn="ctr" indent="0" marL="0">
              <a:buNone/>
            </a:pPr>
            <a:r>
              <a:rPr lang="en-US" sz="544" dirty="0">
                <a:solidFill>
                  <a:srgbClr val="102033"/>
                </a:solidFill>
              </a:rPr>
              <a:t>prev_hash</a:t>
            </a:r>
            <a:endParaRPr lang="en-US" sz="544" dirty="0"/>
          </a:p>
          <a:p>
            <a:pPr algn="ctr" indent="0" marL="0">
              <a:buNone/>
            </a:pPr>
            <a:r>
              <a:rPr lang="en-US" sz="544" dirty="0">
                <a:solidFill>
                  <a:srgbClr val="102033"/>
                </a:solidFill>
              </a:rPr>
              <a:t>hash</a:t>
            </a:r>
            <a:endParaRPr lang="en-US" sz="544" dirty="0"/>
          </a:p>
        </p:txBody>
      </p:sp>
      <p:sp>
        <p:nvSpPr>
          <p:cNvPr id="13" name="Shape 11"/>
          <p:cNvSpPr/>
          <p:nvPr/>
        </p:nvSpPr>
        <p:spPr>
          <a:xfrm>
            <a:off x="8942466" y="2345253"/>
            <a:ext cx="198973" cy="0"/>
          </a:xfrm>
          <a:prstGeom prst="line">
            <a:avLst/>
          </a:prstGeom>
          <a:noFill/>
          <a:ln w="19050">
            <a:solidFill>
              <a:srgbClr val="314156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9141440" y="2011680"/>
            <a:ext cx="965606" cy="152156"/>
          </a:xfrm>
          <a:prstGeom prst="rect">
            <a:avLst/>
          </a:prstGeom>
          <a:solidFill>
            <a:srgbClr val="1677B8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</a:rPr>
              <a:t>Bloque 2</a:t>
            </a:r>
            <a:endParaRPr lang="en-US" sz="640" dirty="0"/>
          </a:p>
        </p:txBody>
      </p:sp>
      <p:sp>
        <p:nvSpPr>
          <p:cNvPr id="15" name="Text 13"/>
          <p:cNvSpPr/>
          <p:nvPr/>
        </p:nvSpPr>
        <p:spPr>
          <a:xfrm>
            <a:off x="9141440" y="2175540"/>
            <a:ext cx="965606" cy="362834"/>
          </a:xfrm>
          <a:prstGeom prst="rect">
            <a:avLst/>
          </a:prstGeom>
          <a:solidFill>
            <a:srgbClr val="FFFFFF"/>
          </a:solidFill>
          <a:ln w="10160">
            <a:solidFill>
              <a:srgbClr val="B8C4D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544" dirty="0">
                <a:solidFill>
                  <a:srgbClr val="102033"/>
                </a:solidFill>
              </a:rPr>
              <a:t>datos</a:t>
            </a:r>
            <a:endParaRPr lang="en-US" sz="544" dirty="0"/>
          </a:p>
          <a:p>
            <a:pPr algn="ctr" indent="0" marL="0">
              <a:buNone/>
            </a:pPr>
            <a:r>
              <a:rPr lang="en-US" sz="544" dirty="0">
                <a:solidFill>
                  <a:srgbClr val="102033"/>
                </a:solidFill>
              </a:rPr>
              <a:t>prev_hash</a:t>
            </a:r>
            <a:endParaRPr lang="en-US" sz="544" dirty="0"/>
          </a:p>
          <a:p>
            <a:pPr algn="ctr" indent="0" marL="0">
              <a:buNone/>
            </a:pPr>
            <a:r>
              <a:rPr lang="en-US" sz="544" dirty="0">
                <a:solidFill>
                  <a:srgbClr val="102033"/>
                </a:solidFill>
              </a:rPr>
              <a:t>hash</a:t>
            </a:r>
            <a:endParaRPr lang="en-US" sz="544" dirty="0"/>
          </a:p>
        </p:txBody>
      </p:sp>
      <p:sp>
        <p:nvSpPr>
          <p:cNvPr id="16" name="Shape 14"/>
          <p:cNvSpPr/>
          <p:nvPr/>
        </p:nvSpPr>
        <p:spPr>
          <a:xfrm>
            <a:off x="10107046" y="2345253"/>
            <a:ext cx="198973" cy="0"/>
          </a:xfrm>
          <a:prstGeom prst="line">
            <a:avLst/>
          </a:prstGeom>
          <a:noFill/>
          <a:ln w="19050">
            <a:solidFill>
              <a:srgbClr val="314156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10306020" y="2011680"/>
            <a:ext cx="965606" cy="152156"/>
          </a:xfrm>
          <a:prstGeom prst="rect">
            <a:avLst/>
          </a:prstGeom>
          <a:solidFill>
            <a:srgbClr val="1677B8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</a:rPr>
              <a:t>Bloque 3</a:t>
            </a:r>
            <a:endParaRPr lang="en-US" sz="640" dirty="0"/>
          </a:p>
        </p:txBody>
      </p:sp>
      <p:sp>
        <p:nvSpPr>
          <p:cNvPr id="18" name="Text 16"/>
          <p:cNvSpPr/>
          <p:nvPr/>
        </p:nvSpPr>
        <p:spPr>
          <a:xfrm>
            <a:off x="10306020" y="2175540"/>
            <a:ext cx="965606" cy="362834"/>
          </a:xfrm>
          <a:prstGeom prst="rect">
            <a:avLst/>
          </a:prstGeom>
          <a:solidFill>
            <a:srgbClr val="FFFFFF"/>
          </a:solidFill>
          <a:ln w="10160">
            <a:solidFill>
              <a:srgbClr val="B8C4D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544" dirty="0">
                <a:solidFill>
                  <a:srgbClr val="102033"/>
                </a:solidFill>
              </a:rPr>
              <a:t>datos</a:t>
            </a:r>
            <a:endParaRPr lang="en-US" sz="544" dirty="0"/>
          </a:p>
          <a:p>
            <a:pPr algn="ctr" indent="0" marL="0">
              <a:buNone/>
            </a:pPr>
            <a:r>
              <a:rPr lang="en-US" sz="544" dirty="0">
                <a:solidFill>
                  <a:srgbClr val="102033"/>
                </a:solidFill>
              </a:rPr>
              <a:t>prev_hash</a:t>
            </a:r>
            <a:endParaRPr lang="en-US" sz="544" dirty="0"/>
          </a:p>
          <a:p>
            <a:pPr algn="ctr" indent="0" marL="0">
              <a:buNone/>
            </a:pPr>
            <a:r>
              <a:rPr lang="en-US" sz="544" dirty="0">
                <a:solidFill>
                  <a:srgbClr val="102033"/>
                </a:solidFill>
              </a:rPr>
              <a:t>hash</a:t>
            </a:r>
            <a:endParaRPr lang="en-US" sz="544" dirty="0"/>
          </a:p>
        </p:txBody>
      </p:sp>
      <p:sp>
        <p:nvSpPr>
          <p:cNvPr id="19" name="Text 17"/>
          <p:cNvSpPr/>
          <p:nvPr/>
        </p:nvSpPr>
        <p:spPr>
          <a:xfrm>
            <a:off x="6492240" y="4069080"/>
            <a:ext cx="4526280" cy="777240"/>
          </a:xfrm>
          <a:prstGeom prst="rect">
            <a:avLst/>
          </a:prstGeom>
          <a:solidFill>
            <a:srgbClr val="FCE8D2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033"/>
                </a:solidFill>
              </a:rPr>
              <a:t>Inmutabilidad práctica =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2033"/>
                </a:solidFill>
              </a:rPr>
              <a:t>modificar un bloque obliga a rehacer y volver a aceptar todo lo posterior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0352" y="6528816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D8794"/>
                </a:solidFill>
              </a:rPr>
              <a:t>Base: Rayenizadeh &amp; Rafsanjani, sec. 1.2.1; EUBOF, p. 5; Liao, diap. 4.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Modelo conceptual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475720" y="16459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A"/>
                </a:solidFill>
              </a:rPr>
              <a:t>08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 de datos tradicional vs ledger distribuido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960120"/>
            <a:ext cx="108813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B677A"/>
                </a:solidFill>
              </a:rPr>
              <a:t>La diferencia relevante no es el formato de almacenamiento, sino el modelo de control y verificación.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11155680" cy="0"/>
          </a:xfrm>
          <a:prstGeom prst="line">
            <a:avLst/>
          </a:prstGeom>
          <a:noFill/>
          <a:ln w="6350">
            <a:solidFill>
              <a:srgbClr val="B8C4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91640"/>
            <a:ext cx="4206240" cy="502920"/>
          </a:xfrm>
          <a:prstGeom prst="rect">
            <a:avLst/>
          </a:prstGeom>
          <a:solidFill>
            <a:srgbClr val="0B1F3A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Base centralizada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514600"/>
            <a:ext cx="3657600" cy="1463040"/>
          </a:xfrm>
          <a:prstGeom prst="rect">
            <a:avLst/>
          </a:prstGeom>
          <a:solidFill>
            <a:srgbClr val="FFFFFF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033"/>
                </a:solidFill>
              </a:rPr>
              <a:t>Entidad operadora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02033"/>
                </a:solidFill>
              </a:rPr>
              <a:t>“golden record”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02033"/>
                </a:solidFill>
              </a:rPr>
              <a:t>reconciliación externa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223760" y="1691640"/>
            <a:ext cx="4206240" cy="502920"/>
          </a:xfrm>
          <a:prstGeom prst="rect">
            <a:avLst/>
          </a:prstGeom>
          <a:solidFill>
            <a:srgbClr val="0E9488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Ledger distribuido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235440" y="2595067"/>
            <a:ext cx="1042416" cy="395021"/>
          </a:xfrm>
          <a:prstGeom prst="line">
            <a:avLst/>
          </a:prstGeom>
          <a:noFill/>
          <a:ln w="12700">
            <a:solidFill>
              <a:srgbClr val="B8C4D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277856" y="2990088"/>
            <a:ext cx="-277978" cy="877824"/>
          </a:xfrm>
          <a:prstGeom prst="line">
            <a:avLst/>
          </a:prstGeom>
          <a:noFill/>
          <a:ln w="12700">
            <a:solidFill>
              <a:srgbClr val="B8C4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999878" y="3867912"/>
            <a:ext cx="-1285646" cy="175565"/>
          </a:xfrm>
          <a:prstGeom prst="line">
            <a:avLst/>
          </a:prstGeom>
          <a:noFill/>
          <a:ln w="12700">
            <a:solidFill>
              <a:srgbClr val="B8C4D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14232" y="4043477"/>
            <a:ext cx="-660197" cy="-768096"/>
          </a:xfrm>
          <a:prstGeom prst="line">
            <a:avLst/>
          </a:prstGeom>
          <a:noFill/>
          <a:ln w="12700">
            <a:solidFill>
              <a:srgbClr val="B8C4D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54035" y="3275381"/>
            <a:ext cx="1181405" cy="-680314"/>
          </a:xfrm>
          <a:prstGeom prst="line">
            <a:avLst/>
          </a:prstGeom>
          <a:noFill/>
          <a:ln w="12700">
            <a:solidFill>
              <a:srgbClr val="B8C4D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235440" y="2595067"/>
            <a:ext cx="-69494" cy="790042"/>
          </a:xfrm>
          <a:prstGeom prst="line">
            <a:avLst/>
          </a:prstGeom>
          <a:noFill/>
          <a:ln w="12700">
            <a:solidFill>
              <a:srgbClr val="B8C4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77856" y="2990088"/>
            <a:ext cx="-1111910" cy="395021"/>
          </a:xfrm>
          <a:prstGeom prst="line">
            <a:avLst/>
          </a:prstGeom>
          <a:noFill/>
          <a:ln w="12700">
            <a:solidFill>
              <a:srgbClr val="B8C4D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999878" y="3867912"/>
            <a:ext cx="-833933" cy="-482803"/>
          </a:xfrm>
          <a:prstGeom prst="line">
            <a:avLst/>
          </a:prstGeom>
          <a:noFill/>
          <a:ln w="12700">
            <a:solidFill>
              <a:srgbClr val="B8C4D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14232" y="4043477"/>
            <a:ext cx="451714" cy="-658368"/>
          </a:xfrm>
          <a:prstGeom prst="line">
            <a:avLst/>
          </a:prstGeom>
          <a:noFill/>
          <a:ln w="12700">
            <a:solidFill>
              <a:srgbClr val="B8C4D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54035" y="3275381"/>
            <a:ext cx="1111910" cy="109728"/>
          </a:xfrm>
          <a:prstGeom prst="line">
            <a:avLst/>
          </a:prstGeom>
          <a:noFill/>
          <a:ln w="12700">
            <a:solidFill>
              <a:srgbClr val="B8C4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34272" y="2393899"/>
            <a:ext cx="402336" cy="402336"/>
          </a:xfrm>
          <a:prstGeom prst="rect">
            <a:avLst/>
          </a:prstGeom>
          <a:solidFill>
            <a:srgbClr val="1677B8"/>
          </a:solidFill>
          <a:ln w="12700">
            <a:solidFill>
              <a:srgbClr val="FFFFFF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076688" y="2788920"/>
            <a:ext cx="402336" cy="402336"/>
          </a:xfrm>
          <a:prstGeom prst="rect">
            <a:avLst/>
          </a:prstGeom>
          <a:solidFill>
            <a:srgbClr val="1677B8"/>
          </a:solidFill>
          <a:ln w="12700">
            <a:solidFill>
              <a:srgbClr val="FFFFFF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798710" y="3666744"/>
            <a:ext cx="402336" cy="402336"/>
          </a:xfrm>
          <a:prstGeom prst="rect">
            <a:avLst/>
          </a:prstGeom>
          <a:solidFill>
            <a:srgbClr val="1677B8"/>
          </a:solidFill>
          <a:ln w="12700">
            <a:solidFill>
              <a:srgbClr val="FFFFFF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513064" y="3842309"/>
            <a:ext cx="402336" cy="402336"/>
          </a:xfrm>
          <a:prstGeom prst="rect">
            <a:avLst/>
          </a:prstGeom>
          <a:solidFill>
            <a:srgbClr val="1677B8"/>
          </a:solidFill>
          <a:ln w="12700">
            <a:solidFill>
              <a:srgbClr val="FFFFFF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852867" y="3074213"/>
            <a:ext cx="402336" cy="402336"/>
          </a:xfrm>
          <a:prstGeom prst="rect">
            <a:avLst/>
          </a:prstGeom>
          <a:solidFill>
            <a:srgbClr val="1677B8"/>
          </a:solidFill>
          <a:ln w="12700">
            <a:solidFill>
              <a:srgbClr val="FFFFFF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964778" y="3183941"/>
            <a:ext cx="402336" cy="402336"/>
          </a:xfrm>
          <a:prstGeom prst="rect">
            <a:avLst/>
          </a:prstGeom>
          <a:solidFill>
            <a:srgbClr val="0E9488"/>
          </a:solidFill>
          <a:ln w="12700">
            <a:solidFill>
              <a:srgbClr val="FFFFFF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498080" y="4709160"/>
            <a:ext cx="3474720" cy="731520"/>
          </a:xfrm>
          <a:prstGeom prst="rect">
            <a:avLst/>
          </a:prstGeom>
          <a:solidFill>
            <a:srgbClr val="FFFFFF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033"/>
                </a:solidFill>
              </a:rPr>
              <a:t>Protocolo común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2033"/>
                </a:solidFill>
              </a:rPr>
              <a:t>replicación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2033"/>
                </a:solidFill>
              </a:rPr>
              <a:t>consenso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715000" y="1691640"/>
            <a:ext cx="0" cy="4023360"/>
          </a:xfrm>
          <a:prstGeom prst="line">
            <a:avLst/>
          </a:prstGeom>
          <a:noFill/>
          <a:ln w="12700">
            <a:solidFill>
              <a:srgbClr val="B8C4D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6528816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D8794"/>
                </a:solidFill>
              </a:rPr>
              <a:t>Base: Liao, diap. 5-6; EUBOF, pp. 8, 13-14.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Modelo conceptual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475720" y="16459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A"/>
                </a:solidFill>
              </a:rPr>
              <a:t>09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Stack conceptual de una blockchain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960120"/>
            <a:ext cx="108813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B677A"/>
                </a:solidFill>
              </a:rPr>
              <a:t>No hay magia: es una composición de capas conocidas con restricciones fuertes.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11155680" cy="0"/>
          </a:xfrm>
          <a:prstGeom prst="line">
            <a:avLst/>
          </a:prstGeom>
          <a:noFill/>
          <a:ln w="6350">
            <a:solidFill>
              <a:srgbClr val="B8C4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600200"/>
            <a:ext cx="2194560" cy="438912"/>
          </a:xfrm>
          <a:prstGeom prst="rect">
            <a:avLst/>
          </a:prstGeom>
          <a:solidFill>
            <a:srgbClr val="0E9488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Gobernanza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29000" y="1600200"/>
            <a:ext cx="722376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02033"/>
                </a:solidFill>
              </a:rPr>
              <a:t>quién cambia reglas, permisos, versiones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2313432"/>
            <a:ext cx="2194560" cy="438912"/>
          </a:xfrm>
          <a:prstGeom prst="rect">
            <a:avLst/>
          </a:prstGeom>
          <a:solidFill>
            <a:srgbClr val="1677B8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Aplicación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29000" y="2313432"/>
            <a:ext cx="722376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02033"/>
                </a:solidFill>
              </a:rPr>
              <a:t>contratos, procesos, integración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3026664"/>
            <a:ext cx="2194560" cy="438912"/>
          </a:xfrm>
          <a:prstGeom prst="rect">
            <a:avLst/>
          </a:prstGeom>
          <a:solidFill>
            <a:srgbClr val="0E9488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Consenso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29000" y="3026664"/>
            <a:ext cx="722376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02033"/>
                </a:solidFill>
              </a:rPr>
              <a:t>orden total, validez, finalización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3739896"/>
            <a:ext cx="2194560" cy="438912"/>
          </a:xfrm>
          <a:prstGeom prst="rect">
            <a:avLst/>
          </a:prstGeom>
          <a:solidFill>
            <a:srgbClr val="1677B8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29000" y="3739896"/>
            <a:ext cx="722376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02033"/>
                </a:solidFill>
              </a:rPr>
              <a:t>propagación, nodos, topología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4453128"/>
            <a:ext cx="2194560" cy="438912"/>
          </a:xfrm>
          <a:prstGeom prst="rect">
            <a:avLst/>
          </a:prstGeom>
          <a:solidFill>
            <a:srgbClr val="0E9488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Criptografía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29000" y="4453128"/>
            <a:ext cx="722376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02033"/>
                </a:solidFill>
              </a:rPr>
              <a:t>hashes, firmas, claves, compromiso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5166360"/>
            <a:ext cx="2194560" cy="438912"/>
          </a:xfrm>
          <a:prstGeom prst="rect">
            <a:avLst/>
          </a:prstGeom>
          <a:solidFill>
            <a:srgbClr val="1677B8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Datos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29000" y="5166360"/>
            <a:ext cx="722376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02033"/>
                </a:solidFill>
              </a:rPr>
              <a:t>transacciones, bloques, estado, historial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43000" y="5897880"/>
            <a:ext cx="9875520" cy="54864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r>
              <a:rPr lang="en-US" sz="1300" dirty="0">
                <a:solidFill>
                  <a:srgbClr val="102033"/>
                </a:solidFill>
              </a:rPr>
              <a:t>La robustez del sistema depende de la capa más débil.</a:t>
            </a:r>
            <a:endParaRPr lang="en-US" sz="1300" dirty="0"/>
          </a:p>
          <a:p>
            <a:r>
              <a:rPr lang="en-US" sz="1300" dirty="0">
                <a:solidFill>
                  <a:srgbClr val="102033"/>
                </a:solidFill>
              </a:rPr>
              <a:t>Un ledger no compensa mal diseño de identidad, claves, permisos o gobernanza.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4008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A4F3"/>
                </a:solidFill>
              </a:rPr>
              <a:t>2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146304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Estructura de datos y criptografía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13232" y="224028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9E8F5"/>
                </a:solidFill>
              </a:rPr>
              <a:t>Los bloques no “protegen” por sí solos: la integridad proviene de hashes, firmas, referencias y reglas de validación.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Datos y criptografía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475720" y="16459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A"/>
                </a:solidFill>
              </a:rPr>
              <a:t>11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Componentes mínimos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960120"/>
            <a:ext cx="108813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B677A"/>
                </a:solidFill>
              </a:rPr>
              <a:t>La terminología debe quedar limpia antes de discutir consenso o seguridad.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11155680" cy="0"/>
          </a:xfrm>
          <a:prstGeom prst="line">
            <a:avLst/>
          </a:prstGeom>
          <a:noFill/>
          <a:ln w="6350">
            <a:solidFill>
              <a:srgbClr val="B8C4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45920"/>
            <a:ext cx="3246120" cy="310896"/>
          </a:xfrm>
          <a:prstGeom prst="rect">
            <a:avLst/>
          </a:prstGeom>
          <a:solidFill>
            <a:srgbClr val="0B1F3A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Transacción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1975104"/>
            <a:ext cx="324612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02033"/>
                </a:solidFill>
              </a:rPr>
              <a:t>registro de una operación o evento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0" y="1645920"/>
            <a:ext cx="3246120" cy="310896"/>
          </a:xfrm>
          <a:prstGeom prst="rect">
            <a:avLst/>
          </a:prstGeom>
          <a:solidFill>
            <a:srgbClr val="0E9488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Bloque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0" y="1975104"/>
            <a:ext cx="324612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02033"/>
                </a:solidFill>
              </a:rPr>
              <a:t>contenedor ordenado de transacciones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366760" y="1645920"/>
            <a:ext cx="3246120" cy="310896"/>
          </a:xfrm>
          <a:prstGeom prst="rect">
            <a:avLst/>
          </a:prstGeom>
          <a:solidFill>
            <a:srgbClr val="1677B8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Hash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66760" y="1975104"/>
            <a:ext cx="324612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02033"/>
                </a:solidFill>
              </a:rPr>
              <a:t>resumen fijo para verificar integridad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2880360"/>
            <a:ext cx="3246120" cy="310896"/>
          </a:xfrm>
          <a:prstGeom prst="rect">
            <a:avLst/>
          </a:prstGeom>
          <a:solidFill>
            <a:srgbClr val="0B1F3A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Timestamp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3209544"/>
            <a:ext cx="324612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02033"/>
                </a:solidFill>
              </a:rPr>
              <a:t>marca temporal acordada o registrada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0" y="2880360"/>
            <a:ext cx="3246120" cy="310896"/>
          </a:xfrm>
          <a:prstGeom prst="rect">
            <a:avLst/>
          </a:prstGeom>
          <a:solidFill>
            <a:srgbClr val="0E9488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Firma digital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0" y="3209544"/>
            <a:ext cx="324612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02033"/>
                </a:solidFill>
              </a:rPr>
              <a:t>autenticidad y no repudio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366760" y="2880360"/>
            <a:ext cx="3246120" cy="310896"/>
          </a:xfrm>
          <a:prstGeom prst="rect">
            <a:avLst/>
          </a:prstGeom>
          <a:solidFill>
            <a:srgbClr val="1677B8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Nodo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66760" y="3209544"/>
            <a:ext cx="324612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02033"/>
                </a:solidFill>
              </a:rPr>
              <a:t>réplica o validador de red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4114800"/>
            <a:ext cx="3246120" cy="310896"/>
          </a:xfrm>
          <a:prstGeom prst="rect">
            <a:avLst/>
          </a:prstGeom>
          <a:solidFill>
            <a:srgbClr val="0B1F3A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Consenso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7240" y="4443984"/>
            <a:ext cx="324612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02033"/>
                </a:solidFill>
              </a:rPr>
              <a:t>reglas para aceptar el estado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0" y="4114800"/>
            <a:ext cx="3246120" cy="310896"/>
          </a:xfrm>
          <a:prstGeom prst="rect">
            <a:avLst/>
          </a:prstGeom>
          <a:solidFill>
            <a:srgbClr val="0E9488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Génesis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0" y="4443984"/>
            <a:ext cx="324612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02033"/>
                </a:solidFill>
              </a:rPr>
              <a:t>primer bloque de la cadena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366760" y="4114800"/>
            <a:ext cx="3246120" cy="310896"/>
          </a:xfrm>
          <a:prstGeom prst="rect">
            <a:avLst/>
          </a:prstGeom>
          <a:solidFill>
            <a:srgbClr val="1677B8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Inmutabilidad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366760" y="4443984"/>
            <a:ext cx="324612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02033"/>
                </a:solidFill>
              </a:rPr>
              <a:t>dificultad de alterar el historial aceptado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0352" y="6528816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D8794"/>
                </a:solidFill>
              </a:rPr>
              <a:t>Base: Rayenizadeh &amp; Rafsanjani, sec. 1.2.1; Mathur, “Core Blockchain component”.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Datos y criptografía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475720" y="16459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A"/>
                </a:solidFill>
              </a:rPr>
              <a:t>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Anatomía de un bloque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960120"/>
            <a:ext cx="108813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B677A"/>
                </a:solidFill>
              </a:rPr>
              <a:t>El bloque combina datos de negocio con metadatos verificables.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11155680" cy="0"/>
          </a:xfrm>
          <a:prstGeom prst="line">
            <a:avLst/>
          </a:prstGeom>
          <a:noFill/>
          <a:ln w="6350">
            <a:solidFill>
              <a:srgbClr val="B8C4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45920"/>
            <a:ext cx="2926080" cy="411480"/>
          </a:xfrm>
          <a:prstGeom prst="rect">
            <a:avLst/>
          </a:prstGeom>
          <a:solidFill>
            <a:srgbClr val="0B1F3A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Header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139696"/>
            <a:ext cx="2926080" cy="1965960"/>
          </a:xfrm>
          <a:prstGeom prst="rect">
            <a:avLst/>
          </a:prstGeom>
          <a:solidFill>
            <a:srgbClr val="FFFFFF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02033"/>
                </a:solidFill>
              </a:rPr>
              <a:t>prev_hash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02033"/>
                </a:solidFill>
              </a:rPr>
              <a:t>Merkle root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02033"/>
                </a:solidFill>
              </a:rPr>
              <a:t>timestamp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02033"/>
                </a:solidFill>
              </a:rPr>
              <a:t>nonce / metadata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02033"/>
                </a:solidFill>
              </a:rPr>
              <a:t>versión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63440" y="1645920"/>
            <a:ext cx="2926080" cy="411480"/>
          </a:xfrm>
          <a:prstGeom prst="rect">
            <a:avLst/>
          </a:prstGeom>
          <a:solidFill>
            <a:srgbClr val="0E9488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Payload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63440" y="2139696"/>
            <a:ext cx="2926080" cy="1965960"/>
          </a:xfrm>
          <a:prstGeom prst="rect">
            <a:avLst/>
          </a:prstGeom>
          <a:solidFill>
            <a:srgbClr val="FFFFFF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02033"/>
                </a:solidFill>
              </a:rPr>
              <a:t>tx1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02033"/>
                </a:solidFill>
              </a:rPr>
              <a:t>tx2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02033"/>
                </a:solidFill>
              </a:rPr>
              <a:t>tx3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02033"/>
                </a:solidFill>
              </a:rPr>
              <a:t>...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02033"/>
                </a:solidFill>
              </a:rPr>
              <a:t>txn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412480" y="2057400"/>
            <a:ext cx="2286000" cy="868680"/>
          </a:xfrm>
          <a:prstGeom prst="rect">
            <a:avLst/>
          </a:prstGeom>
          <a:solidFill>
            <a:srgbClr val="1677B8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Hash del bloque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858768" y="2788920"/>
            <a:ext cx="777240" cy="0"/>
          </a:xfrm>
          <a:prstGeom prst="line">
            <a:avLst/>
          </a:prstGeom>
          <a:noFill/>
          <a:ln w="17780">
            <a:solidFill>
              <a:srgbClr val="314156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635240" y="2788920"/>
            <a:ext cx="777240" cy="0"/>
          </a:xfrm>
          <a:prstGeom prst="line">
            <a:avLst/>
          </a:prstGeom>
          <a:noFill/>
          <a:ln w="17780">
            <a:solidFill>
              <a:srgbClr val="314156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960120" y="4709160"/>
            <a:ext cx="9966960" cy="9144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r>
              <a:rPr lang="en-US" sz="1400" dirty="0">
                <a:solidFill>
                  <a:srgbClr val="102033"/>
                </a:solidFill>
              </a:rPr>
              <a:t>El hash no cifra los datos; compromete su integridad.</a:t>
            </a:r>
            <a:endParaRPr lang="en-US" sz="1400" dirty="0"/>
          </a:p>
          <a:p>
            <a:r>
              <a:rPr lang="en-US" sz="1400" dirty="0">
                <a:solidFill>
                  <a:srgbClr val="102033"/>
                </a:solidFill>
              </a:rPr>
              <a:t>El campo prev_hash enlaza el bloque con el bloque anterior.</a:t>
            </a:r>
            <a:endParaRPr lang="en-US" sz="1400" dirty="0"/>
          </a:p>
          <a:p>
            <a:r>
              <a:rPr lang="en-US" sz="1400" dirty="0">
                <a:solidFill>
                  <a:srgbClr val="102033"/>
                </a:solidFill>
              </a:rPr>
              <a:t>El nonce u otros metadatos dependen del protocolo de consenso.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0352" y="6528816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D8794"/>
                </a:solidFill>
              </a:rPr>
              <a:t>Base: Rayenizadeh &amp; Rafsanjani, sec. 1.2.1; EUBOF, p. 5.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Datos y criptografía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475720" y="16459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A"/>
                </a:solidFill>
              </a:rPr>
              <a:t>13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Funciones hash: propiedad estructural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960120"/>
            <a:ext cx="108813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B677A"/>
                </a:solidFill>
              </a:rPr>
              <a:t>Una modificación mínima debe producir un resumen distinto y detectable.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11155680" cy="0"/>
          </a:xfrm>
          <a:prstGeom prst="line">
            <a:avLst/>
          </a:prstGeom>
          <a:noFill/>
          <a:ln w="6350">
            <a:solidFill>
              <a:srgbClr val="B8C4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828800"/>
            <a:ext cx="3017520" cy="731520"/>
          </a:xfrm>
          <a:prstGeom prst="rect">
            <a:avLst/>
          </a:prstGeom>
          <a:solidFill>
            <a:srgbClr val="FFFFFF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02033"/>
                </a:solidFill>
              </a:rPr>
              <a:t>entrada A: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02033"/>
                </a:solidFill>
              </a:rPr>
              <a:t>registro=“alta paciente 042”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0" y="1938528"/>
            <a:ext cx="2560320" cy="502920"/>
          </a:xfrm>
          <a:prstGeom prst="rect">
            <a:avLst/>
          </a:prstGeom>
          <a:solidFill>
            <a:srgbClr val="1677B8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H(A) = 8F3A...19C0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3794760"/>
            <a:ext cx="3017520" cy="731520"/>
          </a:xfrm>
          <a:prstGeom prst="rect">
            <a:avLst/>
          </a:prstGeom>
          <a:solidFill>
            <a:srgbClr val="FFFFFF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02033"/>
                </a:solidFill>
              </a:rPr>
              <a:t>entrada B: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02033"/>
                </a:solidFill>
              </a:rPr>
              <a:t>registro=“alta paciente 043”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0" y="3913632"/>
            <a:ext cx="2560320" cy="502920"/>
          </a:xfrm>
          <a:prstGeom prst="rect">
            <a:avLst/>
          </a:prstGeom>
          <a:solidFill>
            <a:srgbClr val="0E9488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H(B) = D71E...AA92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86200" y="2212848"/>
            <a:ext cx="685800" cy="0"/>
          </a:xfrm>
          <a:prstGeom prst="line">
            <a:avLst/>
          </a:prstGeom>
          <a:noFill/>
          <a:ln w="19050">
            <a:solidFill>
              <a:srgbClr val="B8C4D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886200" y="4187952"/>
            <a:ext cx="685800" cy="0"/>
          </a:xfrm>
          <a:prstGeom prst="line">
            <a:avLst/>
          </a:prstGeom>
          <a:noFill/>
          <a:ln w="19050">
            <a:solidFill>
              <a:srgbClr val="B8C4D2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7635240" y="1691640"/>
            <a:ext cx="3566160" cy="32004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r>
              <a:rPr lang="en-US" sz="1400" dirty="0">
                <a:solidFill>
                  <a:srgbClr val="102033"/>
                </a:solidFill>
              </a:rPr>
              <a:t>Determinista: mismo input, mismo output.</a:t>
            </a:r>
            <a:endParaRPr lang="en-US" sz="1400" dirty="0"/>
          </a:p>
          <a:p>
            <a:r>
              <a:rPr lang="en-US" sz="1400" dirty="0">
                <a:solidFill>
                  <a:srgbClr val="102033"/>
                </a:solidFill>
              </a:rPr>
              <a:t>Avalancha: un cambio pequeño altera drásticamente el digest.</a:t>
            </a:r>
            <a:endParaRPr lang="en-US" sz="1400" dirty="0"/>
          </a:p>
          <a:p>
            <a:r>
              <a:rPr lang="en-US" sz="1400" dirty="0">
                <a:solidFill>
                  <a:srgbClr val="102033"/>
                </a:solidFill>
              </a:rPr>
              <a:t>Preimagen y colisiones: propiedades críticas para la seguridad del esquema.</a:t>
            </a:r>
            <a:endParaRPr lang="en-US" sz="1400" dirty="0"/>
          </a:p>
          <a:p>
            <a:r>
              <a:rPr lang="en-US" sz="1400" dirty="0">
                <a:solidFill>
                  <a:srgbClr val="102033"/>
                </a:solidFill>
              </a:rPr>
              <a:t>Uso en blockchain: enlazar bloques, resumir transacciones y detectar alteraciones.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0352" y="6528816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D8794"/>
                </a:solidFill>
              </a:rPr>
              <a:t>Base: EUBOF, pp. 5, 11-12; Liao, diap. 8.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Datos y criptografía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475720" y="16459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A"/>
                </a:solidFill>
              </a:rPr>
              <a:t>14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Cadena criptográfica de bloques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960120"/>
            <a:ext cx="108813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B677A"/>
                </a:solidFill>
              </a:rPr>
              <a:t>La seguridad histórica se basa en dependencia acumulativa.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11155680" cy="0"/>
          </a:xfrm>
          <a:prstGeom prst="line">
            <a:avLst/>
          </a:prstGeom>
          <a:noFill/>
          <a:ln w="6350">
            <a:solidFill>
              <a:srgbClr val="B8C4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28800"/>
            <a:ext cx="1810512" cy="285293"/>
          </a:xfrm>
          <a:prstGeom prst="rect">
            <a:avLst/>
          </a:prstGeom>
          <a:solidFill>
            <a:srgbClr val="0E9488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Bloque 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136038"/>
            <a:ext cx="1810512" cy="680314"/>
          </a:xfrm>
          <a:prstGeom prst="rect">
            <a:avLst/>
          </a:prstGeom>
          <a:solidFill>
            <a:srgbClr val="FFFFFF"/>
          </a:solidFill>
          <a:ln w="10160">
            <a:solidFill>
              <a:srgbClr val="B8C4D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02033"/>
                </a:solidFill>
              </a:rPr>
              <a:t>datos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dirty="0">
                <a:solidFill>
                  <a:srgbClr val="102033"/>
                </a:solidFill>
              </a:rPr>
              <a:t>prev_hash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dirty="0">
                <a:solidFill>
                  <a:srgbClr val="102033"/>
                </a:solidFill>
              </a:rPr>
              <a:t>hash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2724912" y="2454250"/>
            <a:ext cx="373075" cy="0"/>
          </a:xfrm>
          <a:prstGeom prst="line">
            <a:avLst/>
          </a:prstGeom>
          <a:noFill/>
          <a:ln w="19050">
            <a:solidFill>
              <a:srgbClr val="314156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3097987" y="1828800"/>
            <a:ext cx="1810512" cy="285293"/>
          </a:xfrm>
          <a:prstGeom prst="rect">
            <a:avLst/>
          </a:prstGeom>
          <a:solidFill>
            <a:srgbClr val="1677B8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Bloque 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97987" y="2136038"/>
            <a:ext cx="1810512" cy="680314"/>
          </a:xfrm>
          <a:prstGeom prst="rect">
            <a:avLst/>
          </a:prstGeom>
          <a:solidFill>
            <a:srgbClr val="FFFFFF"/>
          </a:solidFill>
          <a:ln w="10160">
            <a:solidFill>
              <a:srgbClr val="B8C4D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02033"/>
                </a:solidFill>
              </a:rPr>
              <a:t>datos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dirty="0">
                <a:solidFill>
                  <a:srgbClr val="102033"/>
                </a:solidFill>
              </a:rPr>
              <a:t>prev_hash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dirty="0">
                <a:solidFill>
                  <a:srgbClr val="102033"/>
                </a:solidFill>
              </a:rPr>
              <a:t>hash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4908499" y="2454250"/>
            <a:ext cx="373075" cy="0"/>
          </a:xfrm>
          <a:prstGeom prst="line">
            <a:avLst/>
          </a:prstGeom>
          <a:noFill/>
          <a:ln w="19050">
            <a:solidFill>
              <a:srgbClr val="314156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5281574" y="1828800"/>
            <a:ext cx="1810512" cy="285293"/>
          </a:xfrm>
          <a:prstGeom prst="rect">
            <a:avLst/>
          </a:prstGeom>
          <a:solidFill>
            <a:srgbClr val="1677B8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Bloque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81574" y="2136038"/>
            <a:ext cx="1810512" cy="680314"/>
          </a:xfrm>
          <a:prstGeom prst="rect">
            <a:avLst/>
          </a:prstGeom>
          <a:solidFill>
            <a:srgbClr val="FFFFFF"/>
          </a:solidFill>
          <a:ln w="10160">
            <a:solidFill>
              <a:srgbClr val="B8C4D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02033"/>
                </a:solidFill>
              </a:rPr>
              <a:t>datos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dirty="0">
                <a:solidFill>
                  <a:srgbClr val="102033"/>
                </a:solidFill>
              </a:rPr>
              <a:t>prev_hash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dirty="0">
                <a:solidFill>
                  <a:srgbClr val="102033"/>
                </a:solidFill>
              </a:rPr>
              <a:t>hash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7092086" y="2454250"/>
            <a:ext cx="373075" cy="0"/>
          </a:xfrm>
          <a:prstGeom prst="line">
            <a:avLst/>
          </a:prstGeom>
          <a:noFill/>
          <a:ln w="19050">
            <a:solidFill>
              <a:srgbClr val="314156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7465162" y="1828800"/>
            <a:ext cx="1810512" cy="285293"/>
          </a:xfrm>
          <a:prstGeom prst="rect">
            <a:avLst/>
          </a:prstGeom>
          <a:solidFill>
            <a:srgbClr val="1677B8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Bloque 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65162" y="2136038"/>
            <a:ext cx="1810512" cy="680314"/>
          </a:xfrm>
          <a:prstGeom prst="rect">
            <a:avLst/>
          </a:prstGeom>
          <a:solidFill>
            <a:srgbClr val="FFFFFF"/>
          </a:solidFill>
          <a:ln w="10160">
            <a:solidFill>
              <a:srgbClr val="B8C4D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02033"/>
                </a:solidFill>
              </a:rPr>
              <a:t>datos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dirty="0">
                <a:solidFill>
                  <a:srgbClr val="102033"/>
                </a:solidFill>
              </a:rPr>
              <a:t>prev_hash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dirty="0">
                <a:solidFill>
                  <a:srgbClr val="102033"/>
                </a:solidFill>
              </a:rPr>
              <a:t>hash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2194560" y="3840480"/>
            <a:ext cx="7498080" cy="1097280"/>
          </a:xfrm>
          <a:prstGeom prst="rect">
            <a:avLst/>
          </a:prstGeom>
          <a:solidFill>
            <a:srgbClr val="F5DCDC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02033"/>
                </a:solidFill>
              </a:rPr>
              <a:t>Si cambia una transacción en B1, cambia hash(B1).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02033"/>
                </a:solidFill>
              </a:rPr>
              <a:t>Entonces prev_hash en B2 deja de coincidir.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02033"/>
                </a:solidFill>
              </a:rPr>
              <a:t>La inconsistencia se propaga hacia adelante.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30352" y="6528816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D8794"/>
                </a:solidFill>
              </a:rPr>
              <a:t>Base: Rayenizadeh &amp; Rafsanjani, sec. 1.1-1.2; EUBOF, p. 5.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Datos y criptografía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475720" y="16459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A"/>
                </a:solidFill>
              </a:rPr>
              <a:t>15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Merkle tree: verificación eficiente de inclusión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960120"/>
            <a:ext cx="108813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B677A"/>
                </a:solidFill>
              </a:rPr>
              <a:t>La raíz resume muchas transacciones; una prueba puede validar inclusión sin descargar todo el bloque.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11155680" cy="0"/>
          </a:xfrm>
          <a:prstGeom prst="line">
            <a:avLst/>
          </a:prstGeom>
          <a:noFill/>
          <a:ln w="6350">
            <a:solidFill>
              <a:srgbClr val="B8C4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291840"/>
            <a:ext cx="914400" cy="329184"/>
          </a:xfrm>
          <a:prstGeom prst="rect">
            <a:avLst/>
          </a:prstGeom>
          <a:solidFill>
            <a:srgbClr val="D8ECFA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A"/>
                </a:solidFill>
              </a:rPr>
              <a:t>tx1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148840" y="3291840"/>
            <a:ext cx="914400" cy="329184"/>
          </a:xfrm>
          <a:prstGeom prst="rect">
            <a:avLst/>
          </a:prstGeom>
          <a:solidFill>
            <a:srgbClr val="D8ECFA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A"/>
                </a:solidFill>
              </a:rPr>
              <a:t>tx2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383280" y="3291840"/>
            <a:ext cx="914400" cy="329184"/>
          </a:xfrm>
          <a:prstGeom prst="rect">
            <a:avLst/>
          </a:prstGeom>
          <a:solidFill>
            <a:srgbClr val="D8ECFA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A"/>
                </a:solidFill>
              </a:rPr>
              <a:t>tx3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17720" y="3291840"/>
            <a:ext cx="914400" cy="329184"/>
          </a:xfrm>
          <a:prstGeom prst="rect">
            <a:avLst/>
          </a:prstGeom>
          <a:solidFill>
            <a:srgbClr val="D8ECFA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A"/>
                </a:solidFill>
              </a:rPr>
              <a:t>tx4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536192" y="2560320"/>
            <a:ext cx="914400" cy="329184"/>
          </a:xfrm>
          <a:prstGeom prst="rect">
            <a:avLst/>
          </a:prstGeom>
          <a:solidFill>
            <a:srgbClr val="DDF3ED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A"/>
                </a:solidFill>
              </a:rPr>
              <a:t>h12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005072" y="2560320"/>
            <a:ext cx="914400" cy="329184"/>
          </a:xfrm>
          <a:prstGeom prst="rect">
            <a:avLst/>
          </a:prstGeom>
          <a:solidFill>
            <a:srgbClr val="DDF3ED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A"/>
                </a:solidFill>
              </a:rPr>
              <a:t>h34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06040" y="1737360"/>
            <a:ext cx="1371600" cy="384048"/>
          </a:xfrm>
          <a:prstGeom prst="rect">
            <a:avLst/>
          </a:prstGeom>
          <a:solidFill>
            <a:srgbClr val="0E9488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Merkle root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371600" y="3291840"/>
            <a:ext cx="621792" cy="-731520"/>
          </a:xfrm>
          <a:prstGeom prst="line">
            <a:avLst/>
          </a:prstGeom>
          <a:noFill/>
          <a:ln w="13970">
            <a:solidFill>
              <a:srgbClr val="B8C4D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06040" y="3291840"/>
            <a:ext cx="-612648" cy="-731520"/>
          </a:xfrm>
          <a:prstGeom prst="line">
            <a:avLst/>
          </a:prstGeom>
          <a:noFill/>
          <a:ln w="13970">
            <a:solidFill>
              <a:srgbClr val="B8C4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0" y="3291840"/>
            <a:ext cx="621792" cy="-731520"/>
          </a:xfrm>
          <a:prstGeom prst="line">
            <a:avLst/>
          </a:prstGeom>
          <a:noFill/>
          <a:ln w="13970">
            <a:solidFill>
              <a:srgbClr val="B8C4D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74920" y="3291840"/>
            <a:ext cx="-612648" cy="-731520"/>
          </a:xfrm>
          <a:prstGeom prst="line">
            <a:avLst/>
          </a:prstGeom>
          <a:noFill/>
          <a:ln w="13970">
            <a:solidFill>
              <a:srgbClr val="B8C4D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93392" y="2560320"/>
            <a:ext cx="1298448" cy="-822960"/>
          </a:xfrm>
          <a:prstGeom prst="line">
            <a:avLst/>
          </a:prstGeom>
          <a:noFill/>
          <a:ln w="13970">
            <a:solidFill>
              <a:srgbClr val="B8C4D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62272" y="2560320"/>
            <a:ext cx="-1170432" cy="-822960"/>
          </a:xfrm>
          <a:prstGeom prst="line">
            <a:avLst/>
          </a:prstGeom>
          <a:noFill/>
          <a:ln w="13970">
            <a:solidFill>
              <a:srgbClr val="B8C4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1874520"/>
            <a:ext cx="4297680" cy="201168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r>
              <a:rPr lang="en-US" sz="1500" dirty="0">
                <a:solidFill>
                  <a:srgbClr val="102033"/>
                </a:solidFill>
              </a:rPr>
              <a:t>Reduce el costo de probar que una transacción está dentro de un bloque.</a:t>
            </a:r>
            <a:endParaRPr lang="en-US" sz="1500" dirty="0"/>
          </a:p>
          <a:p>
            <a:r>
              <a:rPr lang="en-US" sz="1500" dirty="0">
                <a:solidFill>
                  <a:srgbClr val="102033"/>
                </a:solidFill>
              </a:rPr>
              <a:t>La raíz Merkle queda comprometida dentro del header.</a:t>
            </a:r>
            <a:endParaRPr lang="en-US" sz="1500" dirty="0"/>
          </a:p>
          <a:p>
            <a:r>
              <a:rPr lang="en-US" sz="1500" dirty="0">
                <a:solidFill>
                  <a:srgbClr val="102033"/>
                </a:solidFill>
              </a:rPr>
              <a:t>Cambiar una hoja altera hashes intermedios y la raíz.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Datos y criptografía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475720" y="16459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A"/>
                </a:solidFill>
              </a:rPr>
              <a:t>16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Firmas digitales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960120"/>
            <a:ext cx="108813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B677A"/>
                </a:solidFill>
              </a:rPr>
              <a:t>Autenticidad y autorización no son equivalentes: una firma prueba control de clave, no necesariamente legitimidad organizacional.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11155680" cy="0"/>
          </a:xfrm>
          <a:prstGeom prst="line">
            <a:avLst/>
          </a:prstGeom>
          <a:noFill/>
          <a:ln w="6350">
            <a:solidFill>
              <a:srgbClr val="B8C4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828800"/>
            <a:ext cx="1828800" cy="502920"/>
          </a:xfrm>
          <a:prstGeom prst="rect">
            <a:avLst/>
          </a:prstGeom>
          <a:solidFill>
            <a:srgbClr val="0B1F3A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Clave privada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383280" y="1783080"/>
            <a:ext cx="2057400" cy="594360"/>
          </a:xfrm>
          <a:prstGeom prst="rect">
            <a:avLst/>
          </a:prstGeom>
          <a:solidFill>
            <a:srgbClr val="1677B8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firmar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transacción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080760" y="1828800"/>
            <a:ext cx="1645920" cy="502920"/>
          </a:xfrm>
          <a:prstGeom prst="rect">
            <a:avLst/>
          </a:prstGeom>
          <a:solidFill>
            <a:srgbClr val="0E9488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Firma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412480" y="1828800"/>
            <a:ext cx="182880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033"/>
                </a:solidFill>
              </a:rPr>
              <a:t>Clave pública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807208" y="2075688"/>
            <a:ext cx="576072" cy="0"/>
          </a:xfrm>
          <a:prstGeom prst="line">
            <a:avLst/>
          </a:prstGeom>
          <a:noFill/>
          <a:ln w="19050">
            <a:solidFill>
              <a:srgbClr val="B8C4D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440680" y="2075688"/>
            <a:ext cx="640080" cy="0"/>
          </a:xfrm>
          <a:prstGeom prst="line">
            <a:avLst/>
          </a:prstGeom>
          <a:noFill/>
          <a:ln w="19050">
            <a:solidFill>
              <a:srgbClr val="B8C4D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726680" y="2075688"/>
            <a:ext cx="685800" cy="0"/>
          </a:xfrm>
          <a:prstGeom prst="line">
            <a:avLst/>
          </a:prstGeom>
          <a:noFill/>
          <a:ln w="19050">
            <a:solidFill>
              <a:srgbClr val="B8C4D2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1005840" y="3657600"/>
            <a:ext cx="10241280" cy="146304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r>
              <a:rPr lang="en-US" sz="1500" dirty="0">
                <a:solidFill>
                  <a:srgbClr val="102033"/>
                </a:solidFill>
              </a:rPr>
              <a:t>La firma autentica el origen criptográfico de la operación.</a:t>
            </a:r>
            <a:endParaRPr lang="en-US" sz="1500" dirty="0"/>
          </a:p>
          <a:p>
            <a:r>
              <a:rPr lang="en-US" sz="1500" dirty="0">
                <a:solidFill>
                  <a:srgbClr val="102033"/>
                </a:solidFill>
              </a:rPr>
              <a:t>El sistema debe resolver gestión de claves, revocación, custodia, recuperación e identidad legal.</a:t>
            </a:r>
            <a:endParaRPr lang="en-US" sz="1500" dirty="0"/>
          </a:p>
          <a:p>
            <a:r>
              <a:rPr lang="en-US" sz="1500" dirty="0">
                <a:solidFill>
                  <a:srgbClr val="102033"/>
                </a:solidFill>
              </a:rPr>
              <a:t>Perder la clave puede ser tan grave como una intrusión: la matemática no reemplaza gobernanza.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30352" y="6528816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D8794"/>
                </a:solidFill>
              </a:rPr>
              <a:t>Base: EUBOF, pp. 5, 11-12; Liao, diap. 8; Mathur, applications/security.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Datos y criptografía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475720" y="16459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A"/>
                </a:solidFill>
              </a:rPr>
              <a:t>17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Ledger como máquina de estados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960120"/>
            <a:ext cx="108813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B677A"/>
                </a:solidFill>
              </a:rPr>
              <a:t>Una blockchain no almacena solamente datos: aplica reglas para transitar de un estado válido a otro.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11155680" cy="0"/>
          </a:xfrm>
          <a:prstGeom prst="line">
            <a:avLst/>
          </a:prstGeom>
          <a:noFill/>
          <a:ln w="6350">
            <a:solidFill>
              <a:srgbClr val="B8C4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286000"/>
            <a:ext cx="2011680" cy="594360"/>
          </a:xfrm>
          <a:prstGeom prst="rect">
            <a:avLst/>
          </a:prstGeom>
          <a:solidFill>
            <a:srgbClr val="0B1F3A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Estado S_t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0" y="2240280"/>
            <a:ext cx="2011680" cy="685800"/>
          </a:xfrm>
          <a:prstGeom prst="rect">
            <a:avLst/>
          </a:prstGeom>
          <a:solidFill>
            <a:srgbClr val="1677B8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Transacciones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válidas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0" y="2240280"/>
            <a:ext cx="2011680" cy="685800"/>
          </a:xfrm>
          <a:prstGeom prst="rect">
            <a:avLst/>
          </a:prstGeom>
          <a:solidFill>
            <a:srgbClr val="0E9488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Reglas de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transición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0" y="2286000"/>
            <a:ext cx="2011680" cy="594360"/>
          </a:xfrm>
          <a:prstGeom prst="rect">
            <a:avLst/>
          </a:prstGeom>
          <a:solidFill>
            <a:srgbClr val="0B1F3A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Estado S_{t+1}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926080" y="2578608"/>
            <a:ext cx="731520" cy="0"/>
          </a:xfrm>
          <a:prstGeom prst="line">
            <a:avLst/>
          </a:prstGeom>
          <a:noFill/>
          <a:ln w="20320">
            <a:solidFill>
              <a:srgbClr val="B8C4D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669280" y="2578608"/>
            <a:ext cx="731520" cy="0"/>
          </a:xfrm>
          <a:prstGeom prst="line">
            <a:avLst/>
          </a:prstGeom>
          <a:noFill/>
          <a:ln w="20320">
            <a:solidFill>
              <a:srgbClr val="B8C4D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412480" y="2578608"/>
            <a:ext cx="731520" cy="0"/>
          </a:xfrm>
          <a:prstGeom prst="line">
            <a:avLst/>
          </a:prstGeom>
          <a:noFill/>
          <a:ln w="20320">
            <a:solidFill>
              <a:srgbClr val="B8C4D2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1005840" y="3977640"/>
            <a:ext cx="10149840" cy="11430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r>
              <a:rPr lang="en-US" sz="1500" dirty="0">
                <a:solidFill>
                  <a:srgbClr val="102033"/>
                </a:solidFill>
              </a:rPr>
              <a:t>Consenso ordena las transacciones; validación verifica que respeten reglas.</a:t>
            </a:r>
            <a:endParaRPr lang="en-US" sz="1500" dirty="0"/>
          </a:p>
          <a:p>
            <a:r>
              <a:rPr lang="en-US" sz="1500" dirty="0">
                <a:solidFill>
                  <a:srgbClr val="102033"/>
                </a:solidFill>
              </a:rPr>
              <a:t>El historial permite auditar cómo se llegó al estado actual.</a:t>
            </a:r>
            <a:endParaRPr lang="en-US" sz="1500" dirty="0"/>
          </a:p>
          <a:p>
            <a:r>
              <a:rPr lang="en-US" sz="1500" dirty="0">
                <a:solidFill>
                  <a:srgbClr val="102033"/>
                </a:solidFill>
              </a:rPr>
              <a:t>La replicación convierte la ejecución local en estado compartido.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4008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A4F3"/>
                </a:solidFill>
              </a:rPr>
              <a:t>3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146304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Red, validación y consenso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13232" y="224028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9E8F5"/>
                </a:solidFill>
              </a:rPr>
              <a:t>El consenso no crea verdad absoluta: crea acuerdo operacional bajo un modelo explícito de fallas.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Red y consenso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475720" y="16459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A"/>
                </a:solidFill>
              </a:rPr>
              <a:t>19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Nodos, réplicas y propagación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960120"/>
            <a:ext cx="108813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B677A"/>
                </a:solidFill>
              </a:rPr>
              <a:t>Cada nodo conserva, valida o retransmite información según su rol en la red.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11155680" cy="0"/>
          </a:xfrm>
          <a:prstGeom prst="line">
            <a:avLst/>
          </a:prstGeom>
          <a:noFill/>
          <a:ln w="6350">
            <a:solidFill>
              <a:srgbClr val="B8C4D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54680" y="1973275"/>
            <a:ext cx="1371600" cy="559613"/>
          </a:xfrm>
          <a:prstGeom prst="line">
            <a:avLst/>
          </a:prstGeom>
          <a:noFill/>
          <a:ln w="12700">
            <a:solidFill>
              <a:srgbClr val="B8C4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26280" y="2532888"/>
            <a:ext cx="-365760" cy="1243584"/>
          </a:xfrm>
          <a:prstGeom prst="line">
            <a:avLst/>
          </a:prstGeom>
          <a:noFill/>
          <a:ln w="12700">
            <a:solidFill>
              <a:srgbClr val="B8C4D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60520" y="3776472"/>
            <a:ext cx="-1691640" cy="248717"/>
          </a:xfrm>
          <a:prstGeom prst="line">
            <a:avLst/>
          </a:prstGeom>
          <a:noFill/>
          <a:ln w="12700">
            <a:solidFill>
              <a:srgbClr val="B8C4D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68880" y="4025189"/>
            <a:ext cx="-868680" cy="-1088136"/>
          </a:xfrm>
          <a:prstGeom prst="line">
            <a:avLst/>
          </a:prstGeom>
          <a:noFill/>
          <a:ln w="12700">
            <a:solidFill>
              <a:srgbClr val="B8C4D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00200" y="2937053"/>
            <a:ext cx="1554480" cy="-963778"/>
          </a:xfrm>
          <a:prstGeom prst="line">
            <a:avLst/>
          </a:prstGeom>
          <a:noFill/>
          <a:ln w="12700">
            <a:solidFill>
              <a:srgbClr val="B8C4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54680" y="1973275"/>
            <a:ext cx="-91440" cy="1119226"/>
          </a:xfrm>
          <a:prstGeom prst="line">
            <a:avLst/>
          </a:prstGeom>
          <a:noFill/>
          <a:ln w="12700">
            <a:solidFill>
              <a:srgbClr val="B8C4D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26280" y="2532888"/>
            <a:ext cx="-1463040" cy="559613"/>
          </a:xfrm>
          <a:prstGeom prst="line">
            <a:avLst/>
          </a:prstGeom>
          <a:noFill/>
          <a:ln w="12700">
            <a:solidFill>
              <a:srgbClr val="B8C4D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60520" y="3776472"/>
            <a:ext cx="-1097280" cy="-683971"/>
          </a:xfrm>
          <a:prstGeom prst="line">
            <a:avLst/>
          </a:prstGeom>
          <a:noFill/>
          <a:ln w="12700">
            <a:solidFill>
              <a:srgbClr val="B8C4D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68880" y="4025189"/>
            <a:ext cx="594360" cy="-932688"/>
          </a:xfrm>
          <a:prstGeom prst="line">
            <a:avLst/>
          </a:prstGeom>
          <a:noFill/>
          <a:ln w="12700">
            <a:solidFill>
              <a:srgbClr val="B8C4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00200" y="2937053"/>
            <a:ext cx="1463040" cy="155448"/>
          </a:xfrm>
          <a:prstGeom prst="line">
            <a:avLst/>
          </a:prstGeom>
          <a:noFill/>
          <a:ln w="12700">
            <a:solidFill>
              <a:srgbClr val="B8C4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53512" y="1772107"/>
            <a:ext cx="402336" cy="402336"/>
          </a:xfrm>
          <a:prstGeom prst="rect">
            <a:avLst/>
          </a:prstGeom>
          <a:solidFill>
            <a:srgbClr val="1677B8"/>
          </a:solidFill>
          <a:ln w="12700">
            <a:solidFill>
              <a:srgbClr val="FFFFFF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325112" y="2331720"/>
            <a:ext cx="402336" cy="402336"/>
          </a:xfrm>
          <a:prstGeom prst="rect">
            <a:avLst/>
          </a:prstGeom>
          <a:solidFill>
            <a:srgbClr val="1677B8"/>
          </a:solidFill>
          <a:ln w="12700">
            <a:solidFill>
              <a:srgbClr val="FFFFFF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959352" y="3575304"/>
            <a:ext cx="402336" cy="402336"/>
          </a:xfrm>
          <a:prstGeom prst="rect">
            <a:avLst/>
          </a:prstGeom>
          <a:solidFill>
            <a:srgbClr val="1677B8"/>
          </a:solidFill>
          <a:ln w="12700">
            <a:solidFill>
              <a:srgbClr val="FFFFFF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67712" y="3824021"/>
            <a:ext cx="402336" cy="402336"/>
          </a:xfrm>
          <a:prstGeom prst="rect">
            <a:avLst/>
          </a:prstGeom>
          <a:solidFill>
            <a:srgbClr val="1677B8"/>
          </a:solidFill>
          <a:ln w="12700">
            <a:solidFill>
              <a:srgbClr val="FFFFFF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399032" y="2735885"/>
            <a:ext cx="402336" cy="402336"/>
          </a:xfrm>
          <a:prstGeom prst="rect">
            <a:avLst/>
          </a:prstGeom>
          <a:solidFill>
            <a:srgbClr val="1677B8"/>
          </a:solidFill>
          <a:ln w="12700">
            <a:solidFill>
              <a:srgbClr val="FFFFFF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862072" y="2891333"/>
            <a:ext cx="402336" cy="402336"/>
          </a:xfrm>
          <a:prstGeom prst="rect">
            <a:avLst/>
          </a:prstGeom>
          <a:solidFill>
            <a:srgbClr val="0E9488"/>
          </a:solidFill>
          <a:ln w="12700">
            <a:solidFill>
              <a:srgbClr val="FFFFFF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17920" y="1691640"/>
            <a:ext cx="4937760" cy="30175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r>
              <a:rPr lang="en-US" sz="1500" dirty="0">
                <a:solidFill>
                  <a:srgbClr val="102033"/>
                </a:solidFill>
              </a:rPr>
              <a:t>Nodo completo: almacena y valida reglas completas.</a:t>
            </a:r>
            <a:endParaRPr lang="en-US" sz="1500" dirty="0"/>
          </a:p>
          <a:p>
            <a:r>
              <a:rPr lang="en-US" sz="1500" dirty="0">
                <a:solidFill>
                  <a:srgbClr val="102033"/>
                </a:solidFill>
              </a:rPr>
              <a:t>Nodo validador: participa en aceptación de bloques o decisiones de consenso.</a:t>
            </a:r>
            <a:endParaRPr lang="en-US" sz="1500" dirty="0"/>
          </a:p>
          <a:p>
            <a:r>
              <a:rPr lang="en-US" sz="1500" dirty="0">
                <a:solidFill>
                  <a:srgbClr val="102033"/>
                </a:solidFill>
              </a:rPr>
              <a:t>Nodo cliente: consulta o envía operaciones sin conservar todo el historial.</a:t>
            </a:r>
            <a:endParaRPr lang="en-US" sz="1500" dirty="0"/>
          </a:p>
          <a:p>
            <a:r>
              <a:rPr lang="en-US" sz="1500" dirty="0">
                <a:solidFill>
                  <a:srgbClr val="102033"/>
                </a:solidFill>
              </a:rPr>
              <a:t>La topología afecta latencia, resistencia a particiones y propagación de bloques.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30352" y="6528816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D8794"/>
                </a:solidFill>
              </a:rPr>
              <a:t>Base: Rayenizadeh &amp; Rafsanjani, sec. 1.2.1; Mathur, “Core Blockchain component”.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Red y consenso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475720" y="16459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A"/>
                </a:solidFill>
              </a:rPr>
              <a:t>20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Ciclo de vida de una transacción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960120"/>
            <a:ext cx="108813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B677A"/>
                </a:solidFill>
              </a:rPr>
              <a:t>El flujo separa emisión, difusión, validación, empaquetado, consenso y anexado.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11155680" cy="0"/>
          </a:xfrm>
          <a:prstGeom prst="line">
            <a:avLst/>
          </a:prstGeom>
          <a:noFill/>
          <a:ln w="6350">
            <a:solidFill>
              <a:srgbClr val="B8C4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148840"/>
            <a:ext cx="1417320" cy="621792"/>
          </a:xfrm>
          <a:prstGeom prst="rect">
            <a:avLst/>
          </a:prstGeom>
          <a:solidFill>
            <a:srgbClr val="1677B8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1. Firma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011680" y="2459736"/>
            <a:ext cx="438912" cy="0"/>
          </a:xfrm>
          <a:prstGeom prst="line">
            <a:avLst/>
          </a:prstGeom>
          <a:noFill/>
          <a:ln w="19050">
            <a:solidFill>
              <a:srgbClr val="B8C4D2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468880" y="2148840"/>
            <a:ext cx="1417320" cy="621792"/>
          </a:xfrm>
          <a:prstGeom prst="rect">
            <a:avLst/>
          </a:prstGeom>
          <a:solidFill>
            <a:srgbClr val="0E9488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2. Broadcast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886200" y="2459736"/>
            <a:ext cx="438912" cy="0"/>
          </a:xfrm>
          <a:prstGeom prst="line">
            <a:avLst/>
          </a:prstGeom>
          <a:noFill/>
          <a:ln w="19050">
            <a:solidFill>
              <a:srgbClr val="B8C4D2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4343400" y="2148840"/>
            <a:ext cx="1417320" cy="621792"/>
          </a:xfrm>
          <a:prstGeom prst="rect">
            <a:avLst/>
          </a:prstGeom>
          <a:solidFill>
            <a:srgbClr val="1677B8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3. Validación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760720" y="2459736"/>
            <a:ext cx="438912" cy="0"/>
          </a:xfrm>
          <a:prstGeom prst="line">
            <a:avLst/>
          </a:prstGeom>
          <a:noFill/>
          <a:ln w="19050">
            <a:solidFill>
              <a:srgbClr val="B8C4D2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6217920" y="2148840"/>
            <a:ext cx="1417320" cy="621792"/>
          </a:xfrm>
          <a:prstGeom prst="rect">
            <a:avLst/>
          </a:prstGeom>
          <a:solidFill>
            <a:srgbClr val="0E9488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4. Bloque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635240" y="2459736"/>
            <a:ext cx="438912" cy="0"/>
          </a:xfrm>
          <a:prstGeom prst="line">
            <a:avLst/>
          </a:prstGeom>
          <a:noFill/>
          <a:ln w="19050">
            <a:solidFill>
              <a:srgbClr val="B8C4D2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8092440" y="2148840"/>
            <a:ext cx="1417320" cy="621792"/>
          </a:xfrm>
          <a:prstGeom prst="rect">
            <a:avLst/>
          </a:prstGeom>
          <a:solidFill>
            <a:srgbClr val="1677B8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5. Consenso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509760" y="2459736"/>
            <a:ext cx="438912" cy="0"/>
          </a:xfrm>
          <a:prstGeom prst="line">
            <a:avLst/>
          </a:prstGeom>
          <a:noFill/>
          <a:ln w="19050">
            <a:solidFill>
              <a:srgbClr val="B8C4D2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9966960" y="2148840"/>
            <a:ext cx="1417320" cy="621792"/>
          </a:xfrm>
          <a:prstGeom prst="rect">
            <a:avLst/>
          </a:prstGeom>
          <a:solidFill>
            <a:srgbClr val="0E9488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6. Anexado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3977640"/>
            <a:ext cx="10332720" cy="123444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r>
              <a:rPr lang="en-US" sz="1500" dirty="0">
                <a:solidFill>
                  <a:srgbClr val="102033"/>
                </a:solidFill>
              </a:rPr>
              <a:t>La validez de una transacción no implica su aceptación final.</a:t>
            </a:r>
            <a:endParaRPr lang="en-US" sz="1500" dirty="0"/>
          </a:p>
          <a:p>
            <a:r>
              <a:rPr lang="en-US" sz="1500" dirty="0">
                <a:solidFill>
                  <a:srgbClr val="102033"/>
                </a:solidFill>
              </a:rPr>
              <a:t>El bloque candidato puede competir con otros bloques o propuestas.</a:t>
            </a:r>
            <a:endParaRPr lang="en-US" sz="1500" dirty="0"/>
          </a:p>
          <a:p>
            <a:r>
              <a:rPr lang="en-US" sz="1500" dirty="0">
                <a:solidFill>
                  <a:srgbClr val="102033"/>
                </a:solidFill>
              </a:rPr>
              <a:t>Finalidad = punto a partir del cual revertir el bloque es imposible o económicamente/protocolariamente inviable.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30352" y="6528816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D8794"/>
                </a:solidFill>
              </a:rPr>
              <a:t>Base: Liao, diap. 7; Rayenizadeh &amp; Rafsanjani, sec. 1.2.1.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Red y consenso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475720" y="16459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A"/>
                </a:solidFill>
              </a:rPr>
              <a:t>21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Validación no es consenso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960120"/>
            <a:ext cx="108813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B677A"/>
                </a:solidFill>
              </a:rPr>
              <a:t>Confundirlos produce diseños débiles.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11155680" cy="0"/>
          </a:xfrm>
          <a:prstGeom prst="line">
            <a:avLst/>
          </a:prstGeom>
          <a:noFill/>
          <a:ln w="6350">
            <a:solidFill>
              <a:srgbClr val="B8C4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828800"/>
            <a:ext cx="4114800" cy="548640"/>
          </a:xfrm>
          <a:prstGeom prst="rect">
            <a:avLst/>
          </a:prstGeom>
          <a:solidFill>
            <a:srgbClr val="1677B8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Validación local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2606040"/>
            <a:ext cx="3840480" cy="16002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r>
              <a:rPr lang="en-US" sz="1400" dirty="0">
                <a:solidFill>
                  <a:srgbClr val="102033"/>
                </a:solidFill>
              </a:rPr>
              <a:t>¿La transacción está bien firmada?</a:t>
            </a:r>
            <a:endParaRPr lang="en-US" sz="1400" dirty="0"/>
          </a:p>
          <a:p>
            <a:r>
              <a:rPr lang="en-US" sz="1400" dirty="0">
                <a:solidFill>
                  <a:srgbClr val="102033"/>
                </a:solidFill>
              </a:rPr>
              <a:t>¿Respeta reglas de formato y estado?</a:t>
            </a:r>
            <a:endParaRPr lang="en-US" sz="1400" dirty="0"/>
          </a:p>
          <a:p>
            <a:r>
              <a:rPr lang="en-US" sz="1400" dirty="0">
                <a:solidFill>
                  <a:srgbClr val="102033"/>
                </a:solidFill>
              </a:rPr>
              <a:t>¿No viola permisos o restricciones?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995160" y="1828800"/>
            <a:ext cx="4114800" cy="548640"/>
          </a:xfrm>
          <a:prstGeom prst="rect">
            <a:avLst/>
          </a:prstGeom>
          <a:solidFill>
            <a:srgbClr val="0E9488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Consenso distribuido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32320" y="2606040"/>
            <a:ext cx="3840480" cy="16002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r>
              <a:rPr lang="en-US" sz="1400" dirty="0">
                <a:solidFill>
                  <a:srgbClr val="102033"/>
                </a:solidFill>
              </a:rPr>
              <a:t>¿Qué conjunto de transacciones entra?</a:t>
            </a:r>
            <a:endParaRPr lang="en-US" sz="1400" dirty="0"/>
          </a:p>
          <a:p>
            <a:r>
              <a:rPr lang="en-US" sz="1400" dirty="0">
                <a:solidFill>
                  <a:srgbClr val="102033"/>
                </a:solidFill>
              </a:rPr>
              <a:t>¿En qué orden?</a:t>
            </a:r>
            <a:endParaRPr lang="en-US" sz="1400" dirty="0"/>
          </a:p>
          <a:p>
            <a:r>
              <a:rPr lang="en-US" sz="1400" dirty="0">
                <a:solidFill>
                  <a:srgbClr val="102033"/>
                </a:solidFill>
              </a:rPr>
              <a:t>¿Qué bloque representa el estado aceptado?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80760" y="1737360"/>
            <a:ext cx="0" cy="3108960"/>
          </a:xfrm>
          <a:prstGeom prst="line">
            <a:avLst/>
          </a:prstGeom>
          <a:noFill/>
          <a:ln w="12700">
            <a:solidFill>
              <a:srgbClr val="B8C4D2"/>
            </a:solidFill>
            <a:prstDash val="soli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Red y consenso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475720" y="16459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A"/>
                </a:solidFill>
              </a:rPr>
              <a:t>22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hace un mecanismo de consenso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960120"/>
            <a:ext cx="108813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B677A"/>
                </a:solidFill>
              </a:rPr>
              <a:t>Resuelve acuerdo bajo fallas, retrasos, participantes maliciosos o ausencia de confianza plena.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11155680" cy="0"/>
          </a:xfrm>
          <a:prstGeom prst="line">
            <a:avLst/>
          </a:prstGeom>
          <a:noFill/>
          <a:ln w="6350">
            <a:solidFill>
              <a:srgbClr val="B8C4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20240"/>
            <a:ext cx="1645920" cy="502920"/>
          </a:xfrm>
          <a:prstGeom prst="rect">
            <a:avLst/>
          </a:prstGeom>
          <a:solidFill>
            <a:srgbClr val="0B1F3A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Entrada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542032"/>
            <a:ext cx="1645920" cy="914400"/>
          </a:xfrm>
          <a:prstGeom prst="rect">
            <a:avLst/>
          </a:prstGeom>
          <a:solidFill>
            <a:srgbClr val="FFFFFF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02033"/>
                </a:solidFill>
              </a:rPr>
              <a:t>bloques candidatos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02033"/>
                </a:solidFill>
              </a:rPr>
              <a:t>transacciones válidas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9080" y="2148840"/>
            <a:ext cx="3017520" cy="777240"/>
          </a:xfrm>
          <a:prstGeom prst="rect">
            <a:avLst/>
          </a:prstGeom>
          <a:solidFill>
            <a:srgbClr val="1677B8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Protocolo de consenso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823960" y="1920240"/>
            <a:ext cx="1645920" cy="502920"/>
          </a:xfrm>
          <a:prstGeom prst="rect">
            <a:avLst/>
          </a:prstGeom>
          <a:solidFill>
            <a:srgbClr val="0E9488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Salida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823960" y="2542032"/>
            <a:ext cx="1645920" cy="914400"/>
          </a:xfrm>
          <a:prstGeom prst="rect">
            <a:avLst/>
          </a:prstGeom>
          <a:solidFill>
            <a:srgbClr val="FFFFFF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02033"/>
                </a:solidFill>
              </a:rPr>
              <a:t>orden aceptado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02033"/>
                </a:solidFill>
              </a:rPr>
              <a:t>estado común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14600" y="2514600"/>
            <a:ext cx="1554480" cy="0"/>
          </a:xfrm>
          <a:prstGeom prst="line">
            <a:avLst/>
          </a:prstGeom>
          <a:noFill/>
          <a:ln w="22860">
            <a:solidFill>
              <a:srgbClr val="B8C4D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086600" y="2514600"/>
            <a:ext cx="1737360" cy="0"/>
          </a:xfrm>
          <a:prstGeom prst="line">
            <a:avLst/>
          </a:prstGeom>
          <a:noFill/>
          <a:ln w="22860">
            <a:solidFill>
              <a:srgbClr val="B8C4D2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914400" y="4572000"/>
            <a:ext cx="9784080" cy="100584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r>
              <a:rPr lang="en-US" sz="1500" dirty="0">
                <a:solidFill>
                  <a:srgbClr val="102033"/>
                </a:solidFill>
              </a:rPr>
              <a:t>Safety: no dos estados incompatibles aceptados.</a:t>
            </a:r>
            <a:endParaRPr lang="en-US" sz="1500" dirty="0"/>
          </a:p>
          <a:p>
            <a:r>
              <a:rPr lang="en-US" sz="1500" dirty="0">
                <a:solidFill>
                  <a:srgbClr val="102033"/>
                </a:solidFill>
              </a:rPr>
              <a:t>Liveness: el sistema sigue progresando.</a:t>
            </a:r>
            <a:endParaRPr lang="en-US" sz="1500" dirty="0"/>
          </a:p>
          <a:p>
            <a:r>
              <a:rPr lang="en-US" sz="1500" dirty="0">
                <a:solidFill>
                  <a:srgbClr val="102033"/>
                </a:solidFill>
              </a:rPr>
              <a:t>Finality: claridad sobre reversibilidad o irreversibilidad.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30352" y="6528816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D8794"/>
                </a:solidFill>
              </a:rPr>
              <a:t>Base: EUBOF, p. 12; Rayenizadeh &amp; Rafsanjani, sec. 1.2.1.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Red y consenso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475720" y="16459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A"/>
                </a:solidFill>
              </a:rPr>
              <a:t>23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 de fallas: CFT vs BFT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960120"/>
            <a:ext cx="108813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B677A"/>
                </a:solidFill>
              </a:rPr>
              <a:t>El consenso se evalúa contra supuestos de falla; sin supuestos, la palabra “seguro” no significa nada.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11155680" cy="0"/>
          </a:xfrm>
          <a:prstGeom prst="line">
            <a:avLst/>
          </a:prstGeom>
          <a:noFill/>
          <a:ln w="6350">
            <a:solidFill>
              <a:srgbClr val="B8C4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737360"/>
            <a:ext cx="493776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677B8"/>
                </a:solidFill>
              </a:rPr>
              <a:t>Crash Fault Tolerance (CFT)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103120"/>
            <a:ext cx="493776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2033"/>
                </a:solidFill>
              </a:rPr>
              <a:t>Tolera nodos caídos, lentos o desconectados. No asume comportamiento activamente malicioso. Ejemplos típicos: Raft, Paxos.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68680" y="2066544"/>
            <a:ext cx="4937760" cy="0"/>
          </a:xfrm>
          <a:prstGeom prst="line">
            <a:avLst/>
          </a:prstGeom>
          <a:noFill/>
          <a:ln w="15240">
            <a:solidFill>
              <a:srgbClr val="1677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737360"/>
            <a:ext cx="493776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E9488"/>
                </a:solidFill>
              </a:rPr>
              <a:t>Byzantine Fault Tolerance (BFT)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2103120"/>
            <a:ext cx="493776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2033"/>
                </a:solidFill>
              </a:rPr>
              <a:t>Tolera nodos que mienten, envían mensajes inconsistentes o intentan corromper el acuerdo. Regla clásica: n &gt;= 3f + 1.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0" y="2066544"/>
            <a:ext cx="4937760" cy="0"/>
          </a:xfrm>
          <a:prstGeom prst="line">
            <a:avLst/>
          </a:prstGeom>
          <a:noFill/>
          <a:ln w="15240">
            <a:solidFill>
              <a:srgbClr val="0E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17320" y="4343400"/>
            <a:ext cx="9235440" cy="640080"/>
          </a:xfrm>
          <a:prstGeom prst="rect">
            <a:avLst/>
          </a:prstGeom>
          <a:solidFill>
            <a:srgbClr val="FCE8D2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02033"/>
                </a:solidFill>
              </a:rPr>
              <a:t>Pregunta de diseño: ¿qué clase de adversario existe y cuántos nodos puede controlar?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Red y consenso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475720" y="16459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A"/>
                </a:solidFill>
              </a:rPr>
              <a:t>24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Proof of Work como mecanismo de ordenamiento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960120"/>
            <a:ext cx="108813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B677A"/>
                </a:solidFill>
              </a:rPr>
              <a:t>Se estudia como patrón de consenso, no como producto financiero.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11155680" cy="0"/>
          </a:xfrm>
          <a:prstGeom prst="line">
            <a:avLst/>
          </a:prstGeom>
          <a:noFill/>
          <a:ln w="6350">
            <a:solidFill>
              <a:srgbClr val="B8C4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828800"/>
            <a:ext cx="2011680" cy="530352"/>
          </a:xfrm>
          <a:prstGeom prst="rect">
            <a:avLst/>
          </a:prstGeom>
          <a:solidFill>
            <a:srgbClr val="1677B8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Propuesta de bloque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0" y="1700784"/>
            <a:ext cx="2331720" cy="777240"/>
          </a:xfrm>
          <a:prstGeom prst="rect">
            <a:avLst/>
          </a:prstGeom>
          <a:solidFill>
            <a:srgbClr val="C76B12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Búsqueda de nonce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trabajo costoso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720840" y="1700784"/>
            <a:ext cx="2331720" cy="777240"/>
          </a:xfrm>
          <a:prstGeom prst="rect">
            <a:avLst/>
          </a:prstGeom>
          <a:solidFill>
            <a:srgbClr val="0E9488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Verificación barata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por otros nodos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738360" y="1700784"/>
            <a:ext cx="1828800" cy="777240"/>
          </a:xfrm>
          <a:prstGeom prst="rect">
            <a:avLst/>
          </a:prstGeom>
          <a:solidFill>
            <a:srgbClr val="0B1F3A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Bloque aceptado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si cumple reglas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880360" y="2084832"/>
            <a:ext cx="685800" cy="0"/>
          </a:xfrm>
          <a:prstGeom prst="line">
            <a:avLst/>
          </a:prstGeom>
          <a:noFill/>
          <a:ln w="19050">
            <a:solidFill>
              <a:srgbClr val="B8C4D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989320" y="2084832"/>
            <a:ext cx="685800" cy="0"/>
          </a:xfrm>
          <a:prstGeom prst="line">
            <a:avLst/>
          </a:prstGeom>
          <a:noFill/>
          <a:ln w="19050">
            <a:solidFill>
              <a:srgbClr val="B8C4D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052560" y="2084832"/>
            <a:ext cx="685800" cy="0"/>
          </a:xfrm>
          <a:prstGeom prst="line">
            <a:avLst/>
          </a:prstGeom>
          <a:noFill/>
          <a:ln w="19050">
            <a:solidFill>
              <a:srgbClr val="B8C4D2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914400" y="3840480"/>
            <a:ext cx="10515600" cy="123444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r>
              <a:rPr lang="en-US" sz="1500" dirty="0">
                <a:solidFill>
                  <a:srgbClr val="102033"/>
                </a:solidFill>
              </a:rPr>
              <a:t>Ventaja: hace costoso reescribir el historial aceptado.</a:t>
            </a:r>
            <a:endParaRPr lang="en-US" sz="1500" dirty="0"/>
          </a:p>
          <a:p>
            <a:r>
              <a:rPr lang="en-US" sz="1500" dirty="0">
                <a:solidFill>
                  <a:srgbClr val="102033"/>
                </a:solidFill>
              </a:rPr>
              <a:t>Costo: consumo computacional, latencia y baja eficiencia energética.</a:t>
            </a:r>
            <a:endParaRPr lang="en-US" sz="1500" dirty="0"/>
          </a:p>
          <a:p>
            <a:r>
              <a:rPr lang="en-US" sz="1500" dirty="0">
                <a:solidFill>
                  <a:srgbClr val="102033"/>
                </a:solidFill>
              </a:rPr>
              <a:t>Adecuado cuando no hay confianza previa entre validadores y se aceptan esos costos.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30352" y="6528816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D8794"/>
                </a:solidFill>
              </a:rPr>
              <a:t>Base: EUBOF, p. 12; Mathur, “Proof of work”.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Red y consenso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475720" y="16459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A"/>
                </a:solidFill>
              </a:rPr>
              <a:t>25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Familias de consenso: comparación técnica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960120"/>
            <a:ext cx="108813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B677A"/>
                </a:solidFill>
              </a:rPr>
              <a:t>La elección de consenso es una decisión de ingeniería, no una preferencia estética.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11155680" cy="0"/>
          </a:xfrm>
          <a:prstGeom prst="line">
            <a:avLst/>
          </a:prstGeom>
          <a:noFill/>
          <a:ln w="6350">
            <a:solidFill>
              <a:srgbClr val="B8C4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00200"/>
            <a:ext cx="1600200" cy="347472"/>
          </a:xfrm>
          <a:prstGeom prst="rect">
            <a:avLst/>
          </a:prstGeom>
          <a:solidFill>
            <a:srgbClr val="0B1F3A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Mecanismo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377440" y="1600200"/>
            <a:ext cx="1965960" cy="347472"/>
          </a:xfrm>
          <a:prstGeom prst="rect">
            <a:avLst/>
          </a:prstGeom>
          <a:solidFill>
            <a:srgbClr val="0B1F3A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Contexto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0" y="1600200"/>
            <a:ext cx="1645920" cy="347472"/>
          </a:xfrm>
          <a:prstGeom prst="rect">
            <a:avLst/>
          </a:prstGeom>
          <a:solidFill>
            <a:srgbClr val="0B1F3A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Costo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46520" y="1600200"/>
            <a:ext cx="1783080" cy="347472"/>
          </a:xfrm>
          <a:prstGeom prst="rect">
            <a:avLst/>
          </a:prstGeom>
          <a:solidFill>
            <a:srgbClr val="0B1F3A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Finalidad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412480" y="1600200"/>
            <a:ext cx="1463040" cy="347472"/>
          </a:xfrm>
          <a:prstGeom prst="rect">
            <a:avLst/>
          </a:prstGeom>
          <a:solidFill>
            <a:srgbClr val="0B1F3A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Riesgo clave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2011680"/>
            <a:ext cx="1600200" cy="420624"/>
          </a:xfrm>
          <a:prstGeom prst="rect">
            <a:avLst/>
          </a:prstGeom>
          <a:solidFill>
            <a:srgbClr val="EDF2F7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033"/>
                </a:solidFill>
              </a:rPr>
              <a:t>PoW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377440" y="2011680"/>
            <a:ext cx="1965960" cy="420624"/>
          </a:xfrm>
          <a:prstGeom prst="rect">
            <a:avLst/>
          </a:prstGeom>
          <a:solidFill>
            <a:srgbClr val="EDF2F7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02033"/>
                </a:solidFill>
              </a:rPr>
              <a:t>abierta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0" y="2011680"/>
            <a:ext cx="1645920" cy="420624"/>
          </a:xfrm>
          <a:prstGeom prst="rect">
            <a:avLst/>
          </a:prstGeom>
          <a:solidFill>
            <a:srgbClr val="EDF2F7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02033"/>
                </a:solidFill>
              </a:rPr>
              <a:t>muy alto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46520" y="2011680"/>
            <a:ext cx="1783080" cy="420624"/>
          </a:xfrm>
          <a:prstGeom prst="rect">
            <a:avLst/>
          </a:prstGeom>
          <a:solidFill>
            <a:srgbClr val="EDF2F7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02033"/>
                </a:solidFill>
              </a:rPr>
              <a:t>probabilística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412480" y="2011680"/>
            <a:ext cx="1463040" cy="420624"/>
          </a:xfrm>
          <a:prstGeom prst="rect">
            <a:avLst/>
          </a:prstGeom>
          <a:solidFill>
            <a:srgbClr val="EDF2F7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02033"/>
                </a:solidFill>
              </a:rPr>
              <a:t>baja eficiencia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94360" y="2670048"/>
            <a:ext cx="1600200" cy="420624"/>
          </a:xfrm>
          <a:prstGeom prst="rect">
            <a:avLst/>
          </a:prstGeom>
          <a:solidFill>
            <a:srgbClr val="FFFFFF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033"/>
                </a:solidFill>
              </a:rPr>
              <a:t>PoS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377440" y="2670048"/>
            <a:ext cx="1965960" cy="420624"/>
          </a:xfrm>
          <a:prstGeom prst="rect">
            <a:avLst/>
          </a:prstGeom>
          <a:solidFill>
            <a:srgbClr val="FFFFFF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02033"/>
                </a:solidFill>
              </a:rPr>
              <a:t>abierta/controlada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0" y="2670048"/>
            <a:ext cx="1645920" cy="420624"/>
          </a:xfrm>
          <a:prstGeom prst="rect">
            <a:avLst/>
          </a:prstGeom>
          <a:solidFill>
            <a:srgbClr val="FFFFFF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02033"/>
                </a:solidFill>
              </a:rPr>
              <a:t>medio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446520" y="2670048"/>
            <a:ext cx="1783080" cy="420624"/>
          </a:xfrm>
          <a:prstGeom prst="rect">
            <a:avLst/>
          </a:prstGeom>
          <a:solidFill>
            <a:srgbClr val="FFFFFF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02033"/>
                </a:solidFill>
              </a:rPr>
              <a:t>probabilística o económica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412480" y="2670048"/>
            <a:ext cx="1463040" cy="420624"/>
          </a:xfrm>
          <a:prstGeom prst="rect">
            <a:avLst/>
          </a:prstGeom>
          <a:solidFill>
            <a:srgbClr val="FFFFFF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02033"/>
                </a:solidFill>
              </a:rPr>
              <a:t>depende de gobernanza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94360" y="3328416"/>
            <a:ext cx="1600200" cy="420624"/>
          </a:xfrm>
          <a:prstGeom prst="rect">
            <a:avLst/>
          </a:prstGeom>
          <a:solidFill>
            <a:srgbClr val="EDF2F7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033"/>
                </a:solidFill>
              </a:rPr>
              <a:t>PoA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377440" y="3328416"/>
            <a:ext cx="1965960" cy="420624"/>
          </a:xfrm>
          <a:prstGeom prst="rect">
            <a:avLst/>
          </a:prstGeom>
          <a:solidFill>
            <a:srgbClr val="EDF2F7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02033"/>
                </a:solidFill>
              </a:rPr>
              <a:t>validadores aprobados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0" y="3328416"/>
            <a:ext cx="1645920" cy="420624"/>
          </a:xfrm>
          <a:prstGeom prst="rect">
            <a:avLst/>
          </a:prstGeom>
          <a:solidFill>
            <a:srgbClr val="EDF2F7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02033"/>
                </a:solidFill>
              </a:rPr>
              <a:t>bajo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446520" y="3328416"/>
            <a:ext cx="1783080" cy="420624"/>
          </a:xfrm>
          <a:prstGeom prst="rect">
            <a:avLst/>
          </a:prstGeom>
          <a:solidFill>
            <a:srgbClr val="EDF2F7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02033"/>
                </a:solidFill>
              </a:rPr>
              <a:t>rápida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412480" y="3328416"/>
            <a:ext cx="1463040" cy="420624"/>
          </a:xfrm>
          <a:prstGeom prst="rect">
            <a:avLst/>
          </a:prstGeom>
          <a:solidFill>
            <a:srgbClr val="EDF2F7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02033"/>
                </a:solidFill>
              </a:rPr>
              <a:t>menor descentralización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94360" y="3986784"/>
            <a:ext cx="1600200" cy="420624"/>
          </a:xfrm>
          <a:prstGeom prst="rect">
            <a:avLst/>
          </a:prstGeom>
          <a:solidFill>
            <a:srgbClr val="FFFFFF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033"/>
                </a:solidFill>
              </a:rPr>
              <a:t>PBFT/BFT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377440" y="3986784"/>
            <a:ext cx="1965960" cy="420624"/>
          </a:xfrm>
          <a:prstGeom prst="rect">
            <a:avLst/>
          </a:prstGeom>
          <a:solidFill>
            <a:srgbClr val="FFFFFF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02033"/>
                </a:solidFill>
              </a:rPr>
              <a:t>consorcio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0" y="3986784"/>
            <a:ext cx="1645920" cy="420624"/>
          </a:xfrm>
          <a:prstGeom prst="rect">
            <a:avLst/>
          </a:prstGeom>
          <a:solidFill>
            <a:srgbClr val="FFFFFF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02033"/>
                </a:solidFill>
              </a:rPr>
              <a:t>medio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446520" y="3986784"/>
            <a:ext cx="1783080" cy="420624"/>
          </a:xfrm>
          <a:prstGeom prst="rect">
            <a:avLst/>
          </a:prstGeom>
          <a:solidFill>
            <a:srgbClr val="FFFFFF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02033"/>
                </a:solidFill>
              </a:rPr>
              <a:t>determinística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412480" y="3986784"/>
            <a:ext cx="1463040" cy="420624"/>
          </a:xfrm>
          <a:prstGeom prst="rect">
            <a:avLst/>
          </a:prstGeom>
          <a:solidFill>
            <a:srgbClr val="FFFFFF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02033"/>
                </a:solidFill>
              </a:rPr>
              <a:t>escala limitada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94360" y="4645152"/>
            <a:ext cx="1600200" cy="420624"/>
          </a:xfrm>
          <a:prstGeom prst="rect">
            <a:avLst/>
          </a:prstGeom>
          <a:solidFill>
            <a:srgbClr val="EDF2F7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033"/>
                </a:solidFill>
              </a:rPr>
              <a:t>Raft/Paxos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377440" y="4645152"/>
            <a:ext cx="1965960" cy="420624"/>
          </a:xfrm>
          <a:prstGeom prst="rect">
            <a:avLst/>
          </a:prstGeom>
          <a:solidFill>
            <a:srgbClr val="EDF2F7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02033"/>
                </a:solidFill>
              </a:rPr>
              <a:t>permissioned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572000" y="4645152"/>
            <a:ext cx="1645920" cy="420624"/>
          </a:xfrm>
          <a:prstGeom prst="rect">
            <a:avLst/>
          </a:prstGeom>
          <a:solidFill>
            <a:srgbClr val="EDF2F7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02033"/>
                </a:solidFill>
              </a:rPr>
              <a:t>bajo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446520" y="4645152"/>
            <a:ext cx="1783080" cy="420624"/>
          </a:xfrm>
          <a:prstGeom prst="rect">
            <a:avLst/>
          </a:prstGeom>
          <a:solidFill>
            <a:srgbClr val="EDF2F7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02033"/>
                </a:solidFill>
              </a:rPr>
              <a:t>determinística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412480" y="4645152"/>
            <a:ext cx="1463040" cy="420624"/>
          </a:xfrm>
          <a:prstGeom prst="rect">
            <a:avLst/>
          </a:prstGeom>
          <a:solidFill>
            <a:srgbClr val="EDF2F7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02033"/>
                </a:solidFill>
              </a:rPr>
              <a:t>no tolera Byzantine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30352" y="6528816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D8794"/>
                </a:solidFill>
              </a:rPr>
              <a:t>Base: EUBOF, p. 12; Mathur, “Other Consensus Algorithm”; Liao, diap. 10.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Red y consenso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475720" y="16459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A"/>
                </a:solidFill>
              </a:rPr>
              <a:t>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Finalidad: probabilística vs determinística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960120"/>
            <a:ext cx="108813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B677A"/>
                </a:solidFill>
              </a:rPr>
              <a:t>“Confirmado” puede significar cosas distintas según el protocolo.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11155680" cy="0"/>
          </a:xfrm>
          <a:prstGeom prst="line">
            <a:avLst/>
          </a:prstGeom>
          <a:noFill/>
          <a:ln w="6350">
            <a:solidFill>
              <a:srgbClr val="B8C4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737360"/>
            <a:ext cx="4480560" cy="502920"/>
          </a:xfrm>
          <a:prstGeom prst="rect">
            <a:avLst/>
          </a:prstGeom>
          <a:solidFill>
            <a:srgbClr val="1677B8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Finalidad probabilística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2423160"/>
            <a:ext cx="4206240" cy="18288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r>
              <a:rPr lang="en-US" sz="1400" dirty="0">
                <a:solidFill>
                  <a:srgbClr val="102033"/>
                </a:solidFill>
              </a:rPr>
              <a:t>La confianza aumenta con bloques o rondas posteriores.</a:t>
            </a:r>
            <a:endParaRPr lang="en-US" sz="1400" dirty="0"/>
          </a:p>
          <a:p>
            <a:r>
              <a:rPr lang="en-US" sz="1400" dirty="0">
                <a:solidFill>
                  <a:srgbClr val="102033"/>
                </a:solidFill>
              </a:rPr>
              <a:t>Puede existir reorganización del historial reciente.</a:t>
            </a:r>
            <a:endParaRPr lang="en-US" sz="1400" dirty="0"/>
          </a:p>
          <a:p>
            <a:r>
              <a:rPr lang="en-US" sz="1400" dirty="0">
                <a:solidFill>
                  <a:srgbClr val="102033"/>
                </a:solidFill>
              </a:rPr>
              <a:t>La seguridad depende de supuestos económicos, red y adversario.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92240" y="1737360"/>
            <a:ext cx="4480560" cy="502920"/>
          </a:xfrm>
          <a:prstGeom prst="rect">
            <a:avLst/>
          </a:prstGeom>
          <a:solidFill>
            <a:srgbClr val="0E9488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Finalidad determinística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29400" y="2423160"/>
            <a:ext cx="4206240" cy="18288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r>
              <a:rPr lang="en-US" sz="1400" dirty="0">
                <a:solidFill>
                  <a:srgbClr val="102033"/>
                </a:solidFill>
              </a:rPr>
              <a:t>Una vez decidido, el bloque no debe revertirse bajo el modelo de fallas.</a:t>
            </a:r>
            <a:endParaRPr lang="en-US" sz="1400" dirty="0"/>
          </a:p>
          <a:p>
            <a:r>
              <a:rPr lang="en-US" sz="1400" dirty="0">
                <a:solidFill>
                  <a:srgbClr val="102033"/>
                </a:solidFill>
              </a:rPr>
              <a:t>Común en BFT y sistemas permissioned.</a:t>
            </a:r>
            <a:endParaRPr lang="en-US" sz="1400" dirty="0"/>
          </a:p>
          <a:p>
            <a:r>
              <a:rPr lang="en-US" sz="1400" dirty="0">
                <a:solidFill>
                  <a:srgbClr val="102033"/>
                </a:solidFill>
              </a:rPr>
              <a:t>Requiere membresía y comunicación más controladas.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4008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A4F3"/>
                </a:solidFill>
              </a:rPr>
              <a:t>4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146304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Tipos, permisos y gobernanza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13232" y="224028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9E8F5"/>
                </a:solidFill>
              </a:rPr>
              <a:t>La pregunta no es “pública o privada”; la pregunta es quién puede leer, escribir, validar y modificar reglas.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Tipos y gobernanza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475720" y="16459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A"/>
                </a:solidFill>
              </a:rPr>
              <a:t>28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Dimensiones de diseño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960120"/>
            <a:ext cx="108813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B677A"/>
                </a:solidFill>
              </a:rPr>
              <a:t>Los tipos de blockchain mezclan cuatro decisiones independientes.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11155680" cy="0"/>
          </a:xfrm>
          <a:prstGeom prst="line">
            <a:avLst/>
          </a:prstGeom>
          <a:noFill/>
          <a:ln w="6350">
            <a:solidFill>
              <a:srgbClr val="B8C4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691640"/>
            <a:ext cx="2103120" cy="420624"/>
          </a:xfrm>
          <a:prstGeom prst="rect">
            <a:avLst/>
          </a:prstGeom>
          <a:solidFill>
            <a:srgbClr val="1677B8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Lectura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91840" y="1691640"/>
            <a:ext cx="7223760" cy="420624"/>
          </a:xfrm>
          <a:prstGeom prst="rect">
            <a:avLst/>
          </a:prstGeom>
          <a:solidFill>
            <a:srgbClr val="FFFFFF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02033"/>
                </a:solidFill>
              </a:rPr>
              <a:t>¿quién puede observar datos o metadatos?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743200"/>
            <a:ext cx="2103120" cy="420624"/>
          </a:xfrm>
          <a:prstGeom prst="rect">
            <a:avLst/>
          </a:prstGeom>
          <a:solidFill>
            <a:srgbClr val="0E9488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Escritura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91840" y="2743200"/>
            <a:ext cx="7223760" cy="420624"/>
          </a:xfrm>
          <a:prstGeom prst="rect">
            <a:avLst/>
          </a:prstGeom>
          <a:solidFill>
            <a:srgbClr val="FFFFFF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02033"/>
                </a:solidFill>
              </a:rPr>
              <a:t>¿quién puede enviar operaciones?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3794760"/>
            <a:ext cx="2103120" cy="420624"/>
          </a:xfrm>
          <a:prstGeom prst="rect">
            <a:avLst/>
          </a:prstGeom>
          <a:solidFill>
            <a:srgbClr val="1677B8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Validación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91840" y="3794760"/>
            <a:ext cx="7223760" cy="420624"/>
          </a:xfrm>
          <a:prstGeom prst="rect">
            <a:avLst/>
          </a:prstGeom>
          <a:solidFill>
            <a:srgbClr val="FFFFFF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02033"/>
                </a:solidFill>
              </a:rPr>
              <a:t>¿quién puede producir o aceptar bloques?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4846320"/>
            <a:ext cx="2103120" cy="420624"/>
          </a:xfrm>
          <a:prstGeom prst="rect">
            <a:avLst/>
          </a:prstGeom>
          <a:solidFill>
            <a:srgbClr val="0E9488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Gobernanza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91840" y="4846320"/>
            <a:ext cx="7223760" cy="420624"/>
          </a:xfrm>
          <a:prstGeom prst="rect">
            <a:avLst/>
          </a:prstGeom>
          <a:solidFill>
            <a:srgbClr val="FFFFFF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02033"/>
                </a:solidFill>
              </a:rPr>
              <a:t>¿quién cambia reglas, versiones y permisos?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554480" y="5623560"/>
            <a:ext cx="8961120" cy="594360"/>
          </a:xfrm>
          <a:prstGeom prst="rect">
            <a:avLst/>
          </a:prstGeom>
          <a:solidFill>
            <a:srgbClr val="FCE8D2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02033"/>
                </a:solidFill>
              </a:rPr>
              <a:t>No basta decir “privada”.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02033"/>
                </a:solidFill>
              </a:rPr>
              <a:t>Hay que especificar permisos por capa.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Tipos y gobernanza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475720" y="16459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A"/>
                </a:solidFill>
              </a:rPr>
              <a:t>29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Public, private, consortium, hybrid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960120"/>
            <a:ext cx="108813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B677A"/>
                </a:solidFill>
              </a:rPr>
              <a:t>Clasificación útil, pero insuficiente si no se explicitan permisos.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11155680" cy="0"/>
          </a:xfrm>
          <a:prstGeom prst="line">
            <a:avLst/>
          </a:prstGeom>
          <a:noFill/>
          <a:ln w="6350">
            <a:solidFill>
              <a:srgbClr val="B8C4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91640"/>
            <a:ext cx="4892040" cy="438912"/>
          </a:xfrm>
          <a:prstGeom prst="rect">
            <a:avLst/>
          </a:prstGeom>
          <a:solidFill>
            <a:srgbClr val="1677B8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Pública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4892040" cy="914400"/>
          </a:xfrm>
          <a:prstGeom prst="rect">
            <a:avLst/>
          </a:prstGeom>
          <a:solidFill>
            <a:srgbClr val="FFFFFF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02033"/>
                </a:solidFill>
              </a:rPr>
              <a:t>lectura y participación amplias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02033"/>
                </a:solidFill>
              </a:rPr>
              <a:t>alta apertura, menor control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46520" y="1691640"/>
            <a:ext cx="4892040" cy="438912"/>
          </a:xfrm>
          <a:prstGeom prst="rect">
            <a:avLst/>
          </a:prstGeom>
          <a:solidFill>
            <a:srgbClr val="1677B8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Privada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46520" y="2194560"/>
            <a:ext cx="4892040" cy="914400"/>
          </a:xfrm>
          <a:prstGeom prst="rect">
            <a:avLst/>
          </a:prstGeom>
          <a:solidFill>
            <a:srgbClr val="FFFFFF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02033"/>
                </a:solidFill>
              </a:rPr>
              <a:t>un operador o dominio organizacional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02033"/>
                </a:solidFill>
              </a:rPr>
              <a:t>control, menor descentralización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520440"/>
            <a:ext cx="4892040" cy="438912"/>
          </a:xfrm>
          <a:prstGeom prst="rect">
            <a:avLst/>
          </a:prstGeom>
          <a:solidFill>
            <a:srgbClr val="0E9488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Consorcio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4023360"/>
            <a:ext cx="4892040" cy="914400"/>
          </a:xfrm>
          <a:prstGeom prst="rect">
            <a:avLst/>
          </a:prstGeom>
          <a:solidFill>
            <a:srgbClr val="FFFFFF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02033"/>
                </a:solidFill>
              </a:rPr>
              <a:t>grupo predefinido de entidades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02033"/>
                </a:solidFill>
              </a:rPr>
              <a:t>equilibrio entre control y multi-organización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46520" y="3520440"/>
            <a:ext cx="4892040" cy="438912"/>
          </a:xfrm>
          <a:prstGeom prst="rect">
            <a:avLst/>
          </a:prstGeom>
          <a:solidFill>
            <a:srgbClr val="0E9488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Híbrida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46520" y="4023360"/>
            <a:ext cx="4892040" cy="914400"/>
          </a:xfrm>
          <a:prstGeom prst="rect">
            <a:avLst/>
          </a:prstGeom>
          <a:solidFill>
            <a:srgbClr val="FFFFFF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02033"/>
                </a:solidFill>
              </a:rPr>
              <a:t>componentes públicos y privados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02033"/>
                </a:solidFill>
              </a:rPr>
              <a:t>separa transparencia y confidencialidad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0352" y="6528816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D8794"/>
                </a:solidFill>
              </a:rPr>
              <a:t>Base: Rayenizadeh &amp; Rafsanjani, sec. 1.2.2; EUBOF, pp. 15-16; Liao, diap. 10.</a:t>
            </a:r>
            <a:endParaRPr lang="en-US" sz="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Tipos y gobernanza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475720" y="16459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A"/>
                </a:solidFill>
              </a:rPr>
              <a:t>30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Matriz de permisos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960120"/>
            <a:ext cx="108813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B677A"/>
                </a:solidFill>
              </a:rPr>
              <a:t>Un diseño serio especifica actores y capacidades, no etiquetas vagas.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11155680" cy="0"/>
          </a:xfrm>
          <a:prstGeom prst="line">
            <a:avLst/>
          </a:prstGeom>
          <a:noFill/>
          <a:ln w="6350">
            <a:solidFill>
              <a:srgbClr val="B8C4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00200"/>
            <a:ext cx="1920240" cy="384048"/>
          </a:xfrm>
          <a:prstGeom prst="rect">
            <a:avLst/>
          </a:prstGeom>
          <a:solidFill>
            <a:srgbClr val="0B1F3A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Actor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88920" y="1600200"/>
            <a:ext cx="1143000" cy="384048"/>
          </a:xfrm>
          <a:prstGeom prst="rect">
            <a:avLst/>
          </a:prstGeom>
          <a:solidFill>
            <a:srgbClr val="0B1F3A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Leer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06240" y="1600200"/>
            <a:ext cx="1143000" cy="384048"/>
          </a:xfrm>
          <a:prstGeom prst="rect">
            <a:avLst/>
          </a:prstGeom>
          <a:solidFill>
            <a:srgbClr val="0B1F3A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Enviar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23560" y="1600200"/>
            <a:ext cx="1325880" cy="384048"/>
          </a:xfrm>
          <a:prstGeom prst="rect">
            <a:avLst/>
          </a:prstGeom>
          <a:solidFill>
            <a:srgbClr val="0B1F3A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Validar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223760" y="1600200"/>
            <a:ext cx="1325880" cy="384048"/>
          </a:xfrm>
          <a:prstGeom prst="rect">
            <a:avLst/>
          </a:prstGeom>
          <a:solidFill>
            <a:srgbClr val="0B1F3A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Auditar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778240" y="1600200"/>
            <a:ext cx="1828800" cy="384048"/>
          </a:xfrm>
          <a:prstGeom prst="rect">
            <a:avLst/>
          </a:prstGeom>
          <a:solidFill>
            <a:srgbClr val="0B1F3A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Cambiar reglas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" y="2057400"/>
            <a:ext cx="1920240" cy="402336"/>
          </a:xfrm>
          <a:prstGeom prst="rect">
            <a:avLst/>
          </a:prstGeom>
          <a:solidFill>
            <a:srgbClr val="EDF2F7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033"/>
                </a:solidFill>
              </a:rPr>
              <a:t>Usuario final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788920" y="2057400"/>
            <a:ext cx="1143000" cy="402336"/>
          </a:xfrm>
          <a:prstGeom prst="rect">
            <a:avLst/>
          </a:prstGeom>
          <a:solidFill>
            <a:srgbClr val="EDF2F7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02033"/>
                </a:solidFill>
              </a:rPr>
              <a:t>parcial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206240" y="2057400"/>
            <a:ext cx="1143000" cy="402336"/>
          </a:xfrm>
          <a:prstGeom prst="rect">
            <a:avLst/>
          </a:prstGeom>
          <a:solidFill>
            <a:srgbClr val="EDF2F7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02033"/>
                </a:solidFill>
              </a:rPr>
              <a:t>sí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623560" y="2057400"/>
            <a:ext cx="1325880" cy="402336"/>
          </a:xfrm>
          <a:prstGeom prst="rect">
            <a:avLst/>
          </a:prstGeom>
          <a:solidFill>
            <a:srgbClr val="EDF2F7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02033"/>
                </a:solidFill>
              </a:rPr>
              <a:t>no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223760" y="2057400"/>
            <a:ext cx="1325880" cy="402336"/>
          </a:xfrm>
          <a:prstGeom prst="rect">
            <a:avLst/>
          </a:prstGeom>
          <a:solidFill>
            <a:srgbClr val="EDF2F7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02033"/>
                </a:solidFill>
              </a:rPr>
              <a:t>limitado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778240" y="2057400"/>
            <a:ext cx="1828800" cy="402336"/>
          </a:xfrm>
          <a:prstGeom prst="rect">
            <a:avLst/>
          </a:prstGeom>
          <a:solidFill>
            <a:srgbClr val="EDF2F7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02033"/>
                </a:solidFill>
              </a:rPr>
              <a:t>no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85800" y="2715768"/>
            <a:ext cx="1920240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033"/>
                </a:solidFill>
              </a:rPr>
              <a:t>Operador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788920" y="2715768"/>
            <a:ext cx="1143000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02033"/>
                </a:solidFill>
              </a:rPr>
              <a:t>sí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206240" y="2715768"/>
            <a:ext cx="1143000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02033"/>
                </a:solidFill>
              </a:rPr>
              <a:t>sí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623560" y="2715768"/>
            <a:ext cx="1325880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02033"/>
                </a:solidFill>
              </a:rPr>
              <a:t>sí/no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223760" y="2715768"/>
            <a:ext cx="1325880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02033"/>
                </a:solidFill>
              </a:rPr>
              <a:t>sí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778240" y="2715768"/>
            <a:ext cx="1828800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02033"/>
                </a:solidFill>
              </a:rPr>
              <a:t>proponer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85800" y="3374136"/>
            <a:ext cx="1920240" cy="402336"/>
          </a:xfrm>
          <a:prstGeom prst="rect">
            <a:avLst/>
          </a:prstGeom>
          <a:solidFill>
            <a:srgbClr val="EDF2F7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033"/>
                </a:solidFill>
              </a:rPr>
              <a:t>Validador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788920" y="3374136"/>
            <a:ext cx="1143000" cy="402336"/>
          </a:xfrm>
          <a:prstGeom prst="rect">
            <a:avLst/>
          </a:prstGeom>
          <a:solidFill>
            <a:srgbClr val="EDF2F7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02033"/>
                </a:solidFill>
              </a:rPr>
              <a:t>sí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206240" y="3374136"/>
            <a:ext cx="1143000" cy="402336"/>
          </a:xfrm>
          <a:prstGeom prst="rect">
            <a:avLst/>
          </a:prstGeom>
          <a:solidFill>
            <a:srgbClr val="EDF2F7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02033"/>
                </a:solidFill>
              </a:rPr>
              <a:t>sí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623560" y="3374136"/>
            <a:ext cx="1325880" cy="402336"/>
          </a:xfrm>
          <a:prstGeom prst="rect">
            <a:avLst/>
          </a:prstGeom>
          <a:solidFill>
            <a:srgbClr val="EDF2F7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02033"/>
                </a:solidFill>
              </a:rPr>
              <a:t>sí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223760" y="3374136"/>
            <a:ext cx="1325880" cy="402336"/>
          </a:xfrm>
          <a:prstGeom prst="rect">
            <a:avLst/>
          </a:prstGeom>
          <a:solidFill>
            <a:srgbClr val="EDF2F7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02033"/>
                </a:solidFill>
              </a:rPr>
              <a:t>sí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778240" y="3374136"/>
            <a:ext cx="1828800" cy="402336"/>
          </a:xfrm>
          <a:prstGeom prst="rect">
            <a:avLst/>
          </a:prstGeom>
          <a:solidFill>
            <a:srgbClr val="EDF2F7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02033"/>
                </a:solidFill>
              </a:rPr>
              <a:t>votar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85800" y="4032504"/>
            <a:ext cx="1920240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033"/>
                </a:solidFill>
              </a:rPr>
              <a:t>Auditor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788920" y="4032504"/>
            <a:ext cx="1143000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02033"/>
                </a:solidFill>
              </a:rPr>
              <a:t>sí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206240" y="4032504"/>
            <a:ext cx="1143000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02033"/>
                </a:solidFill>
              </a:rPr>
              <a:t>no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623560" y="4032504"/>
            <a:ext cx="1325880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02033"/>
                </a:solidFill>
              </a:rPr>
              <a:t>no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223760" y="4032504"/>
            <a:ext cx="1325880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02033"/>
                </a:solidFill>
              </a:rPr>
              <a:t>sí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778240" y="4032504"/>
            <a:ext cx="1828800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02033"/>
                </a:solidFill>
              </a:rPr>
              <a:t>no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85800" y="4690872"/>
            <a:ext cx="1920240" cy="402336"/>
          </a:xfrm>
          <a:prstGeom prst="rect">
            <a:avLst/>
          </a:prstGeom>
          <a:solidFill>
            <a:srgbClr val="EDF2F7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033"/>
                </a:solidFill>
              </a:rPr>
              <a:t>Regulador/comité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788920" y="4690872"/>
            <a:ext cx="1143000" cy="402336"/>
          </a:xfrm>
          <a:prstGeom prst="rect">
            <a:avLst/>
          </a:prstGeom>
          <a:solidFill>
            <a:srgbClr val="EDF2F7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02033"/>
                </a:solidFill>
              </a:rPr>
              <a:t>según caso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206240" y="4690872"/>
            <a:ext cx="1143000" cy="402336"/>
          </a:xfrm>
          <a:prstGeom prst="rect">
            <a:avLst/>
          </a:prstGeom>
          <a:solidFill>
            <a:srgbClr val="EDF2F7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02033"/>
                </a:solidFill>
              </a:rPr>
              <a:t>no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623560" y="4690872"/>
            <a:ext cx="1325880" cy="402336"/>
          </a:xfrm>
          <a:prstGeom prst="rect">
            <a:avLst/>
          </a:prstGeom>
          <a:solidFill>
            <a:srgbClr val="EDF2F7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02033"/>
                </a:solidFill>
              </a:rPr>
              <a:t>no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223760" y="4690872"/>
            <a:ext cx="1325880" cy="402336"/>
          </a:xfrm>
          <a:prstGeom prst="rect">
            <a:avLst/>
          </a:prstGeom>
          <a:solidFill>
            <a:srgbClr val="EDF2F7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02033"/>
                </a:solidFill>
              </a:rPr>
              <a:t>sí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8778240" y="4690872"/>
            <a:ext cx="1828800" cy="402336"/>
          </a:xfrm>
          <a:prstGeom prst="rect">
            <a:avLst/>
          </a:prstGeom>
          <a:solidFill>
            <a:srgbClr val="EDF2F7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02033"/>
                </a:solidFill>
              </a:rPr>
              <a:t>aprobar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Tipos y gobernanza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475720" y="16459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A"/>
                </a:solidFill>
              </a:rPr>
              <a:t>31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Gobernanza: la parte menos automática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960120"/>
            <a:ext cx="108813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B677A"/>
                </a:solidFill>
              </a:rPr>
              <a:t>La cadena aplica reglas; no decide si las reglas son correctas.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11155680" cy="0"/>
          </a:xfrm>
          <a:prstGeom prst="line">
            <a:avLst/>
          </a:prstGeom>
          <a:noFill/>
          <a:ln w="6350">
            <a:solidFill>
              <a:srgbClr val="B8C4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91640"/>
            <a:ext cx="5212080" cy="32004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r>
              <a:rPr lang="en-US" sz="1500" dirty="0">
                <a:solidFill>
                  <a:srgbClr val="102033"/>
                </a:solidFill>
              </a:rPr>
              <a:t>Onboarding/offboarding de participantes.</a:t>
            </a:r>
            <a:endParaRPr lang="en-US" sz="1500" dirty="0"/>
          </a:p>
          <a:p>
            <a:r>
              <a:rPr lang="en-US" sz="1500" dirty="0">
                <a:solidFill>
                  <a:srgbClr val="102033"/>
                </a:solidFill>
              </a:rPr>
              <a:t>Política de actualización de protocolo y contratos.</a:t>
            </a:r>
            <a:endParaRPr lang="en-US" sz="1500" dirty="0"/>
          </a:p>
          <a:p>
            <a:r>
              <a:rPr lang="en-US" sz="1500" dirty="0">
                <a:solidFill>
                  <a:srgbClr val="102033"/>
                </a:solidFill>
              </a:rPr>
              <a:t>Gestión de incidentes, claves comprometidas y datos erróneos.</a:t>
            </a:r>
            <a:endParaRPr lang="en-US" sz="1500" dirty="0"/>
          </a:p>
          <a:p>
            <a:r>
              <a:rPr lang="en-US" sz="1500" dirty="0">
                <a:solidFill>
                  <a:srgbClr val="102033"/>
                </a:solidFill>
              </a:rPr>
              <a:t>Definición de responsabilidad legal y operativa.</a:t>
            </a:r>
            <a:endParaRPr lang="en-US" sz="1500" dirty="0"/>
          </a:p>
          <a:p>
            <a:r>
              <a:rPr lang="en-US" sz="1500" dirty="0">
                <a:solidFill>
                  <a:srgbClr val="102033"/>
                </a:solidFill>
              </a:rPr>
              <a:t>Resolución de forks, versiones incompatibles y cambios de membresía.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720840" y="1828800"/>
            <a:ext cx="1463040" cy="457200"/>
          </a:xfrm>
          <a:prstGeom prst="rect">
            <a:avLst/>
          </a:prstGeom>
          <a:solidFill>
            <a:srgbClr val="B23B3B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Riesgo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0" y="2606040"/>
            <a:ext cx="4526280" cy="1280160"/>
          </a:xfrm>
          <a:prstGeom prst="rect">
            <a:avLst/>
          </a:prstGeom>
          <a:solidFill>
            <a:srgbClr val="F5DCDC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02033"/>
                </a:solidFill>
              </a:rPr>
              <a:t>Un sistema técnicamente descentralizado puede estar gobernado de forma centralizada y opaca.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0352" y="6528816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D8794"/>
                </a:solidFill>
              </a:rPr>
              <a:t>Base: Rayenizadeh &amp; Rafsanjani, sec. 1.5; EUBOF, p. 26.</a:t>
            </a:r>
            <a:endParaRPr lang="en-US" sz="7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Tipos y gobernanza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475720" y="16459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A"/>
                </a:solidFill>
              </a:rPr>
              <a:t>32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Smart contracts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960120"/>
            <a:ext cx="108813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B677A"/>
                </a:solidFill>
              </a:rPr>
              <a:t>Son programas determinísticos que ejecutan reglas de negocio dentro del entorno del ledger.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11155680" cy="0"/>
          </a:xfrm>
          <a:prstGeom prst="line">
            <a:avLst/>
          </a:prstGeom>
          <a:noFill/>
          <a:ln w="6350">
            <a:solidFill>
              <a:srgbClr val="B8C4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11680"/>
            <a:ext cx="2194560" cy="640080"/>
          </a:xfrm>
          <a:prstGeom prst="rect">
            <a:avLst/>
          </a:prstGeom>
          <a:solidFill>
            <a:srgbClr val="1677B8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Evento / transacción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86200" y="1737360"/>
            <a:ext cx="2743200" cy="1188720"/>
          </a:xfrm>
          <a:prstGeom prst="rect">
            <a:avLst/>
          </a:prstGeom>
          <a:solidFill>
            <a:srgbClr val="0E9488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Contrato inteligente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reglas + estado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589520" y="2011680"/>
            <a:ext cx="2560320" cy="640080"/>
          </a:xfrm>
          <a:prstGeom prst="rect">
            <a:avLst/>
          </a:prstGeom>
          <a:solidFill>
            <a:srgbClr val="0B1F3A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Nuevo estado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y evidencia auditada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063240" y="2331720"/>
            <a:ext cx="822960" cy="0"/>
          </a:xfrm>
          <a:prstGeom prst="line">
            <a:avLst/>
          </a:prstGeom>
          <a:noFill/>
          <a:ln w="19050">
            <a:solidFill>
              <a:srgbClr val="B8C4D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629400" y="2331720"/>
            <a:ext cx="960120" cy="0"/>
          </a:xfrm>
          <a:prstGeom prst="line">
            <a:avLst/>
          </a:prstGeom>
          <a:noFill/>
          <a:ln w="19050">
            <a:solidFill>
              <a:srgbClr val="B8C4D2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960120" y="4160520"/>
            <a:ext cx="10241280" cy="123444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r>
              <a:rPr lang="en-US" sz="1500" dirty="0">
                <a:solidFill>
                  <a:srgbClr val="102033"/>
                </a:solidFill>
              </a:rPr>
              <a:t>Ventaja: reduce discrecionalidad operacional.</a:t>
            </a:r>
            <a:endParaRPr lang="en-US" sz="1500" dirty="0"/>
          </a:p>
          <a:p>
            <a:r>
              <a:rPr lang="en-US" sz="1500" dirty="0">
                <a:solidFill>
                  <a:srgbClr val="102033"/>
                </a:solidFill>
              </a:rPr>
              <a:t>Riesgo: un error en código puede convertirse en error repetido y difícil de corregir.</a:t>
            </a:r>
            <a:endParaRPr lang="en-US" sz="1500" dirty="0"/>
          </a:p>
          <a:p>
            <a:r>
              <a:rPr lang="en-US" sz="1500" dirty="0">
                <a:solidFill>
                  <a:srgbClr val="102033"/>
                </a:solidFill>
              </a:rPr>
              <a:t>Implicación: testing, auditoría, actualización y control de versiones son parte del diseño.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30352" y="6528816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D8794"/>
                </a:solidFill>
              </a:rPr>
              <a:t>Base: Mathur, “Smart Contracts”; Rayenizadeh &amp; Rafsanjani, sec. 1.2.3.</a:t>
            </a:r>
            <a:endParaRPr lang="en-US" sz="7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4008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A4F3"/>
                </a:solidFill>
              </a:rPr>
              <a:t>5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146304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Seguridad, privacidad y amenazas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13232" y="224028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9E8F5"/>
                </a:solidFill>
              </a:rPr>
              <a:t>La blockchain mejora ciertos servicios de seguridad, pero no elimina amenazas: las desplaza de lugar.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Seguridad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475720" y="16459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A"/>
                </a:solidFill>
              </a:rPr>
              <a:t>34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Servicios de seguridad que puede aportar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960120"/>
            <a:ext cx="108813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B677A"/>
                </a:solidFill>
              </a:rPr>
              <a:t>La contribución real depende de implementación, permisos y modelo de amenazas.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11155680" cy="0"/>
          </a:xfrm>
          <a:prstGeom prst="line">
            <a:avLst/>
          </a:prstGeom>
          <a:noFill/>
          <a:ln w="6350">
            <a:solidFill>
              <a:srgbClr val="B8C4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37360"/>
            <a:ext cx="3154680" cy="402336"/>
          </a:xfrm>
          <a:prstGeom prst="rect">
            <a:avLst/>
          </a:prstGeom>
          <a:solidFill>
            <a:srgbClr val="1677B8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Integridad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212848"/>
            <a:ext cx="3154680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02033"/>
                </a:solidFill>
              </a:rPr>
              <a:t>detectar alteraciones del historial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26280" y="1737360"/>
            <a:ext cx="3154680" cy="402336"/>
          </a:xfrm>
          <a:prstGeom prst="rect">
            <a:avLst/>
          </a:prstGeom>
          <a:solidFill>
            <a:srgbClr val="0E9488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Autenticidad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26280" y="2212848"/>
            <a:ext cx="3154680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02033"/>
                </a:solidFill>
              </a:rPr>
              <a:t>firmas y control de claves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321040" y="1737360"/>
            <a:ext cx="3154680" cy="402336"/>
          </a:xfrm>
          <a:prstGeom prst="rect">
            <a:avLst/>
          </a:prstGeom>
          <a:solidFill>
            <a:srgbClr val="1677B8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No repudio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321040" y="2212848"/>
            <a:ext cx="3154680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02033"/>
                </a:solidFill>
              </a:rPr>
              <a:t>evidencia de emisión bajo una clave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337560"/>
            <a:ext cx="3154680" cy="402336"/>
          </a:xfrm>
          <a:prstGeom prst="rect">
            <a:avLst/>
          </a:prstGeom>
          <a:solidFill>
            <a:srgbClr val="0E9488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Disponibilidad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3813048"/>
            <a:ext cx="3154680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02033"/>
                </a:solidFill>
              </a:rPr>
              <a:t>replicación y ausencia de punto único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26280" y="3337560"/>
            <a:ext cx="3154680" cy="402336"/>
          </a:xfrm>
          <a:prstGeom prst="rect">
            <a:avLst/>
          </a:prstGeom>
          <a:solidFill>
            <a:srgbClr val="1677B8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Auditabilidad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26280" y="3813048"/>
            <a:ext cx="3154680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02033"/>
                </a:solidFill>
              </a:rPr>
              <a:t>historial compartido y trazabilidad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21040" y="3337560"/>
            <a:ext cx="3154680" cy="402336"/>
          </a:xfrm>
          <a:prstGeom prst="rect">
            <a:avLst/>
          </a:prstGeom>
          <a:solidFill>
            <a:srgbClr val="0E9488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Control de acceso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21040" y="3813048"/>
            <a:ext cx="3154680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02033"/>
                </a:solidFill>
              </a:rPr>
              <a:t>permisos por rol o membresía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0352" y="6528816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D8794"/>
                </a:solidFill>
              </a:rPr>
              <a:t>Base: Rayenizadeh &amp; Rafsanjani, sec. 1.4; Mathur, applications/security.</a:t>
            </a:r>
            <a:endParaRPr lang="en-US" sz="7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Seguridad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475720" y="16459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A"/>
                </a:solidFill>
              </a:rPr>
              <a:t>35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Privacidad: transparencia no es confidencialidad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960120"/>
            <a:ext cx="108813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B677A"/>
                </a:solidFill>
              </a:rPr>
              <a:t>Un ledger auditable puede filtrar metadatos aunque el payload esté cifrado.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11155680" cy="0"/>
          </a:xfrm>
          <a:prstGeom prst="line">
            <a:avLst/>
          </a:prstGeom>
          <a:noFill/>
          <a:ln w="6350">
            <a:solidFill>
              <a:srgbClr val="B8C4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828800"/>
            <a:ext cx="2194560" cy="502920"/>
          </a:xfrm>
          <a:prstGeom prst="rect">
            <a:avLst/>
          </a:prstGeom>
          <a:solidFill>
            <a:srgbClr val="1677B8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Datos visibles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2423160"/>
            <a:ext cx="2194560" cy="1554480"/>
          </a:xfrm>
          <a:prstGeom prst="rect">
            <a:avLst/>
          </a:prstGeom>
          <a:solidFill>
            <a:srgbClr val="FFFFFF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02033"/>
                </a:solidFill>
              </a:rPr>
              <a:t>hashes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02033"/>
                </a:solidFill>
              </a:rPr>
              <a:t>firmas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02033"/>
                </a:solidFill>
              </a:rPr>
              <a:t>timestamps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02033"/>
                </a:solidFill>
              </a:rPr>
              <a:t>relaciones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02033"/>
                </a:solidFill>
              </a:rPr>
              <a:t>frecuencias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63440" y="1828800"/>
            <a:ext cx="2194560" cy="502920"/>
          </a:xfrm>
          <a:prstGeom prst="rect">
            <a:avLst/>
          </a:prstGeom>
          <a:solidFill>
            <a:srgbClr val="0E9488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Datos protegidos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423160"/>
            <a:ext cx="2194560" cy="1554480"/>
          </a:xfrm>
          <a:prstGeom prst="rect">
            <a:avLst/>
          </a:prstGeom>
          <a:solidFill>
            <a:srgbClr val="FFFFFF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02033"/>
                </a:solidFill>
              </a:rPr>
              <a:t>payload cifrado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02033"/>
                </a:solidFill>
              </a:rPr>
              <a:t>canales privados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02033"/>
                </a:solidFill>
              </a:rPr>
              <a:t>permisos de lectura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02033"/>
                </a:solidFill>
              </a:rPr>
              <a:t>off-chain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75320" y="1828800"/>
            <a:ext cx="2194560" cy="502920"/>
          </a:xfrm>
          <a:prstGeom prst="rect">
            <a:avLst/>
          </a:prstGeom>
          <a:solidFill>
            <a:srgbClr val="B23B3B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Riesgo residual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75320" y="2423160"/>
            <a:ext cx="2194560" cy="1554480"/>
          </a:xfrm>
          <a:prstGeom prst="rect">
            <a:avLst/>
          </a:prstGeom>
          <a:solidFill>
            <a:srgbClr val="FFFFFF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02033"/>
                </a:solidFill>
              </a:rPr>
              <a:t>correlación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02033"/>
                </a:solidFill>
              </a:rPr>
              <a:t>reidentificación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02033"/>
                </a:solidFill>
              </a:rPr>
              <a:t>filtración por metadatos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02033"/>
                </a:solidFill>
              </a:rPr>
              <a:t>exposición permanente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4983480"/>
            <a:ext cx="9692640" cy="5029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r>
              <a:rPr lang="en-US" sz="1400" dirty="0">
                <a:solidFill>
                  <a:srgbClr val="102033"/>
                </a:solidFill>
              </a:rPr>
              <a:t>Diseño correcto: minimizar datos on-chain y almacenar pruebas, compromisos o referencias cuando sea suficiente.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0352" y="6528816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D8794"/>
                </a:solidFill>
              </a:rPr>
              <a:t>Base: Rayenizadeh &amp; Rafsanjani, sec. 1.5; EUBOF, pp. 11-12.</a:t>
            </a:r>
            <a:endParaRPr lang="en-US" sz="7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Seguridad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475720" y="16459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A"/>
                </a:solidFill>
              </a:rPr>
              <a:t>36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Taxonomía de amenazas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960120"/>
            <a:ext cx="108813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B677A"/>
                </a:solidFill>
              </a:rPr>
              <a:t>La superficie de ataque atraviesa varias capas.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11155680" cy="0"/>
          </a:xfrm>
          <a:prstGeom prst="line">
            <a:avLst/>
          </a:prstGeom>
          <a:noFill/>
          <a:ln w="6350">
            <a:solidFill>
              <a:srgbClr val="B8C4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00200"/>
            <a:ext cx="2743200" cy="411480"/>
          </a:xfrm>
          <a:prstGeom prst="rect">
            <a:avLst/>
          </a:prstGeom>
          <a:solidFill>
            <a:srgbClr val="1677B8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Aplicación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86200" y="1600200"/>
            <a:ext cx="6309360" cy="411480"/>
          </a:xfrm>
          <a:prstGeom prst="rect">
            <a:avLst/>
          </a:prstGeom>
          <a:solidFill>
            <a:srgbClr val="FFFFFF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02033"/>
                </a:solidFill>
              </a:rPr>
              <a:t>bugs, oráculos, integración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313432"/>
            <a:ext cx="2743200" cy="411480"/>
          </a:xfrm>
          <a:prstGeom prst="rect">
            <a:avLst/>
          </a:prstGeom>
          <a:solidFill>
            <a:srgbClr val="0E9488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Identidad y claves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86200" y="2313432"/>
            <a:ext cx="6309360" cy="411480"/>
          </a:xfrm>
          <a:prstGeom prst="rect">
            <a:avLst/>
          </a:prstGeom>
          <a:solidFill>
            <a:srgbClr val="FFFFFF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02033"/>
                </a:solidFill>
              </a:rPr>
              <a:t>robo, pérdida, phishing, custodia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026664"/>
            <a:ext cx="2743200" cy="411480"/>
          </a:xfrm>
          <a:prstGeom prst="rect">
            <a:avLst/>
          </a:prstGeom>
          <a:solidFill>
            <a:srgbClr val="1677B8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Consenso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86200" y="3026664"/>
            <a:ext cx="6309360" cy="411480"/>
          </a:xfrm>
          <a:prstGeom prst="rect">
            <a:avLst/>
          </a:prstGeom>
          <a:solidFill>
            <a:srgbClr val="FFFFFF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02033"/>
                </a:solidFill>
              </a:rPr>
              <a:t>colusión, validadores maliciosos, forks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3739896"/>
            <a:ext cx="2743200" cy="411480"/>
          </a:xfrm>
          <a:prstGeom prst="rect">
            <a:avLst/>
          </a:prstGeom>
          <a:solidFill>
            <a:srgbClr val="0E9488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86200" y="3739896"/>
            <a:ext cx="6309360" cy="411480"/>
          </a:xfrm>
          <a:prstGeom prst="rect">
            <a:avLst/>
          </a:prstGeom>
          <a:solidFill>
            <a:srgbClr val="FFFFFF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02033"/>
                </a:solidFill>
              </a:rPr>
              <a:t>eclipse, particiones, demora de propagación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4453128"/>
            <a:ext cx="2743200" cy="411480"/>
          </a:xfrm>
          <a:prstGeom prst="rect">
            <a:avLst/>
          </a:prstGeom>
          <a:solidFill>
            <a:srgbClr val="1677B8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Criptografía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86200" y="4453128"/>
            <a:ext cx="6309360" cy="411480"/>
          </a:xfrm>
          <a:prstGeom prst="rect">
            <a:avLst/>
          </a:prstGeom>
          <a:solidFill>
            <a:srgbClr val="FFFFFF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02033"/>
                </a:solidFill>
              </a:rPr>
              <a:t>colisiones, algoritmos rotos, quantum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5166360"/>
            <a:ext cx="2743200" cy="411480"/>
          </a:xfrm>
          <a:prstGeom prst="rect">
            <a:avLst/>
          </a:prstGeom>
          <a:solidFill>
            <a:srgbClr val="0E9488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Gobernanza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86200" y="5166360"/>
            <a:ext cx="6309360" cy="411480"/>
          </a:xfrm>
          <a:prstGeom prst="rect">
            <a:avLst/>
          </a:prstGeom>
          <a:solidFill>
            <a:srgbClr val="FFFFFF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02033"/>
                </a:solidFill>
              </a:rPr>
              <a:t>actualizaciones, permisos, respuesta a incidentes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0352" y="6528816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D8794"/>
                </a:solidFill>
              </a:rPr>
              <a:t>Base: Rayenizadeh &amp; Rafsanjani, sec. 1.5.2.</a:t>
            </a:r>
            <a:endParaRPr lang="en-US" sz="7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Seguridad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475720" y="16459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A"/>
                </a:solidFill>
              </a:rPr>
              <a:t>37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Amenazas sobre claves e identidad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960120"/>
            <a:ext cx="108813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B677A"/>
                </a:solidFill>
              </a:rPr>
              <a:t>La seguridad criptográfica falla si falla la operación de claves.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11155680" cy="0"/>
          </a:xfrm>
          <a:prstGeom prst="line">
            <a:avLst/>
          </a:prstGeom>
          <a:noFill/>
          <a:ln w="6350">
            <a:solidFill>
              <a:srgbClr val="B8C4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91640"/>
            <a:ext cx="5486400" cy="27432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r>
              <a:rPr lang="en-US" sz="1500" dirty="0">
                <a:solidFill>
                  <a:srgbClr val="102033"/>
                </a:solidFill>
              </a:rPr>
              <a:t>Compromiso de clave privada: el atacante puede emitir operaciones válidas criptográficamente.</a:t>
            </a:r>
            <a:endParaRPr lang="en-US" sz="1500" dirty="0"/>
          </a:p>
          <a:p>
            <a:r>
              <a:rPr lang="en-US" sz="1500" dirty="0">
                <a:solidFill>
                  <a:srgbClr val="102033"/>
                </a:solidFill>
              </a:rPr>
              <a:t>Pérdida de clave: el sistema puede impedir recuperación si no se diseñó un mecanismo organizacional.</a:t>
            </a:r>
            <a:endParaRPr lang="en-US" sz="1500" dirty="0"/>
          </a:p>
          <a:p>
            <a:r>
              <a:rPr lang="en-US" sz="1500" dirty="0">
                <a:solidFill>
                  <a:srgbClr val="102033"/>
                </a:solidFill>
              </a:rPr>
              <a:t>Suplantación de identidad: la clave no prueba por sí sola autorización institucional.</a:t>
            </a:r>
            <a:endParaRPr lang="en-US" sz="1500" dirty="0"/>
          </a:p>
          <a:p>
            <a:r>
              <a:rPr lang="en-US" sz="1500" dirty="0">
                <a:solidFill>
                  <a:srgbClr val="102033"/>
                </a:solidFill>
              </a:rPr>
              <a:t>Rotación y revocación: deben estar contempladas antes de producción.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995160" y="2011680"/>
            <a:ext cx="3291840" cy="457200"/>
          </a:xfrm>
          <a:prstGeom prst="rect">
            <a:avLst/>
          </a:prstGeom>
          <a:solidFill>
            <a:srgbClr val="0B1F3A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Regla práctica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0" y="2670048"/>
            <a:ext cx="4114800" cy="960120"/>
          </a:xfrm>
          <a:prstGeom prst="rect">
            <a:avLst/>
          </a:prstGeom>
          <a:solidFill>
            <a:srgbClr val="FCE8D2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02033"/>
                </a:solidFill>
              </a:rPr>
              <a:t>Nunca diseñar una blockchain sin política explícita de ciclo de vida de claves.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0352" y="6528816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D8794"/>
                </a:solidFill>
              </a:rPr>
              <a:t>Base: Rayenizadeh &amp; Rafsanjani, sec. 1.5.2; EUBOF, p. 12.</a:t>
            </a:r>
            <a:endParaRPr lang="en-US" sz="7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Seguridad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475720" y="16459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A"/>
                </a:solidFill>
              </a:rPr>
              <a:t>38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Amenazas de red y consenso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960120"/>
            <a:ext cx="108813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B677A"/>
                </a:solidFill>
              </a:rPr>
              <a:t>El adversario puede atacar la comunicación, no solo los datos.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11155680" cy="0"/>
          </a:xfrm>
          <a:prstGeom prst="line">
            <a:avLst/>
          </a:prstGeom>
          <a:noFill/>
          <a:ln w="6350">
            <a:solidFill>
              <a:srgbClr val="B8C4D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80360" y="1837944"/>
            <a:ext cx="1234440" cy="493776"/>
          </a:xfrm>
          <a:prstGeom prst="line">
            <a:avLst/>
          </a:prstGeom>
          <a:noFill/>
          <a:ln w="12700">
            <a:solidFill>
              <a:srgbClr val="B8C4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0" y="2331720"/>
            <a:ext cx="-329184" cy="1097280"/>
          </a:xfrm>
          <a:prstGeom prst="line">
            <a:avLst/>
          </a:prstGeom>
          <a:noFill/>
          <a:ln w="12700">
            <a:solidFill>
              <a:srgbClr val="B8C4D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85616" y="3429000"/>
            <a:ext cx="-1522476" cy="219456"/>
          </a:xfrm>
          <a:prstGeom prst="line">
            <a:avLst/>
          </a:prstGeom>
          <a:noFill/>
          <a:ln w="12700">
            <a:solidFill>
              <a:srgbClr val="B8C4D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63140" y="3648456"/>
            <a:ext cx="-781812" cy="-960120"/>
          </a:xfrm>
          <a:prstGeom prst="line">
            <a:avLst/>
          </a:prstGeom>
          <a:noFill/>
          <a:ln w="12700">
            <a:solidFill>
              <a:srgbClr val="B8C4D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81328" y="2688336"/>
            <a:ext cx="1399032" cy="-850392"/>
          </a:xfrm>
          <a:prstGeom prst="line">
            <a:avLst/>
          </a:prstGeom>
          <a:noFill/>
          <a:ln w="12700">
            <a:solidFill>
              <a:srgbClr val="B8C4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80360" y="1837944"/>
            <a:ext cx="-82296" cy="987552"/>
          </a:xfrm>
          <a:prstGeom prst="line">
            <a:avLst/>
          </a:prstGeom>
          <a:noFill/>
          <a:ln w="12700">
            <a:solidFill>
              <a:srgbClr val="B8C4D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0" y="2331720"/>
            <a:ext cx="-1316736" cy="493776"/>
          </a:xfrm>
          <a:prstGeom prst="line">
            <a:avLst/>
          </a:prstGeom>
          <a:noFill/>
          <a:ln w="12700">
            <a:solidFill>
              <a:srgbClr val="B8C4D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85616" y="3429000"/>
            <a:ext cx="-987552" cy="-603504"/>
          </a:xfrm>
          <a:prstGeom prst="line">
            <a:avLst/>
          </a:prstGeom>
          <a:noFill/>
          <a:ln w="12700">
            <a:solidFill>
              <a:srgbClr val="B8C4D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63140" y="3648456"/>
            <a:ext cx="534924" cy="-822960"/>
          </a:xfrm>
          <a:prstGeom prst="line">
            <a:avLst/>
          </a:prstGeom>
          <a:noFill/>
          <a:ln w="12700">
            <a:solidFill>
              <a:srgbClr val="B8C4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481328" y="2688336"/>
            <a:ext cx="1316736" cy="137160"/>
          </a:xfrm>
          <a:prstGeom prst="line">
            <a:avLst/>
          </a:prstGeom>
          <a:noFill/>
          <a:ln w="12700">
            <a:solidFill>
              <a:srgbClr val="B8C4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79192" y="1636776"/>
            <a:ext cx="402336" cy="402336"/>
          </a:xfrm>
          <a:prstGeom prst="rect">
            <a:avLst/>
          </a:prstGeom>
          <a:solidFill>
            <a:srgbClr val="1677B8"/>
          </a:solidFill>
          <a:ln w="12700">
            <a:solidFill>
              <a:srgbClr val="FFFFFF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913632" y="2130552"/>
            <a:ext cx="402336" cy="402336"/>
          </a:xfrm>
          <a:prstGeom prst="rect">
            <a:avLst/>
          </a:prstGeom>
          <a:solidFill>
            <a:srgbClr val="1677B8"/>
          </a:solidFill>
          <a:ln w="12700">
            <a:solidFill>
              <a:srgbClr val="FFFFFF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584448" y="3227832"/>
            <a:ext cx="402336" cy="402336"/>
          </a:xfrm>
          <a:prstGeom prst="rect">
            <a:avLst/>
          </a:prstGeom>
          <a:solidFill>
            <a:srgbClr val="1677B8"/>
          </a:solidFill>
          <a:ln w="12700">
            <a:solidFill>
              <a:srgbClr val="FFFFFF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061972" y="3447288"/>
            <a:ext cx="402336" cy="402336"/>
          </a:xfrm>
          <a:prstGeom prst="rect">
            <a:avLst/>
          </a:prstGeom>
          <a:solidFill>
            <a:srgbClr val="1677B8"/>
          </a:solidFill>
          <a:ln w="12700">
            <a:solidFill>
              <a:srgbClr val="FFFFFF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280160" y="2487168"/>
            <a:ext cx="402336" cy="402336"/>
          </a:xfrm>
          <a:prstGeom prst="rect">
            <a:avLst/>
          </a:prstGeom>
          <a:solidFill>
            <a:srgbClr val="1677B8"/>
          </a:solidFill>
          <a:ln w="12700">
            <a:solidFill>
              <a:srgbClr val="FFFFFF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596896" y="2624328"/>
            <a:ext cx="402336" cy="402336"/>
          </a:xfrm>
          <a:prstGeom prst="rect">
            <a:avLst/>
          </a:prstGeom>
          <a:solidFill>
            <a:srgbClr val="0E9488"/>
          </a:solidFill>
          <a:ln w="12700">
            <a:solidFill>
              <a:srgbClr val="FFFFFF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965960" y="4572000"/>
            <a:ext cx="1828800" cy="594360"/>
          </a:xfrm>
          <a:prstGeom prst="rect">
            <a:avLst/>
          </a:prstGeom>
          <a:solidFill>
            <a:srgbClr val="F5DCDC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02033"/>
                </a:solidFill>
              </a:rPr>
              <a:t>Nodo aislado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02033"/>
                </a:solidFill>
              </a:rPr>
              <a:t>(eclipse/partición)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89320" y="1691640"/>
            <a:ext cx="4846320" cy="283464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r>
              <a:rPr lang="en-US" sz="1500" dirty="0">
                <a:solidFill>
                  <a:srgbClr val="102033"/>
                </a:solidFill>
              </a:rPr>
              <a:t>Eclipse: un nodo recibe visión sesgada de la red.</a:t>
            </a:r>
            <a:endParaRPr lang="en-US" sz="1500" dirty="0"/>
          </a:p>
          <a:p>
            <a:r>
              <a:rPr lang="en-US" sz="1500" dirty="0">
                <a:solidFill>
                  <a:srgbClr val="102033"/>
                </a:solidFill>
              </a:rPr>
              <a:t>Partición: subconjuntos de red avanzan con información incompleta.</a:t>
            </a:r>
            <a:endParaRPr lang="en-US" sz="1500" dirty="0"/>
          </a:p>
          <a:p>
            <a:r>
              <a:rPr lang="en-US" sz="1500" dirty="0">
                <a:solidFill>
                  <a:srgbClr val="102033"/>
                </a:solidFill>
              </a:rPr>
              <a:t>Colusión: validadores coordinan aceptación de estados inválidos.</a:t>
            </a:r>
            <a:endParaRPr lang="en-US" sz="1500" dirty="0"/>
          </a:p>
          <a:p>
            <a:r>
              <a:rPr lang="en-US" sz="1500" dirty="0">
                <a:solidFill>
                  <a:srgbClr val="102033"/>
                </a:solidFill>
              </a:rPr>
              <a:t>Fork: versiones incompatibles del historial o del protocolo.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30352" y="6528816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D8794"/>
                </a:solidFill>
              </a:rPr>
              <a:t>Base: Rayenizadeh &amp; Rafsanjani, sec. 1.5.1-1.5.2.</a:t>
            </a:r>
            <a:endParaRPr lang="en-US" sz="7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Seguridad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475720" y="16459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A"/>
                </a:solidFill>
              </a:rPr>
              <a:t>39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Aplicaciones: el eslabón débil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960120"/>
            <a:ext cx="108813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B677A"/>
                </a:solidFill>
              </a:rPr>
              <a:t>Integrar blockchain no corrige software defectuoso ni datos de entrada falsos.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11155680" cy="0"/>
          </a:xfrm>
          <a:prstGeom prst="line">
            <a:avLst/>
          </a:prstGeom>
          <a:noFill/>
          <a:ln w="6350">
            <a:solidFill>
              <a:srgbClr val="B8C4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20240"/>
            <a:ext cx="2103120" cy="594360"/>
          </a:xfrm>
          <a:prstGeom prst="rect">
            <a:avLst/>
          </a:prstGeom>
          <a:solidFill>
            <a:srgbClr val="1677B8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Sistema externo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40480" y="1920240"/>
            <a:ext cx="2103120" cy="594360"/>
          </a:xfrm>
          <a:prstGeom prst="rect">
            <a:avLst/>
          </a:prstGeom>
          <a:solidFill>
            <a:srgbClr val="C76B12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API / Oracle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0" y="1920240"/>
            <a:ext cx="2103120" cy="594360"/>
          </a:xfrm>
          <a:prstGeom prst="rect">
            <a:avLst/>
          </a:prstGeom>
          <a:solidFill>
            <a:srgbClr val="0E9488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Blockchain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46920" y="1920240"/>
            <a:ext cx="1828800" cy="594360"/>
          </a:xfrm>
          <a:prstGeom prst="rect">
            <a:avLst/>
          </a:prstGeom>
          <a:solidFill>
            <a:srgbClr val="0B1F3A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Aplicación cliente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926080" y="2221992"/>
            <a:ext cx="868680" cy="0"/>
          </a:xfrm>
          <a:prstGeom prst="line">
            <a:avLst/>
          </a:prstGeom>
          <a:noFill/>
          <a:ln w="19050">
            <a:solidFill>
              <a:srgbClr val="B8C4D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943600" y="2221992"/>
            <a:ext cx="868680" cy="0"/>
          </a:xfrm>
          <a:prstGeom prst="line">
            <a:avLst/>
          </a:prstGeom>
          <a:noFill/>
          <a:ln w="19050">
            <a:solidFill>
              <a:srgbClr val="B8C4D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961120" y="2221992"/>
            <a:ext cx="868680" cy="0"/>
          </a:xfrm>
          <a:prstGeom prst="line">
            <a:avLst/>
          </a:prstGeom>
          <a:noFill/>
          <a:ln w="19050">
            <a:solidFill>
              <a:srgbClr val="B8C4D2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914400" y="4023360"/>
            <a:ext cx="10241280" cy="13716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r>
              <a:rPr lang="en-US" sz="1500" dirty="0">
                <a:solidFill>
                  <a:srgbClr val="102033"/>
                </a:solidFill>
              </a:rPr>
              <a:t>Problema del oracle: si la entrada externa es falsa, el ledger preserva basura con integridad perfecta.</a:t>
            </a:r>
            <a:endParaRPr lang="en-US" sz="1500" dirty="0"/>
          </a:p>
          <a:p>
            <a:r>
              <a:rPr lang="en-US" sz="1500" dirty="0">
                <a:solidFill>
                  <a:srgbClr val="102033"/>
                </a:solidFill>
              </a:rPr>
              <a:t>Terceros: librerías, wallets, APIs, frontends y bridges introducen vulnerabilidades.</a:t>
            </a:r>
            <a:endParaRPr lang="en-US" sz="1500" dirty="0"/>
          </a:p>
          <a:p>
            <a:r>
              <a:rPr lang="en-US" sz="1500" dirty="0">
                <a:solidFill>
                  <a:srgbClr val="102033"/>
                </a:solidFill>
              </a:rPr>
              <a:t>Control: auditoría de código, validación de fuentes, monitoreo y mecanismos de pausa/recuperación.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30352" y="6528816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D8794"/>
                </a:solidFill>
              </a:rPr>
              <a:t>Base: Rayenizadeh &amp; Rafsanjani, sec. 1.5.2.</a:t>
            </a:r>
            <a:endParaRPr lang="en-US" sz="7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4008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A4F3"/>
                </a:solidFill>
              </a:rPr>
              <a:t>6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146304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Escalabilidad e interoperabilidad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13232" y="224028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9E8F5"/>
                </a:solidFill>
              </a:rPr>
              <a:t>Los límites técnicos no son detalles menores: determinan si la arquitectura sirve o no sirve.</a:t>
            </a:r>
            <a:endParaRPr lang="en-US" sz="1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Escalabilidad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475720" y="16459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A"/>
                </a:solidFill>
              </a:rPr>
              <a:t>41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Escalabilidad: cuello de botella estructural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960120"/>
            <a:ext cx="108813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B677A"/>
                </a:solidFill>
              </a:rPr>
              <a:t>Más seguridad, más replicación y más consenso suelen aumentar latencia, comunicación y almacenamiento.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11155680" cy="0"/>
          </a:xfrm>
          <a:prstGeom prst="line">
            <a:avLst/>
          </a:prstGeom>
          <a:noFill/>
          <a:ln w="6350">
            <a:solidFill>
              <a:srgbClr val="B8C4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737360"/>
            <a:ext cx="2286000" cy="548640"/>
          </a:xfrm>
          <a:prstGeom prst="rect">
            <a:avLst/>
          </a:prstGeom>
          <a:solidFill>
            <a:srgbClr val="1677B8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Throughput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92040" y="1737360"/>
            <a:ext cx="2286000" cy="548640"/>
          </a:xfrm>
          <a:prstGeom prst="rect">
            <a:avLst/>
          </a:prstGeom>
          <a:solidFill>
            <a:srgbClr val="0E9488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Latencia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41080" y="1737360"/>
            <a:ext cx="2286000" cy="548640"/>
          </a:xfrm>
          <a:prstGeom prst="rect">
            <a:avLst/>
          </a:prstGeom>
          <a:solidFill>
            <a:srgbClr val="C76B12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Costo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2606040"/>
            <a:ext cx="2011680" cy="100584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r>
              <a:rPr lang="en-US" sz="1300" dirty="0">
                <a:solidFill>
                  <a:srgbClr val="102033"/>
                </a:solidFill>
              </a:rPr>
              <a:t>transacciones/s</a:t>
            </a:r>
            <a:endParaRPr lang="en-US" sz="1300" dirty="0"/>
          </a:p>
          <a:p>
            <a:r>
              <a:rPr lang="en-US" sz="1300" dirty="0">
                <a:solidFill>
                  <a:srgbClr val="102033"/>
                </a:solidFill>
              </a:rPr>
              <a:t>bloques/s</a:t>
            </a:r>
            <a:endParaRPr lang="en-US" sz="1300" dirty="0"/>
          </a:p>
          <a:p>
            <a:r>
              <a:rPr lang="en-US" sz="1300" dirty="0">
                <a:solidFill>
                  <a:srgbClr val="102033"/>
                </a:solidFill>
              </a:rPr>
              <a:t>tamaño de bloque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2606040"/>
            <a:ext cx="2011680" cy="100584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r>
              <a:rPr lang="en-US" sz="1300" dirty="0">
                <a:solidFill>
                  <a:srgbClr val="102033"/>
                </a:solidFill>
              </a:rPr>
              <a:t>tiempo a inclusión</a:t>
            </a:r>
            <a:endParaRPr lang="en-US" sz="1300" dirty="0"/>
          </a:p>
          <a:p>
            <a:r>
              <a:rPr lang="en-US" sz="1300" dirty="0">
                <a:solidFill>
                  <a:srgbClr val="102033"/>
                </a:solidFill>
              </a:rPr>
              <a:t>tiempo a finalidad</a:t>
            </a:r>
            <a:endParaRPr lang="en-US" sz="1300" dirty="0"/>
          </a:p>
          <a:p>
            <a:r>
              <a:rPr lang="en-US" sz="1300" dirty="0">
                <a:solidFill>
                  <a:srgbClr val="102033"/>
                </a:solidFill>
              </a:rPr>
              <a:t>propagación de red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778240" y="2606040"/>
            <a:ext cx="2011680" cy="100584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r>
              <a:rPr lang="en-US" sz="1300" dirty="0">
                <a:solidFill>
                  <a:srgbClr val="102033"/>
                </a:solidFill>
              </a:rPr>
              <a:t>cómputo</a:t>
            </a:r>
            <a:endParaRPr lang="en-US" sz="1300" dirty="0"/>
          </a:p>
          <a:p>
            <a:r>
              <a:rPr lang="en-US" sz="1300" dirty="0">
                <a:solidFill>
                  <a:srgbClr val="102033"/>
                </a:solidFill>
              </a:rPr>
              <a:t>almacenamiento</a:t>
            </a:r>
            <a:endParaRPr lang="en-US" sz="1300" dirty="0"/>
          </a:p>
          <a:p>
            <a:r>
              <a:rPr lang="en-US" sz="1300" dirty="0">
                <a:solidFill>
                  <a:srgbClr val="102033"/>
                </a:solidFill>
              </a:rPr>
              <a:t>mensajería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4937760"/>
            <a:ext cx="9875520" cy="640080"/>
          </a:xfrm>
          <a:prstGeom prst="rect">
            <a:avLst/>
          </a:prstGeom>
          <a:solidFill>
            <a:srgbClr val="FCE8D2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02033"/>
                </a:solidFill>
              </a:rPr>
              <a:t>No se evalúa una blockchain solo por “ser descentralizada”; se evalúa por métricas operativas bajo carga real.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30352" y="6528816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D8794"/>
                </a:solidFill>
              </a:rPr>
              <a:t>Base: Rayenizadeh &amp; Rafsanjani, sec. 1.5.1; EUBOF, p. 27.</a:t>
            </a:r>
            <a:endParaRPr lang="en-US" sz="7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Escalabilidad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475720" y="16459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A"/>
                </a:solidFill>
              </a:rPr>
              <a:t>42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Trade-offs de diseño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960120"/>
            <a:ext cx="108813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B677A"/>
                </a:solidFill>
              </a:rPr>
              <a:t>No existe configuración universalmente superior.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11155680" cy="0"/>
          </a:xfrm>
          <a:prstGeom prst="line">
            <a:avLst/>
          </a:prstGeom>
          <a:noFill/>
          <a:ln w="6350">
            <a:solidFill>
              <a:srgbClr val="B8C4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83480" y="1600200"/>
            <a:ext cx="2194560" cy="502920"/>
          </a:xfrm>
          <a:prstGeom prst="rect">
            <a:avLst/>
          </a:prstGeom>
          <a:solidFill>
            <a:srgbClr val="0B1F3A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Descentralización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4892040"/>
            <a:ext cx="2194560" cy="502920"/>
          </a:xfrm>
          <a:prstGeom prst="rect">
            <a:avLst/>
          </a:prstGeom>
          <a:solidFill>
            <a:srgbClr val="1677B8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Rendimiento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732520" y="4892040"/>
            <a:ext cx="2194560" cy="502920"/>
          </a:xfrm>
          <a:prstGeom prst="rect">
            <a:avLst/>
          </a:prstGeom>
          <a:solidFill>
            <a:srgbClr val="0E9488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Seguridad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80760" y="2103120"/>
            <a:ext cx="-3657600" cy="2651760"/>
          </a:xfrm>
          <a:prstGeom prst="line">
            <a:avLst/>
          </a:prstGeom>
          <a:noFill/>
          <a:ln w="16510">
            <a:solidFill>
              <a:srgbClr val="B8C4D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80760" y="2103120"/>
            <a:ext cx="3657600" cy="2651760"/>
          </a:xfrm>
          <a:prstGeom prst="line">
            <a:avLst/>
          </a:prstGeom>
          <a:noFill/>
          <a:ln w="16510">
            <a:solidFill>
              <a:srgbClr val="B8C4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31720" y="4892040"/>
            <a:ext cx="7498080" cy="0"/>
          </a:xfrm>
          <a:prstGeom prst="line">
            <a:avLst/>
          </a:prstGeom>
          <a:noFill/>
          <a:ln w="16510">
            <a:solidFill>
              <a:srgbClr val="B8C4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743200"/>
            <a:ext cx="3840480" cy="155448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r>
              <a:rPr lang="en-US" sz="1400" dirty="0">
                <a:solidFill>
                  <a:srgbClr val="102033"/>
                </a:solidFill>
              </a:rPr>
              <a:t>Permissioned suele mejorar rendimiento a costa de apertura.</a:t>
            </a:r>
            <a:endParaRPr lang="en-US" sz="1400" dirty="0"/>
          </a:p>
          <a:p>
            <a:r>
              <a:rPr lang="en-US" sz="1400" dirty="0">
                <a:solidFill>
                  <a:srgbClr val="102033"/>
                </a:solidFill>
              </a:rPr>
              <a:t>BFT mejora finalidad, pero escala peor en número de validadores.</a:t>
            </a:r>
            <a:endParaRPr lang="en-US" sz="1400" dirty="0"/>
          </a:p>
          <a:p>
            <a:r>
              <a:rPr lang="en-US" sz="1400" dirty="0">
                <a:solidFill>
                  <a:srgbClr val="102033"/>
                </a:solidFill>
              </a:rPr>
              <a:t>Más transparencia puede dañar confidencialidad.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589520" y="2743200"/>
            <a:ext cx="3657600" cy="109728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r>
              <a:rPr lang="en-US" sz="1400" dirty="0">
                <a:solidFill>
                  <a:srgbClr val="102033"/>
                </a:solidFill>
              </a:rPr>
              <a:t>El diseño correcto depende de adversario, gobernanza y SLA.</a:t>
            </a:r>
            <a:endParaRPr lang="en-US" sz="1400" dirty="0"/>
          </a:p>
          <a:p>
            <a:r>
              <a:rPr lang="en-US" sz="1400" dirty="0">
                <a:solidFill>
                  <a:srgbClr val="102033"/>
                </a:solidFill>
              </a:rPr>
              <a:t>La métrica dominante debe fijarse antes de elegir protocolo.</a:t>
            </a:r>
            <a:endParaRPr lang="en-US" sz="1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Escalabilidad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475720" y="16459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A"/>
                </a:solidFill>
              </a:rPr>
              <a:t>43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Patrones de mitigación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960120"/>
            <a:ext cx="108813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B677A"/>
                </a:solidFill>
              </a:rPr>
              <a:t>Escalar casi siempre implica sacar carga del consenso global.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11155680" cy="0"/>
          </a:xfrm>
          <a:prstGeom prst="line">
            <a:avLst/>
          </a:prstGeom>
          <a:noFill/>
          <a:ln w="6350">
            <a:solidFill>
              <a:srgbClr val="B8C4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37360"/>
            <a:ext cx="3108960" cy="402336"/>
          </a:xfrm>
          <a:prstGeom prst="rect">
            <a:avLst/>
          </a:prstGeom>
          <a:solidFill>
            <a:srgbClr val="1677B8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Batching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212848"/>
            <a:ext cx="310896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02033"/>
                </a:solidFill>
              </a:rPr>
              <a:t>agrupar operaciones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26280" y="1737360"/>
            <a:ext cx="3108960" cy="402336"/>
          </a:xfrm>
          <a:prstGeom prst="rect">
            <a:avLst/>
          </a:prstGeom>
          <a:solidFill>
            <a:srgbClr val="0E9488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Off-chain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26280" y="2212848"/>
            <a:ext cx="310896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02033"/>
                </a:solidFill>
              </a:rPr>
              <a:t>datos fuera de cadena; hash on-chain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321040" y="1737360"/>
            <a:ext cx="3108960" cy="402336"/>
          </a:xfrm>
          <a:prstGeom prst="rect">
            <a:avLst/>
          </a:prstGeom>
          <a:solidFill>
            <a:srgbClr val="1677B8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Sharding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321040" y="2212848"/>
            <a:ext cx="310896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02033"/>
                </a:solidFill>
              </a:rPr>
              <a:t>particionar estado o validación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291840"/>
            <a:ext cx="3108960" cy="402336"/>
          </a:xfrm>
          <a:prstGeom prst="rect">
            <a:avLst/>
          </a:prstGeom>
          <a:solidFill>
            <a:srgbClr val="0E9488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Canales privados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3767328"/>
            <a:ext cx="310896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02033"/>
                </a:solidFill>
              </a:rPr>
              <a:t>subconjuntos con permisos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26280" y="3291840"/>
            <a:ext cx="3108960" cy="402336"/>
          </a:xfrm>
          <a:prstGeom prst="rect">
            <a:avLst/>
          </a:prstGeom>
          <a:solidFill>
            <a:srgbClr val="1677B8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Anchoring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26280" y="3767328"/>
            <a:ext cx="310896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02033"/>
                </a:solidFill>
              </a:rPr>
              <a:t>anclar evidencia en una cadena base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21040" y="3291840"/>
            <a:ext cx="3108960" cy="402336"/>
          </a:xfrm>
          <a:prstGeom prst="rect">
            <a:avLst/>
          </a:prstGeom>
          <a:solidFill>
            <a:srgbClr val="0E9488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Pruning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21040" y="3767328"/>
            <a:ext cx="310896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02033"/>
                </a:solidFill>
              </a:rPr>
              <a:t>gestionar historial y almacenamiento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Interoperabilidad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475720" y="16459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A"/>
                </a:solidFill>
              </a:rPr>
              <a:t>44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Interoperabilidad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960120"/>
            <a:ext cx="108813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B677A"/>
                </a:solidFill>
              </a:rPr>
              <a:t>Es la capacidad de que redes blockchain distintas intercambien mensajes o datos de forma verificable.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11155680" cy="0"/>
          </a:xfrm>
          <a:prstGeom prst="line">
            <a:avLst/>
          </a:prstGeom>
          <a:noFill/>
          <a:ln w="6350">
            <a:solidFill>
              <a:srgbClr val="B8C4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74520"/>
            <a:ext cx="2011680" cy="640080"/>
          </a:xfrm>
          <a:prstGeom prst="rect">
            <a:avLst/>
          </a:prstGeom>
          <a:solidFill>
            <a:srgbClr val="1677B8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Cadena 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663440" y="1737360"/>
            <a:ext cx="2834640" cy="914400"/>
          </a:xfrm>
          <a:prstGeom prst="rect">
            <a:avLst/>
          </a:prstGeom>
          <a:solidFill>
            <a:srgbClr val="C76B12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Protocolo / puente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mensajería, pruebas, finality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89720" y="1874520"/>
            <a:ext cx="2011680" cy="640080"/>
          </a:xfrm>
          <a:prstGeom prst="rect">
            <a:avLst/>
          </a:prstGeom>
          <a:solidFill>
            <a:srgbClr val="0E9488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Cadena B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926080" y="2194560"/>
            <a:ext cx="1737360" cy="0"/>
          </a:xfrm>
          <a:prstGeom prst="line">
            <a:avLst/>
          </a:prstGeom>
          <a:noFill/>
          <a:ln w="20320">
            <a:solidFill>
              <a:srgbClr val="B8C4D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498080" y="2194560"/>
            <a:ext cx="1691640" cy="0"/>
          </a:xfrm>
          <a:prstGeom prst="line">
            <a:avLst/>
          </a:prstGeom>
          <a:noFill/>
          <a:ln w="20320">
            <a:solidFill>
              <a:srgbClr val="B8C4D2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914400" y="3886200"/>
            <a:ext cx="10332720" cy="128016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r>
              <a:rPr lang="en-US" sz="1500" dirty="0">
                <a:solidFill>
                  <a:srgbClr val="102033"/>
                </a:solidFill>
              </a:rPr>
              <a:t>Dificultad: confirmar finalidad entre protocolos con reglas distintas.</a:t>
            </a:r>
            <a:endParaRPr lang="en-US" sz="1500" dirty="0"/>
          </a:p>
          <a:p>
            <a:r>
              <a:rPr lang="en-US" sz="1500" dirty="0">
                <a:solidFill>
                  <a:srgbClr val="102033"/>
                </a:solidFill>
              </a:rPr>
              <a:t>Riesgo: mantener integridad de datos durante comunicación cross-chain.</a:t>
            </a:r>
            <a:endParaRPr lang="en-US" sz="1500" dirty="0"/>
          </a:p>
          <a:p>
            <a:r>
              <a:rPr lang="en-US" sz="1500" dirty="0">
                <a:solidFill>
                  <a:srgbClr val="102033"/>
                </a:solidFill>
              </a:rPr>
              <a:t>Gobernanza: estándares, responsabilidad y respuesta ante fallas aún son complejos.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30352" y="6528816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D8794"/>
                </a:solidFill>
              </a:rPr>
              <a:t>Base: Rayenizadeh &amp; Rafsanjani, sec. 1.2.3; EUBOF, p. 26.</a:t>
            </a:r>
            <a:endParaRPr lang="en-US" sz="7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Interoperabilidad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475720" y="16459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A"/>
                </a:solidFill>
              </a:rPr>
              <a:t>45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Off-chain + on-chain: patrón arquitectónico común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960120"/>
            <a:ext cx="108813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B677A"/>
                </a:solidFill>
              </a:rPr>
              <a:t>No todo dato debe estar en la cadena; muchas veces basta comprometer evidencia.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11155680" cy="0"/>
          </a:xfrm>
          <a:prstGeom prst="line">
            <a:avLst/>
          </a:prstGeom>
          <a:noFill/>
          <a:ln w="6350">
            <a:solidFill>
              <a:srgbClr val="B8C4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11680"/>
            <a:ext cx="2926080" cy="822960"/>
          </a:xfrm>
          <a:prstGeom prst="rect">
            <a:avLst/>
          </a:prstGeom>
          <a:solidFill>
            <a:srgbClr val="1677B8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Datos pesados o sensibles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repositorio externo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0" y="1965960"/>
            <a:ext cx="2743200" cy="914400"/>
          </a:xfrm>
          <a:prstGeom prst="rect">
            <a:avLst/>
          </a:prstGeom>
          <a:solidFill>
            <a:srgbClr val="0E9488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Hash / puntero / metadatos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on-chain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595360" y="2011680"/>
            <a:ext cx="2560320" cy="822960"/>
          </a:xfrm>
          <a:prstGeom prst="rect">
            <a:avLst/>
          </a:prstGeom>
          <a:solidFill>
            <a:srgbClr val="0B1F3A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Auditoría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verifica correspondencia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749040" y="2423160"/>
            <a:ext cx="1005840" cy="0"/>
          </a:xfrm>
          <a:prstGeom prst="line">
            <a:avLst/>
          </a:prstGeom>
          <a:noFill/>
          <a:ln w="19050">
            <a:solidFill>
              <a:srgbClr val="B8C4D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498080" y="2423160"/>
            <a:ext cx="1097280" cy="0"/>
          </a:xfrm>
          <a:prstGeom prst="line">
            <a:avLst/>
          </a:prstGeom>
          <a:noFill/>
          <a:ln w="19050">
            <a:solidFill>
              <a:srgbClr val="B8C4D2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914400" y="4069080"/>
            <a:ext cx="10149840" cy="123444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r>
              <a:rPr lang="en-US" sz="1500" dirty="0">
                <a:solidFill>
                  <a:srgbClr val="102033"/>
                </a:solidFill>
              </a:rPr>
              <a:t>Útil para documentos, expedientes, telemetría, multimedia y datos personales.</a:t>
            </a:r>
            <a:endParaRPr lang="en-US" sz="1500" dirty="0"/>
          </a:p>
          <a:p>
            <a:r>
              <a:rPr lang="en-US" sz="1500" dirty="0">
                <a:solidFill>
                  <a:srgbClr val="102033"/>
                </a:solidFill>
              </a:rPr>
              <a:t>Reduce costo y exposición, pero exige gobernar almacenamiento externo.</a:t>
            </a:r>
            <a:endParaRPr lang="en-US" sz="1500" dirty="0"/>
          </a:p>
          <a:p>
            <a:r>
              <a:rPr lang="en-US" sz="1500" dirty="0">
                <a:solidFill>
                  <a:srgbClr val="102033"/>
                </a:solidFill>
              </a:rPr>
              <a:t>La cadena prueba integridad; no garantiza disponibilidad del archivo externo.</a:t>
            </a:r>
            <a:endParaRPr lang="en-US" sz="15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4008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A4F3"/>
                </a:solidFill>
              </a:rPr>
              <a:t>7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146304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Casos de uso sin ruido especulativo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13232" y="224028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9E8F5"/>
                </a:solidFill>
              </a:rPr>
              <a:t>La pregunta es: ¿qué problema de coordinación, trazabilidad o integridad se resuelve mejor con un ledger distribuido?</a:t>
            </a:r>
            <a:endParaRPr lang="en-US" sz="16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 Casos de uso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475720" y="16459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A"/>
                </a:solidFill>
              </a:rPr>
              <a:t>47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Cadena de suministro y procedencia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960120"/>
            <a:ext cx="108813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B677A"/>
                </a:solidFill>
              </a:rPr>
              <a:t>Blockchain puede registrar eventos de ciclo de vida cuando múltiples organizaciones comparten responsabilidad.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11155680" cy="0"/>
          </a:xfrm>
          <a:prstGeom prst="line">
            <a:avLst/>
          </a:prstGeom>
          <a:noFill/>
          <a:ln w="6350">
            <a:solidFill>
              <a:srgbClr val="B8C4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057400"/>
            <a:ext cx="1554480" cy="566928"/>
          </a:xfrm>
          <a:prstGeom prst="rect">
            <a:avLst/>
          </a:prstGeom>
          <a:solidFill>
            <a:srgbClr val="1677B8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Producción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0" y="2057400"/>
            <a:ext cx="1554480" cy="566928"/>
          </a:xfrm>
          <a:prstGeom prst="rect">
            <a:avLst/>
          </a:prstGeom>
          <a:solidFill>
            <a:srgbClr val="0E9488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Transporte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2057400"/>
            <a:ext cx="1554480" cy="566928"/>
          </a:xfrm>
          <a:prstGeom prst="rect">
            <a:avLst/>
          </a:prstGeom>
          <a:solidFill>
            <a:srgbClr val="1677B8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Aduana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766560" y="2057400"/>
            <a:ext cx="1554480" cy="566928"/>
          </a:xfrm>
          <a:prstGeom prst="rect">
            <a:avLst/>
          </a:prstGeom>
          <a:solidFill>
            <a:srgbClr val="0E9488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Almacén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778240" y="2057400"/>
            <a:ext cx="1554480" cy="566928"/>
          </a:xfrm>
          <a:prstGeom prst="rect">
            <a:avLst/>
          </a:prstGeom>
          <a:solidFill>
            <a:srgbClr val="0B1F3A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Cliente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286000" y="2340864"/>
            <a:ext cx="457200" cy="0"/>
          </a:xfrm>
          <a:prstGeom prst="line">
            <a:avLst/>
          </a:prstGeom>
          <a:noFill/>
          <a:ln w="19050">
            <a:solidFill>
              <a:srgbClr val="B8C4D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297680" y="2340864"/>
            <a:ext cx="457200" cy="0"/>
          </a:xfrm>
          <a:prstGeom prst="line">
            <a:avLst/>
          </a:prstGeom>
          <a:noFill/>
          <a:ln w="19050">
            <a:solidFill>
              <a:srgbClr val="B8C4D2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309360" y="2340864"/>
            <a:ext cx="457200" cy="0"/>
          </a:xfrm>
          <a:prstGeom prst="line">
            <a:avLst/>
          </a:prstGeom>
          <a:noFill/>
          <a:ln w="19050">
            <a:solidFill>
              <a:srgbClr val="B8C4D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321040" y="2340864"/>
            <a:ext cx="457200" cy="0"/>
          </a:xfrm>
          <a:prstGeom prst="line">
            <a:avLst/>
          </a:prstGeom>
          <a:noFill/>
          <a:ln w="19050">
            <a:solidFill>
              <a:srgbClr val="B8C4D2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914400" y="3931920"/>
            <a:ext cx="10424160" cy="132588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r>
              <a:rPr lang="en-US" sz="1500" dirty="0">
                <a:solidFill>
                  <a:srgbClr val="102033"/>
                </a:solidFill>
              </a:rPr>
              <a:t>Aporta: trazabilidad compartida, evidencia temporal y reducción de reconciliación.</a:t>
            </a:r>
            <a:endParaRPr lang="en-US" sz="1500" dirty="0"/>
          </a:p>
          <a:p>
            <a:r>
              <a:rPr lang="en-US" sz="1500" dirty="0">
                <a:solidFill>
                  <a:srgbClr val="102033"/>
                </a:solidFill>
              </a:rPr>
              <a:t>No resuelve: sensores falsos, captura manual fraudulenta o mala gobernanza de participantes.</a:t>
            </a:r>
            <a:endParaRPr lang="en-US" sz="1500" dirty="0"/>
          </a:p>
          <a:p>
            <a:r>
              <a:rPr lang="en-US" sz="1500" dirty="0">
                <a:solidFill>
                  <a:srgbClr val="102033"/>
                </a:solidFill>
              </a:rPr>
              <a:t>Diseño recomendado: eventos mínimos on-chain, documentación y evidencia off-chain.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30352" y="6528816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D8794"/>
                </a:solidFill>
              </a:rPr>
              <a:t>Base: Rayenizadeh &amp; Rafsanjani, sec. 1.1, 1.3; EUBOF, p. 17.</a:t>
            </a:r>
            <a:endParaRPr lang="en-US" sz="7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 Casos de uso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475720" y="16459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A"/>
                </a:solidFill>
              </a:rPr>
              <a:t>48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Salud e identidad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960120"/>
            <a:ext cx="108813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B677A"/>
                </a:solidFill>
              </a:rPr>
              <a:t>El valor está en auditabilidad, interoperabilidad y control de acceso, no en publicar expedientes.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11155680" cy="0"/>
          </a:xfrm>
          <a:prstGeom prst="line">
            <a:avLst/>
          </a:prstGeom>
          <a:noFill/>
          <a:ln w="6350">
            <a:solidFill>
              <a:srgbClr val="B8C4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828800"/>
            <a:ext cx="1828800" cy="530352"/>
          </a:xfrm>
          <a:prstGeom prst="rect">
            <a:avLst/>
          </a:prstGeom>
          <a:solidFill>
            <a:srgbClr val="1677B8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Paciente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40480" y="1828800"/>
            <a:ext cx="1828800" cy="530352"/>
          </a:xfrm>
          <a:prstGeom prst="rect">
            <a:avLst/>
          </a:prstGeom>
          <a:solidFill>
            <a:srgbClr val="0E9488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Hospital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12280" y="1828800"/>
            <a:ext cx="1828800" cy="530352"/>
          </a:xfrm>
          <a:prstGeom prst="rect">
            <a:avLst/>
          </a:prstGeom>
          <a:solidFill>
            <a:srgbClr val="1677B8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Laboratorio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509760" y="1828800"/>
            <a:ext cx="2057400" cy="530352"/>
          </a:xfrm>
          <a:prstGeom prst="rect">
            <a:avLst/>
          </a:prstGeom>
          <a:solidFill>
            <a:srgbClr val="0B1F3A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Aseguradora / auditor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0" y="3041294"/>
            <a:ext cx="1371600" cy="378562"/>
          </a:xfrm>
          <a:prstGeom prst="line">
            <a:avLst/>
          </a:prstGeom>
          <a:noFill/>
          <a:ln w="12700">
            <a:solidFill>
              <a:srgbClr val="B8C4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0" y="3419856"/>
            <a:ext cx="-365760" cy="841248"/>
          </a:xfrm>
          <a:prstGeom prst="line">
            <a:avLst/>
          </a:prstGeom>
          <a:noFill/>
          <a:ln w="12700">
            <a:solidFill>
              <a:srgbClr val="B8C4D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49440" y="4261104"/>
            <a:ext cx="-1691640" cy="168250"/>
          </a:xfrm>
          <a:prstGeom prst="line">
            <a:avLst/>
          </a:prstGeom>
          <a:noFill/>
          <a:ln w="12700">
            <a:solidFill>
              <a:srgbClr val="B8C4D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57800" y="4429354"/>
            <a:ext cx="-868680" cy="-736092"/>
          </a:xfrm>
          <a:prstGeom prst="line">
            <a:avLst/>
          </a:prstGeom>
          <a:noFill/>
          <a:ln w="12700">
            <a:solidFill>
              <a:srgbClr val="B8C4D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0" y="3693262"/>
            <a:ext cx="1554480" cy="-651967"/>
          </a:xfrm>
          <a:prstGeom prst="line">
            <a:avLst/>
          </a:prstGeom>
          <a:noFill/>
          <a:ln w="12700">
            <a:solidFill>
              <a:srgbClr val="B8C4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0" y="3041294"/>
            <a:ext cx="-91440" cy="757123"/>
          </a:xfrm>
          <a:prstGeom prst="line">
            <a:avLst/>
          </a:prstGeom>
          <a:noFill/>
          <a:ln w="12700">
            <a:solidFill>
              <a:srgbClr val="B8C4D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0" y="3419856"/>
            <a:ext cx="-1463040" cy="378562"/>
          </a:xfrm>
          <a:prstGeom prst="line">
            <a:avLst/>
          </a:prstGeom>
          <a:noFill/>
          <a:ln w="12700">
            <a:solidFill>
              <a:srgbClr val="B8C4D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49440" y="4261104"/>
            <a:ext cx="-1097280" cy="-462686"/>
          </a:xfrm>
          <a:prstGeom prst="line">
            <a:avLst/>
          </a:prstGeom>
          <a:noFill/>
          <a:ln w="12700">
            <a:solidFill>
              <a:srgbClr val="B8C4D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57800" y="4429354"/>
            <a:ext cx="594360" cy="-630936"/>
          </a:xfrm>
          <a:prstGeom prst="line">
            <a:avLst/>
          </a:prstGeom>
          <a:noFill/>
          <a:ln w="12700">
            <a:solidFill>
              <a:srgbClr val="B8C4D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89120" y="3693262"/>
            <a:ext cx="1463040" cy="105156"/>
          </a:xfrm>
          <a:prstGeom prst="line">
            <a:avLst/>
          </a:prstGeom>
          <a:noFill/>
          <a:ln w="12700">
            <a:solidFill>
              <a:srgbClr val="B8C4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42432" y="2840126"/>
            <a:ext cx="402336" cy="402336"/>
          </a:xfrm>
          <a:prstGeom prst="rect">
            <a:avLst/>
          </a:prstGeom>
          <a:solidFill>
            <a:srgbClr val="1677B8"/>
          </a:solidFill>
          <a:ln w="12700">
            <a:solidFill>
              <a:srgbClr val="FFFFFF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114032" y="3218688"/>
            <a:ext cx="402336" cy="402336"/>
          </a:xfrm>
          <a:prstGeom prst="rect">
            <a:avLst/>
          </a:prstGeom>
          <a:solidFill>
            <a:srgbClr val="1677B8"/>
          </a:solidFill>
          <a:ln w="12700">
            <a:solidFill>
              <a:srgbClr val="FFFFFF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748272" y="4059936"/>
            <a:ext cx="402336" cy="402336"/>
          </a:xfrm>
          <a:prstGeom prst="rect">
            <a:avLst/>
          </a:prstGeom>
          <a:solidFill>
            <a:srgbClr val="1677B8"/>
          </a:solidFill>
          <a:ln w="12700">
            <a:solidFill>
              <a:srgbClr val="FFFFFF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56632" y="4228186"/>
            <a:ext cx="402336" cy="402336"/>
          </a:xfrm>
          <a:prstGeom prst="rect">
            <a:avLst/>
          </a:prstGeom>
          <a:solidFill>
            <a:srgbClr val="1677B8"/>
          </a:solidFill>
          <a:ln w="12700">
            <a:solidFill>
              <a:srgbClr val="FFFFFF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87952" y="3492094"/>
            <a:ext cx="402336" cy="402336"/>
          </a:xfrm>
          <a:prstGeom prst="rect">
            <a:avLst/>
          </a:prstGeom>
          <a:solidFill>
            <a:srgbClr val="1677B8"/>
          </a:solidFill>
          <a:ln w="12700">
            <a:solidFill>
              <a:srgbClr val="FFFFFF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650992" y="3597250"/>
            <a:ext cx="402336" cy="402336"/>
          </a:xfrm>
          <a:prstGeom prst="rect">
            <a:avLst/>
          </a:prstGeom>
          <a:solidFill>
            <a:srgbClr val="0E9488"/>
          </a:solidFill>
          <a:ln w="12700">
            <a:solidFill>
              <a:srgbClr val="FFFFFF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68680" y="5166360"/>
            <a:ext cx="10332720" cy="7315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r>
              <a:rPr lang="en-US" sz="1400" dirty="0">
                <a:solidFill>
                  <a:srgbClr val="102033"/>
                </a:solidFill>
              </a:rPr>
              <a:t>Registro de consentimiento y acceso a datos.</a:t>
            </a:r>
            <a:endParaRPr lang="en-US" sz="1400" dirty="0"/>
          </a:p>
          <a:p>
            <a:r>
              <a:rPr lang="en-US" sz="1400" dirty="0">
                <a:solidFill>
                  <a:srgbClr val="102033"/>
                </a:solidFill>
              </a:rPr>
              <a:t>Verificación de integridad de documentos clínicos.</a:t>
            </a:r>
            <a:endParaRPr lang="en-US" sz="1400" dirty="0"/>
          </a:p>
          <a:p>
            <a:r>
              <a:rPr lang="en-US" sz="1400" dirty="0">
                <a:solidFill>
                  <a:srgbClr val="102033"/>
                </a:solidFill>
              </a:rPr>
              <a:t>Interoperabilidad entre instituciones con controles de permisos.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0352" y="6528816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D8794"/>
                </a:solidFill>
              </a:rPr>
              <a:t>Base: Rayenizadeh &amp; Rafsanjani, sec. 1.3; EUBOF, p. 18.</a:t>
            </a:r>
            <a:endParaRPr lang="en-US" sz="7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 Casos de uso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475720" y="16459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A"/>
                </a:solidFill>
              </a:rPr>
              <a:t>49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IoT, 5G y smart cities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960120"/>
            <a:ext cx="108813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B677A"/>
                </a:solidFill>
              </a:rPr>
              <a:t>El caso fuerte aparece cuando muchos dispositivos y organizaciones requieren evidencia compartida.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11155680" cy="0"/>
          </a:xfrm>
          <a:prstGeom prst="line">
            <a:avLst/>
          </a:prstGeom>
          <a:noFill/>
          <a:ln w="6350">
            <a:solidFill>
              <a:srgbClr val="B8C4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828800"/>
            <a:ext cx="1828800" cy="548640"/>
          </a:xfrm>
          <a:prstGeom prst="rect">
            <a:avLst/>
          </a:prstGeom>
          <a:solidFill>
            <a:srgbClr val="1677B8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Sensores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520440" y="1828800"/>
            <a:ext cx="1828800" cy="548640"/>
          </a:xfrm>
          <a:prstGeom prst="rect">
            <a:avLst/>
          </a:prstGeom>
          <a:solidFill>
            <a:srgbClr val="0E9488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Gateway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172200" y="1828800"/>
            <a:ext cx="1828800" cy="548640"/>
          </a:xfrm>
          <a:prstGeom prst="rect">
            <a:avLst/>
          </a:prstGeom>
          <a:solidFill>
            <a:srgbClr val="0B1F3A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Ledger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823960" y="1828800"/>
            <a:ext cx="2194560" cy="548640"/>
          </a:xfrm>
          <a:prstGeom prst="rect">
            <a:avLst/>
          </a:prstGeom>
          <a:solidFill>
            <a:srgbClr val="C76B12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Servicios urbanos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697480" y="2103120"/>
            <a:ext cx="822960" cy="0"/>
          </a:xfrm>
          <a:prstGeom prst="line">
            <a:avLst/>
          </a:prstGeom>
          <a:noFill/>
          <a:ln w="19050">
            <a:solidFill>
              <a:srgbClr val="B8C4D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349240" y="2103120"/>
            <a:ext cx="822960" cy="0"/>
          </a:xfrm>
          <a:prstGeom prst="line">
            <a:avLst/>
          </a:prstGeom>
          <a:noFill/>
          <a:ln w="19050">
            <a:solidFill>
              <a:srgbClr val="B8C4D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001000" y="2103120"/>
            <a:ext cx="822960" cy="0"/>
          </a:xfrm>
          <a:prstGeom prst="line">
            <a:avLst/>
          </a:prstGeom>
          <a:noFill/>
          <a:ln w="19050">
            <a:solidFill>
              <a:srgbClr val="B8C4D2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914400" y="3977640"/>
            <a:ext cx="10424160" cy="14173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r>
              <a:rPr lang="en-US" sz="1500" dirty="0">
                <a:solidFill>
                  <a:srgbClr val="102033"/>
                </a:solidFill>
              </a:rPr>
              <a:t>Problema: arquitectura centralizada en IoT tiene punto único de falla y riesgos de manipulación.</a:t>
            </a:r>
            <a:endParaRPr lang="en-US" sz="1500" dirty="0"/>
          </a:p>
          <a:p>
            <a:r>
              <a:rPr lang="en-US" sz="1500" dirty="0">
                <a:solidFill>
                  <a:srgbClr val="102033"/>
                </a:solidFill>
              </a:rPr>
              <a:t>Aporta: trazabilidad de eventos, autenticación, coordinación entre operadores y auditoría.</a:t>
            </a:r>
            <a:endParaRPr lang="en-US" sz="1500" dirty="0"/>
          </a:p>
          <a:p>
            <a:r>
              <a:rPr lang="en-US" sz="1500" dirty="0">
                <a:solidFill>
                  <a:srgbClr val="102033"/>
                </a:solidFill>
              </a:rPr>
              <a:t>Riesgo: no meter telemetría masiva completa en la cadena; se requieren agregación, hash y almacenamiento externo.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30352" y="6528816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D8794"/>
                </a:solidFill>
              </a:rPr>
              <a:t>Base: Rayenizadeh &amp; Rafsanjani, sec. 1.3; EUBOF, p. 26.</a:t>
            </a:r>
            <a:endParaRPr lang="en-US" sz="7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 Casos de uso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475720" y="16459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A"/>
                </a:solidFill>
              </a:rPr>
              <a:t>50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Gobierno, certificados y registros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960120"/>
            <a:ext cx="108813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B677A"/>
                </a:solidFill>
              </a:rPr>
              <a:t>Los registros públicos necesitan integridad histórica, trazabilidad y control institucional.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11155680" cy="0"/>
          </a:xfrm>
          <a:prstGeom prst="line">
            <a:avLst/>
          </a:prstGeom>
          <a:noFill/>
          <a:ln w="6350">
            <a:solidFill>
              <a:srgbClr val="B8C4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91640"/>
            <a:ext cx="5577840" cy="29718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r>
              <a:rPr lang="en-US" sz="1500" dirty="0">
                <a:solidFill>
                  <a:srgbClr val="102033"/>
                </a:solidFill>
              </a:rPr>
              <a:t>Certificados académicos: emisión, verificación y revocación trazable.</a:t>
            </a:r>
            <a:endParaRPr lang="en-US" sz="1500" dirty="0"/>
          </a:p>
          <a:p>
            <a:r>
              <a:rPr lang="en-US" sz="1500" dirty="0">
                <a:solidFill>
                  <a:srgbClr val="102033"/>
                </a:solidFill>
              </a:rPr>
              <a:t>Identidad y permisos: registro de atributos, no exposición completa de datos personales.</a:t>
            </a:r>
            <a:endParaRPr lang="en-US" sz="1500" dirty="0"/>
          </a:p>
          <a:p>
            <a:r>
              <a:rPr lang="en-US" sz="1500" dirty="0">
                <a:solidFill>
                  <a:srgbClr val="102033"/>
                </a:solidFill>
              </a:rPr>
              <a:t>Votación o procesos deliberativos: auditabilidad extrema, pero requisitos de secreto y coerción son difíciles.</a:t>
            </a:r>
            <a:endParaRPr lang="en-US" sz="1500" dirty="0"/>
          </a:p>
          <a:p>
            <a:r>
              <a:rPr lang="en-US" sz="1500" dirty="0">
                <a:solidFill>
                  <a:srgbClr val="102033"/>
                </a:solidFill>
              </a:rPr>
              <a:t>Impuestos, licencias y registros: reducción de reconciliación entre dependencias.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995160" y="2148840"/>
            <a:ext cx="2834640" cy="502920"/>
          </a:xfrm>
          <a:prstGeom prst="rect">
            <a:avLst/>
          </a:prstGeom>
          <a:solidFill>
            <a:srgbClr val="B23B3B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Advertencia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37960" y="2788920"/>
            <a:ext cx="3840480" cy="1234440"/>
          </a:xfrm>
          <a:prstGeom prst="rect">
            <a:avLst/>
          </a:prstGeom>
          <a:solidFill>
            <a:srgbClr val="F5DCDC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02033"/>
                </a:solidFill>
              </a:rPr>
              <a:t>Blockchain no vuelve confiable a una institución corrupta ni a un proceso mal diseñado. Solo preserva evidencia bajo reglas definidas.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30352" y="6528816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D8794"/>
                </a:solidFill>
              </a:rPr>
              <a:t>Base: Rayenizadeh &amp; Rafsanjani, sec. 1.3; EUBOF, pp. 19-20.</a:t>
            </a:r>
            <a:endParaRPr lang="en-US" sz="7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4008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A4F3"/>
                </a:solidFill>
              </a:rPr>
              <a:t>8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146304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Criterios de decisión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13232" y="224028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9E8F5"/>
                </a:solidFill>
              </a:rPr>
              <a:t>La forma rigurosa de enseñar blockchain es también enseñar cuándo no usarla.</a:t>
            </a:r>
            <a:endParaRPr lang="en-US" sz="16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 Decisión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475720" y="16459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A"/>
                </a:solidFill>
              </a:rPr>
              <a:t>52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Cuándo sí tiene sentido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960120"/>
            <a:ext cx="108813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B677A"/>
                </a:solidFill>
              </a:rPr>
              <a:t>Una blockchain es defendible si varias condiciones aparecen simultáneamente.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11155680" cy="0"/>
          </a:xfrm>
          <a:prstGeom prst="line">
            <a:avLst/>
          </a:prstGeom>
          <a:noFill/>
          <a:ln w="6350">
            <a:solidFill>
              <a:srgbClr val="B8C4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645920"/>
            <a:ext cx="9966960" cy="329184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r>
              <a:rPr lang="en-US" sz="1600" dirty="0">
                <a:solidFill>
                  <a:srgbClr val="102033"/>
                </a:solidFill>
              </a:rPr>
              <a:t>Varias organizaciones necesitan escribir o verificar un historial común.</a:t>
            </a:r>
            <a:endParaRPr lang="en-US" sz="1600" dirty="0"/>
          </a:p>
          <a:p>
            <a:r>
              <a:rPr lang="en-US" sz="1600" dirty="0">
                <a:solidFill>
                  <a:srgbClr val="102033"/>
                </a:solidFill>
              </a:rPr>
              <a:t>No existe un operador central neutral, aceptado y suficiente.</a:t>
            </a:r>
            <a:endParaRPr lang="en-US" sz="1600" dirty="0"/>
          </a:p>
          <a:p>
            <a:r>
              <a:rPr lang="en-US" sz="1600" dirty="0">
                <a:solidFill>
                  <a:srgbClr val="102033"/>
                </a:solidFill>
              </a:rPr>
              <a:t>La trazabilidad histórica y la evidencia temporal son requisitos fuertes.</a:t>
            </a:r>
            <a:endParaRPr lang="en-US" sz="1600" dirty="0"/>
          </a:p>
          <a:p>
            <a:r>
              <a:rPr lang="en-US" sz="1600" dirty="0">
                <a:solidFill>
                  <a:srgbClr val="102033"/>
                </a:solidFill>
              </a:rPr>
              <a:t>Los participantes aceptan reglas de consenso, permisos y gobernanza explícitas.</a:t>
            </a:r>
            <a:endParaRPr lang="en-US" sz="1600" dirty="0"/>
          </a:p>
          <a:p>
            <a:r>
              <a:rPr lang="en-US" sz="1600" dirty="0">
                <a:solidFill>
                  <a:srgbClr val="102033"/>
                </a:solidFill>
              </a:rPr>
              <a:t>La pérdida de rendimiento frente a una base de datos tradicional está justificada.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5486400"/>
            <a:ext cx="9326880" cy="594360"/>
          </a:xfrm>
          <a:prstGeom prst="rect">
            <a:avLst/>
          </a:prstGeom>
          <a:solidFill>
            <a:srgbClr val="FCE8D2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02033"/>
                </a:solidFill>
              </a:rPr>
              <a:t>Criterio duro: si una base de datos con auditoría resuelve el problema, blockchain probablemente sobra.</a:t>
            </a:r>
            <a:endParaRPr lang="en-US" sz="15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 Decisión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475720" y="16459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A"/>
                </a:solidFill>
              </a:rPr>
              <a:t>53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Cuándo no usar blockchain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960120"/>
            <a:ext cx="108813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B677A"/>
                </a:solidFill>
              </a:rPr>
              <a:t>Meter blockchain donde no corresponde produce arquitectura más lenta, más cara y más difícil de gobernar.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11155680" cy="0"/>
          </a:xfrm>
          <a:prstGeom prst="line">
            <a:avLst/>
          </a:prstGeom>
          <a:noFill/>
          <a:ln w="6350">
            <a:solidFill>
              <a:srgbClr val="B8C4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00200"/>
            <a:ext cx="10241280" cy="36576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r>
              <a:rPr lang="en-US" sz="1600" dirty="0">
                <a:solidFill>
                  <a:srgbClr val="102033"/>
                </a:solidFill>
              </a:rPr>
              <a:t>Hay un único dueño natural del sistema y todos confían en él.</a:t>
            </a:r>
            <a:endParaRPr lang="en-US" sz="1600" dirty="0"/>
          </a:p>
          <a:p>
            <a:r>
              <a:rPr lang="en-US" sz="1600" dirty="0">
                <a:solidFill>
                  <a:srgbClr val="102033"/>
                </a:solidFill>
              </a:rPr>
              <a:t>No hay necesidad real de consenso multipartes.</a:t>
            </a:r>
            <a:endParaRPr lang="en-US" sz="1600" dirty="0"/>
          </a:p>
          <a:p>
            <a:r>
              <a:rPr lang="en-US" sz="1600" dirty="0">
                <a:solidFill>
                  <a:srgbClr val="102033"/>
                </a:solidFill>
              </a:rPr>
              <a:t>Los datos deben ser modificados o borrados con frecuencia sin dejar rastro.</a:t>
            </a:r>
            <a:endParaRPr lang="en-US" sz="1600" dirty="0"/>
          </a:p>
          <a:p>
            <a:r>
              <a:rPr lang="en-US" sz="1600" dirty="0">
                <a:solidFill>
                  <a:srgbClr val="102033"/>
                </a:solidFill>
              </a:rPr>
              <a:t>La privacidad exige ocultar incluso metadatos operativos.</a:t>
            </a:r>
            <a:endParaRPr lang="en-US" sz="1600" dirty="0"/>
          </a:p>
          <a:p>
            <a:r>
              <a:rPr lang="en-US" sz="1600" dirty="0">
                <a:solidFill>
                  <a:srgbClr val="102033"/>
                </a:solidFill>
              </a:rPr>
              <a:t>El sistema requiere alta frecuencia transaccional con latencia muy baja.</a:t>
            </a:r>
            <a:endParaRPr lang="en-US" sz="1600" dirty="0"/>
          </a:p>
          <a:p>
            <a:r>
              <a:rPr lang="en-US" sz="1600" dirty="0">
                <a:solidFill>
                  <a:srgbClr val="102033"/>
                </a:solidFill>
              </a:rPr>
              <a:t>La organización no puede operar claves, permisos, actualizaciones y respuesta a incidentes.</a:t>
            </a:r>
            <a:endParaRPr lang="en-US" sz="16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 Decisión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475720" y="16459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A"/>
                </a:solidFill>
              </a:rPr>
              <a:t>54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Checklist técnico para diseñar una solución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960120"/>
            <a:ext cx="108813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B677A"/>
                </a:solidFill>
              </a:rPr>
              <a:t>Debe responderse antes de elegir plataforma.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11155680" cy="0"/>
          </a:xfrm>
          <a:prstGeom prst="line">
            <a:avLst/>
          </a:prstGeom>
          <a:noFill/>
          <a:ln w="6350">
            <a:solidFill>
              <a:srgbClr val="B8C4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00200"/>
            <a:ext cx="1828800" cy="384048"/>
          </a:xfrm>
          <a:prstGeom prst="rect">
            <a:avLst/>
          </a:prstGeom>
          <a:solidFill>
            <a:srgbClr val="1677B8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Actores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0" y="1600200"/>
            <a:ext cx="3108960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02033"/>
                </a:solidFill>
              </a:rPr>
              <a:t>¿quién lee, escribe, valida y audita?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263640" y="1600200"/>
            <a:ext cx="1828800" cy="384048"/>
          </a:xfrm>
          <a:prstGeom prst="rect">
            <a:avLst/>
          </a:prstGeom>
          <a:solidFill>
            <a:srgbClr val="0E9488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75320" y="1600200"/>
            <a:ext cx="3108960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02033"/>
                </a:solidFill>
              </a:rPr>
              <a:t>¿qué va on-chain y qué queda off-chain?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651760"/>
            <a:ext cx="1828800" cy="384048"/>
          </a:xfrm>
          <a:prstGeom prst="rect">
            <a:avLst/>
          </a:prstGeom>
          <a:solidFill>
            <a:srgbClr val="1677B8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Consenso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0" y="2651760"/>
            <a:ext cx="3108960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02033"/>
                </a:solidFill>
              </a:rPr>
              <a:t>¿qué fallas se toleran y qué finalidad se necesita?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263640" y="2651760"/>
            <a:ext cx="1828800" cy="384048"/>
          </a:xfrm>
          <a:prstGeom prst="rect">
            <a:avLst/>
          </a:prstGeom>
          <a:solidFill>
            <a:srgbClr val="0E9488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Identidad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75320" y="2651760"/>
            <a:ext cx="3108960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02033"/>
                </a:solidFill>
              </a:rPr>
              <a:t>¿cómo se gestionan claves, roles y revocación?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31520" y="3703320"/>
            <a:ext cx="1828800" cy="384048"/>
          </a:xfrm>
          <a:prstGeom prst="rect">
            <a:avLst/>
          </a:prstGeom>
          <a:solidFill>
            <a:srgbClr val="1677B8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Privacidad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0" y="3703320"/>
            <a:ext cx="3108960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02033"/>
                </a:solidFill>
              </a:rPr>
              <a:t>¿qué metadatos quedan expuestos?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263640" y="3703320"/>
            <a:ext cx="1828800" cy="384048"/>
          </a:xfrm>
          <a:prstGeom prst="rect">
            <a:avLst/>
          </a:prstGeom>
          <a:solidFill>
            <a:srgbClr val="0E9488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Gobernanza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75320" y="3703320"/>
            <a:ext cx="3108960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02033"/>
                </a:solidFill>
              </a:rPr>
              <a:t>¿quién actualiza reglas y responde a incidentes?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31520" y="4754880"/>
            <a:ext cx="1828800" cy="384048"/>
          </a:xfrm>
          <a:prstGeom prst="rect">
            <a:avLst/>
          </a:prstGeom>
          <a:solidFill>
            <a:srgbClr val="1677B8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Métricas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0" y="4754880"/>
            <a:ext cx="3108960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02033"/>
                </a:solidFill>
              </a:rPr>
              <a:t>¿throughput, latencia, costo y disponibilidad esperados?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263640" y="4754880"/>
            <a:ext cx="1828800" cy="384048"/>
          </a:xfrm>
          <a:prstGeom prst="rect">
            <a:avLst/>
          </a:prstGeom>
          <a:solidFill>
            <a:srgbClr val="0E9488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Interoperabilidad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75320" y="4754880"/>
            <a:ext cx="3108960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02033"/>
                </a:solidFill>
              </a:rPr>
              <a:t>¿qué sistemas externos deben verificarse?</a:t>
            </a:r>
            <a:endParaRPr lang="en-US" sz="10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 Decisión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475720" y="16459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A"/>
                </a:solidFill>
              </a:rPr>
              <a:t>55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Actividad para clase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960120"/>
            <a:ext cx="108813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B677A"/>
                </a:solidFill>
              </a:rPr>
              <a:t>Evaluar una propuesta de blockchain sin dejarse vender humo.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11155680" cy="0"/>
          </a:xfrm>
          <a:prstGeom prst="line">
            <a:avLst/>
          </a:prstGeom>
          <a:noFill/>
          <a:ln w="6350">
            <a:solidFill>
              <a:srgbClr val="B8C4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645920"/>
            <a:ext cx="1371600" cy="457200"/>
          </a:xfrm>
          <a:prstGeom prst="rect">
            <a:avLst/>
          </a:prstGeom>
          <a:solidFill>
            <a:srgbClr val="0B1F3A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Caso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514600" y="1645920"/>
            <a:ext cx="804672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B8C4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02033"/>
                </a:solidFill>
              </a:rPr>
              <a:t>Una red de hospitales quiere registrar autorizaciones de acceso a expedientes clínicos entre instituciones.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2743200"/>
            <a:ext cx="9875520" cy="25603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r>
              <a:rPr lang="en-US" sz="1600" dirty="0">
                <a:solidFill>
                  <a:srgbClr val="102033"/>
                </a:solidFill>
              </a:rPr>
              <a:t>Definir actores, permisos y datos on-chain/off-chain.</a:t>
            </a:r>
            <a:endParaRPr lang="en-US" sz="1600" dirty="0"/>
          </a:p>
          <a:p>
            <a:r>
              <a:rPr lang="en-US" sz="1600" dirty="0">
                <a:solidFill>
                  <a:srgbClr val="102033"/>
                </a:solidFill>
              </a:rPr>
              <a:t>Elegir tipo de blockchain y mecanismo de consenso.</a:t>
            </a:r>
            <a:endParaRPr lang="en-US" sz="1600" dirty="0"/>
          </a:p>
          <a:p>
            <a:r>
              <a:rPr lang="en-US" sz="1600" dirty="0">
                <a:solidFill>
                  <a:srgbClr val="102033"/>
                </a:solidFill>
              </a:rPr>
              <a:t>Enumerar tres amenazas críticas y mitigaciones.</a:t>
            </a:r>
            <a:endParaRPr lang="en-US" sz="1600" dirty="0"/>
          </a:p>
          <a:p>
            <a:r>
              <a:rPr lang="en-US" sz="1600" dirty="0">
                <a:solidFill>
                  <a:srgbClr val="102033"/>
                </a:solidFill>
              </a:rPr>
              <a:t>Indicar una razón fuerte para usar blockchain y una razón fuerte para no usarla.</a:t>
            </a:r>
            <a:endParaRPr lang="en-US" sz="1600" dirty="0"/>
          </a:p>
          <a:p>
            <a:r>
              <a:rPr lang="en-US" sz="1600" dirty="0">
                <a:solidFill>
                  <a:srgbClr val="102033"/>
                </a:solidFill>
              </a:rPr>
              <a:t>Proponer dos métricas de evaluación operacional.</a:t>
            </a:r>
            <a:endParaRPr lang="en-US" sz="16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 Decisión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475720" y="16459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A"/>
                </a:solidFill>
              </a:rPr>
              <a:t>56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Conclusiones técnicas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960120"/>
            <a:ext cx="108813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B677A"/>
                </a:solidFill>
              </a:rPr>
              <a:t>La blockchain útil es menos una moda y más una arquitectura de coordinación verificable.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11155680" cy="0"/>
          </a:xfrm>
          <a:prstGeom prst="line">
            <a:avLst/>
          </a:prstGeom>
          <a:noFill/>
          <a:ln w="6350">
            <a:solidFill>
              <a:srgbClr val="B8C4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91640"/>
            <a:ext cx="10424160" cy="374904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r>
              <a:rPr lang="en-US" sz="1600" dirty="0">
                <a:solidFill>
                  <a:srgbClr val="102033"/>
                </a:solidFill>
              </a:rPr>
              <a:t>Blockchain = ledger replicado + bloques enlazados + criptografía + consenso + gobernanza.</a:t>
            </a:r>
            <a:endParaRPr lang="en-US" sz="1600" dirty="0"/>
          </a:p>
          <a:p>
            <a:r>
              <a:rPr lang="en-US" sz="1600" dirty="0">
                <a:solidFill>
                  <a:srgbClr val="102033"/>
                </a:solidFill>
              </a:rPr>
              <a:t>La inmutabilidad es práctica, no mágica; depende de consenso, red y control de claves.</a:t>
            </a:r>
            <a:endParaRPr lang="en-US" sz="1600" dirty="0"/>
          </a:p>
          <a:p>
            <a:r>
              <a:rPr lang="en-US" sz="1600" dirty="0">
                <a:solidFill>
                  <a:srgbClr val="102033"/>
                </a:solidFill>
              </a:rPr>
              <a:t>La arquitectura correcta empieza por el modelo de confianza, no por la plataforma.</a:t>
            </a:r>
            <a:endParaRPr lang="en-US" sz="1600" dirty="0"/>
          </a:p>
          <a:p>
            <a:r>
              <a:rPr lang="en-US" sz="1600" dirty="0">
                <a:solidFill>
                  <a:srgbClr val="102033"/>
                </a:solidFill>
              </a:rPr>
              <a:t>Los principales errores son: meter datos sensibles on-chain, ignorar gobernanza y confundir transparencia con seguridad.</a:t>
            </a:r>
            <a:endParaRPr lang="en-US" sz="1600" dirty="0"/>
          </a:p>
          <a:p>
            <a:r>
              <a:rPr lang="en-US" sz="1600" dirty="0">
                <a:solidFill>
                  <a:srgbClr val="102033"/>
                </a:solidFill>
              </a:rPr>
              <a:t>La pregunta final siempre es comparativa: ¿qué aporta frente a una base de datos auditada y replicada?</a:t>
            </a:r>
            <a:endParaRPr lang="en-US" sz="16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Referencias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475720" y="16459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A"/>
                </a:solidFill>
              </a:rPr>
              <a:t>57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Referencias base utilizadas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960120"/>
            <a:ext cx="108813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B677A"/>
                </a:solidFill>
              </a:rPr>
              <a:t>Material fuente proporcionado para construir la clase.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11155680" cy="0"/>
          </a:xfrm>
          <a:prstGeom prst="line">
            <a:avLst/>
          </a:prstGeom>
          <a:noFill/>
          <a:ln w="6350">
            <a:solidFill>
              <a:srgbClr val="B8C4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00200"/>
            <a:ext cx="10698480" cy="420624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r>
              <a:rPr lang="en-US" sz="1300" dirty="0">
                <a:solidFill>
                  <a:srgbClr val="102033"/>
                </a:solidFill>
              </a:rPr>
              <a:t>Rayenizadeh, M., &amp; Kuchaki Rafsanjani, M. Introduction to blockchain technology. Digital Twin and Blockchain for Sensor Networks in Smart Cities. Elsevier, 2025. DOI: 10.1016/B978-0-443-30076-9.00002-9.</a:t>
            </a:r>
            <a:endParaRPr lang="en-US" sz="1300" dirty="0"/>
          </a:p>
          <a:p>
            <a:r>
              <a:rPr lang="en-US" sz="1300" dirty="0">
                <a:solidFill>
                  <a:srgbClr val="102033"/>
                </a:solidFill>
              </a:rPr>
              <a:t>EU Blockchain Observatory and Forum. Blockchain for beginners - basic guiding principles. April 2024.</a:t>
            </a:r>
            <a:endParaRPr lang="en-US" sz="1300" dirty="0"/>
          </a:p>
          <a:p>
            <a:r>
              <a:rPr lang="en-US" sz="1300" dirty="0">
                <a:solidFill>
                  <a:srgbClr val="102033"/>
                </a:solidFill>
              </a:rPr>
              <a:t>Mathur, R. K. Introduction to Blockchain Technology. National Telecommunications Institute for Policy Research, Innovation &amp; Training.</a:t>
            </a:r>
            <a:endParaRPr lang="en-US" sz="1300" dirty="0"/>
          </a:p>
          <a:p>
            <a:r>
              <a:rPr lang="en-US" sz="1300" dirty="0">
                <a:solidFill>
                  <a:srgbClr val="102033"/>
                </a:solidFill>
              </a:rPr>
              <a:t>Liao, N. A Brief Introduction to Blockchain. Yale Law School Center for the Study of Corporate Law, 2017.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57</Slides>
  <Notes>57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Blockchain: arquitectura, consenso y seguridad</dc:title>
  <dc:subject>Blockchain technology - master-level class deck</dc:subject>
  <dc:creator>OpenAI</dc:creator>
  <cp:lastModifiedBy>OpenAI</cp:lastModifiedBy>
  <cp:revision>1</cp:revision>
  <dcterms:created xsi:type="dcterms:W3CDTF">2026-06-25T00:31:15Z</dcterms:created>
  <dcterms:modified xsi:type="dcterms:W3CDTF">2026-06-25T00:31:15Z</dcterms:modified>
</cp:coreProperties>
</file>