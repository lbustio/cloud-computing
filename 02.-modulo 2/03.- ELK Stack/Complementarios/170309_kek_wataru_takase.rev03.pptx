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1" r:id="rId6"/>
    <p:sldId id="262" r:id="rId7"/>
    <p:sldId id="274" r:id="rId8"/>
    <p:sldId id="263" r:id="rId9"/>
    <p:sldId id="264" r:id="rId10"/>
    <p:sldId id="265" r:id="rId11"/>
    <p:sldId id="281" r:id="rId12"/>
    <p:sldId id="269" r:id="rId13"/>
    <p:sldId id="267" r:id="rId14"/>
    <p:sldId id="268" r:id="rId15"/>
    <p:sldId id="270" r:id="rId16"/>
    <p:sldId id="271" r:id="rId17"/>
    <p:sldId id="282" r:id="rId18"/>
    <p:sldId id="272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B305D-E20A-EE47-8F58-6DB16F13B5A3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5B214-6C0E-8045-A080-B33B0CACA904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1743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2A715-DB9A-684F-9A46-567C2CEA164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C832C-6F07-6343-A365-C223C726F230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21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C832C-6F07-6343-A365-C223C726F23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618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C832C-6F07-6343-A365-C223C726F230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687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50F-C56E-BB4F-9D45-864D749A848B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3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41E5-CBDD-6F40-98CD-50289284D2E6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57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2CA7-0CB4-6248-86AD-EBF2A253FF2E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14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9C6C-FB42-014E-AF03-63927F8C7059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83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1B69-69E6-4D41-A6AD-1B1203930616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36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9438-A3A8-884C-9B86-EB60A944A1D1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695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A956-6533-A347-938B-7FAFFEC90368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71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5522-DCCC-FB4D-8847-B13029F37A29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0F39D-6245-604B-87AB-94444B80B1E6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91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BA26-C4FC-724F-B8A1-DCBA91AC59F4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34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E3B4E-98EB-1449-A4CF-DEBF7CAC6EE6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16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2F049-EA20-E043-9E11-8150974BB8B4}" type="datetime1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0000"/>
                </a:solidFill>
              </a:defRPr>
            </a:lvl1pPr>
          </a:lstStyle>
          <a:p>
            <a:fld id="{91B406FA-1BDD-F141-AE9C-7980720B7E6D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0840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A</a:t>
            </a:r>
            <a:r>
              <a:rPr kumimoji="1" lang="ja-JP" altLang="en-US" dirty="0"/>
              <a:t> </a:t>
            </a:r>
            <a:r>
              <a:rPr kumimoji="1" lang="en-US" altLang="ja-JP" dirty="0"/>
              <a:t>solution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for</a:t>
            </a:r>
            <a:r>
              <a:rPr kumimoji="1" lang="ja-JP" altLang="en-US" dirty="0"/>
              <a:t> </a:t>
            </a:r>
            <a:r>
              <a:rPr kumimoji="1" lang="en-US" altLang="ja-JP" dirty="0"/>
              <a:t>secure</a:t>
            </a:r>
            <a:r>
              <a:rPr kumimoji="1" lang="ja-JP" altLang="en-US" dirty="0"/>
              <a:t> </a:t>
            </a:r>
            <a:r>
              <a:rPr kumimoji="1" lang="en-US" altLang="ja-JP" dirty="0"/>
              <a:t>use</a:t>
            </a:r>
            <a:r>
              <a:rPr kumimoji="1" lang="ja-JP" altLang="en-US" dirty="0"/>
              <a:t> </a:t>
            </a:r>
            <a:r>
              <a:rPr kumimoji="1" lang="en-US" altLang="ja-JP" dirty="0"/>
              <a:t>of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Kibana</a:t>
            </a:r>
            <a:r>
              <a:rPr kumimoji="1" lang="ja-JP" altLang="en-US" dirty="0"/>
              <a:t> </a:t>
            </a:r>
            <a:r>
              <a:rPr kumimoji="1" lang="en-US" altLang="ja-JP" dirty="0"/>
              <a:t>and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ElasticSearch</a:t>
            </a:r>
            <a:r>
              <a:rPr kumimoji="1" lang="ja-JP" altLang="en-US" dirty="0"/>
              <a:t> </a:t>
            </a:r>
            <a:r>
              <a:rPr kumimoji="1" lang="en-US" altLang="ja-JP" dirty="0"/>
              <a:t>in</a:t>
            </a:r>
            <a:r>
              <a:rPr kumimoji="1" lang="ja-JP" altLang="en-US" dirty="0"/>
              <a:t> </a:t>
            </a:r>
            <a:r>
              <a:rPr kumimoji="1" lang="en-US" altLang="ja-JP" dirty="0"/>
              <a:t>multi-user</a:t>
            </a:r>
            <a:r>
              <a:rPr kumimoji="1" lang="ja-JP" altLang="en-US" dirty="0"/>
              <a:t> </a:t>
            </a:r>
            <a:r>
              <a:rPr kumimoji="1" lang="en-US" altLang="ja-JP" dirty="0"/>
              <a:t>environment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ja-JP" u="sng" dirty="0"/>
              <a:t>Wataru Takase</a:t>
            </a:r>
            <a:r>
              <a:rPr kumimoji="1" lang="en-US" altLang="ja-JP" dirty="0"/>
              <a:t>,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Tomoaki</a:t>
            </a:r>
            <a:r>
              <a:rPr kumimoji="1" lang="en-US" altLang="ja-JP" dirty="0"/>
              <a:t> Nakamura, Yoshiyuki </a:t>
            </a:r>
            <a:r>
              <a:rPr kumimoji="1" lang="en-US" altLang="ja-JP" dirty="0" err="1"/>
              <a:t>Watase</a:t>
            </a:r>
            <a:r>
              <a:rPr kumimoji="1" lang="en-US" altLang="ja-JP" dirty="0"/>
              <a:t>, Takashi Sasaki</a:t>
            </a:r>
          </a:p>
          <a:p>
            <a:r>
              <a:rPr lang="en-US" altLang="ja-JP" dirty="0"/>
              <a:t>Computing Research Center, KEK, Japan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371600" y="6226388"/>
            <a:ext cx="6400800" cy="372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ISGC 2017</a:t>
            </a:r>
            <a:endParaRPr kumimoji="1" lang="ja-JP" altLang="en-US" dirty="0"/>
          </a:p>
        </p:txBody>
      </p:sp>
      <p:pic>
        <p:nvPicPr>
          <p:cNvPr id="5" name="図 4" descr="keklogo-c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481" y="143044"/>
            <a:ext cx="1855183" cy="1161593"/>
          </a:xfrm>
          <a:prstGeom prst="rect">
            <a:avLst/>
          </a:prstGeom>
        </p:spPr>
      </p:pic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1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-14434"/>
            <a:ext cx="8229600" cy="1143000"/>
          </a:xfrm>
        </p:spPr>
        <p:txBody>
          <a:bodyPr/>
          <a:lstStyle/>
          <a:p>
            <a:r>
              <a:rPr kumimoji="1" lang="en-US" altLang="ja-JP" dirty="0" err="1"/>
              <a:t>Kibana</a:t>
            </a:r>
            <a:r>
              <a:rPr lang="en-US" altLang="ja-JP" dirty="0"/>
              <a:t> and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ElasticSearch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053090"/>
            <a:ext cx="8229600" cy="2019121"/>
          </a:xfrm>
        </p:spPr>
        <p:txBody>
          <a:bodyPr>
            <a:noAutofit/>
          </a:bodyPr>
          <a:lstStyle/>
          <a:p>
            <a:r>
              <a:rPr lang="en-US" altLang="ja-JP" sz="2800" dirty="0"/>
              <a:t>Open-sourced</a:t>
            </a:r>
            <a:r>
              <a:rPr lang="ja-JP" altLang="en-US" sz="2800" dirty="0"/>
              <a:t> </a:t>
            </a:r>
            <a:r>
              <a:rPr lang="en-US" altLang="ja-JP" sz="2800" dirty="0"/>
              <a:t>monitoring tools developed by Elastic</a:t>
            </a:r>
          </a:p>
          <a:p>
            <a:pPr lvl="1"/>
            <a:r>
              <a:rPr kumimoji="1" lang="en-US" altLang="ja-JP" sz="2400" dirty="0" err="1"/>
              <a:t>ElasticSearch</a:t>
            </a:r>
            <a:r>
              <a:rPr lang="ja-JP" altLang="ja-JP" sz="2400" dirty="0"/>
              <a:t> </a:t>
            </a:r>
            <a:r>
              <a:rPr lang="en-US" altLang="ja-JP" sz="2400" dirty="0"/>
              <a:t>is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 </a:t>
            </a:r>
            <a:r>
              <a:rPr kumimoji="1" lang="en-US" altLang="ja-JP" sz="2400" dirty="0" err="1"/>
              <a:t>lucene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based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scalable search engine.</a:t>
            </a:r>
          </a:p>
          <a:p>
            <a:pPr lvl="1"/>
            <a:r>
              <a:rPr kumimoji="1" lang="en-US" altLang="ja-JP" sz="2400" dirty="0" err="1"/>
              <a:t>Kibana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is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visualization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tool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for</a:t>
            </a:r>
            <a:r>
              <a:rPr kumimoji="1" lang="ja-JP" altLang="en-US" sz="2400" dirty="0"/>
              <a:t> </a:t>
            </a:r>
            <a:r>
              <a:rPr kumimoji="1" lang="en-US" altLang="ja-JP" sz="2400" dirty="0" err="1"/>
              <a:t>ElasticSearch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and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provides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web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interface</a:t>
            </a:r>
            <a:r>
              <a:rPr kumimoji="1" lang="ja-JP" altLang="en-US" sz="2400" dirty="0"/>
              <a:t> </a:t>
            </a:r>
            <a:r>
              <a:rPr lang="en-US" altLang="ja-JP" sz="2400" dirty="0"/>
              <a:t>with</a:t>
            </a:r>
            <a:r>
              <a:rPr lang="ja-JP" altLang="en-US" sz="2400" dirty="0"/>
              <a:t> </a:t>
            </a:r>
            <a:r>
              <a:rPr lang="en-US" altLang="ja-JP" sz="2400" dirty="0"/>
              <a:t>variety</a:t>
            </a:r>
            <a:r>
              <a:rPr lang="ja-JP" altLang="en-US" sz="2400" dirty="0"/>
              <a:t> </a:t>
            </a:r>
            <a:r>
              <a:rPr lang="en-US" altLang="ja-JP" sz="2400" dirty="0"/>
              <a:t>ways</a:t>
            </a:r>
            <a:r>
              <a:rPr lang="ja-JP" altLang="en-US" sz="2400" dirty="0"/>
              <a:t> </a:t>
            </a:r>
            <a:r>
              <a:rPr lang="en-US" altLang="ja-JP" sz="2400" dirty="0"/>
              <a:t>of</a:t>
            </a:r>
            <a:r>
              <a:rPr lang="ja-JP" altLang="en-US" sz="2400" dirty="0"/>
              <a:t> </a:t>
            </a:r>
            <a:r>
              <a:rPr lang="en-US" altLang="ja-JP" sz="2400" dirty="0"/>
              <a:t>visualization.</a:t>
            </a:r>
          </a:p>
          <a:p>
            <a:pPr lvl="1"/>
            <a:r>
              <a:rPr lang="en-US" altLang="ja-JP" sz="2400" dirty="0"/>
              <a:t>Users: KEK, CERN, Facebook, </a:t>
            </a:r>
            <a:r>
              <a:rPr lang="en-US" altLang="ja-JP" sz="2400" dirty="0" err="1"/>
              <a:t>GitHub</a:t>
            </a:r>
            <a:r>
              <a:rPr lang="en-US" altLang="ja-JP" sz="2400" dirty="0"/>
              <a:t>, Stack Exchange, </a:t>
            </a:r>
            <a:r>
              <a:rPr lang="is-IS" altLang="ja-JP" sz="2400" dirty="0"/>
              <a:t>…</a:t>
            </a: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  <p:sp>
        <p:nvSpPr>
          <p:cNvPr id="6" name="円柱 5"/>
          <p:cNvSpPr/>
          <p:nvPr/>
        </p:nvSpPr>
        <p:spPr>
          <a:xfrm>
            <a:off x="3689772" y="4709868"/>
            <a:ext cx="1272072" cy="816004"/>
          </a:xfrm>
          <a:prstGeom prst="can">
            <a:avLst>
              <a:gd name="adj" fmla="val 14993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kumimoji="1" lang="en-US" altLang="ja-JP" sz="2400" dirty="0">
                <a:solidFill>
                  <a:schemeClr val="tx1"/>
                </a:solidFill>
              </a:rPr>
              <a:t>Elastic</a:t>
            </a:r>
          </a:p>
          <a:p>
            <a:pPr algn="ctr">
              <a:lnSpc>
                <a:spcPct val="80000"/>
              </a:lnSpc>
            </a:pPr>
            <a:r>
              <a:rPr kumimoji="1" lang="en-US" altLang="ja-JP" sz="2400" dirty="0">
                <a:solidFill>
                  <a:schemeClr val="tx1"/>
                </a:solidFill>
              </a:rPr>
              <a:t>Search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5410252" y="4902273"/>
            <a:ext cx="1261850" cy="47184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>
                <a:solidFill>
                  <a:srgbClr val="000000"/>
                </a:solidFill>
              </a:rPr>
              <a:t>Kibana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pic>
        <p:nvPicPr>
          <p:cNvPr id="8" name="図 7" descr="servers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993" y="5258369"/>
            <a:ext cx="1688631" cy="816379"/>
          </a:xfrm>
          <a:prstGeom prst="rect">
            <a:avLst/>
          </a:prstGeom>
        </p:spPr>
      </p:pic>
      <p:pic>
        <p:nvPicPr>
          <p:cNvPr id="9" name="図 8" descr="servers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993" y="4256858"/>
            <a:ext cx="1688631" cy="816379"/>
          </a:xfrm>
          <a:prstGeom prst="rect">
            <a:avLst/>
          </a:prstGeom>
        </p:spPr>
      </p:pic>
      <p:pic>
        <p:nvPicPr>
          <p:cNvPr id="12" name="図 11" descr="スクリーンショット 2015-02-24 18.16.33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6946" y="4126719"/>
            <a:ext cx="2067383" cy="172160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3" name="上矢印 12"/>
          <p:cNvSpPr/>
          <p:nvPr/>
        </p:nvSpPr>
        <p:spPr>
          <a:xfrm rot="5400000">
            <a:off x="6422218" y="4997819"/>
            <a:ext cx="943146" cy="270701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上矢印 13"/>
          <p:cNvSpPr/>
          <p:nvPr/>
        </p:nvSpPr>
        <p:spPr>
          <a:xfrm rot="5400000">
            <a:off x="4718700" y="4997820"/>
            <a:ext cx="943146" cy="270701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102268" y="3691920"/>
            <a:ext cx="1781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accent2">
                    <a:lumMod val="75000"/>
                  </a:schemeClr>
                </a:solidFill>
              </a:rPr>
              <a:t>Visualization</a:t>
            </a:r>
          </a:p>
          <a:p>
            <a:pPr algn="ctr"/>
            <a:r>
              <a:rPr lang="en-US" altLang="ja-JP" sz="2400" dirty="0">
                <a:solidFill>
                  <a:schemeClr val="accent2">
                    <a:lumMod val="75000"/>
                  </a:schemeClr>
                </a:solidFill>
              </a:rPr>
              <a:t>tool</a:t>
            </a:r>
            <a:endParaRPr kumimoji="1" lang="ja-JP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419070" y="3691089"/>
            <a:ext cx="1781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accent3">
                    <a:lumMod val="50000"/>
                  </a:schemeClr>
                </a:solidFill>
              </a:rPr>
              <a:t>Search</a:t>
            </a:r>
          </a:p>
          <a:p>
            <a:pPr algn="ctr"/>
            <a:r>
              <a:rPr kumimoji="1" lang="en-US" altLang="ja-JP" sz="2400" dirty="0">
                <a:solidFill>
                  <a:schemeClr val="accent3">
                    <a:lumMod val="50000"/>
                  </a:schemeClr>
                </a:solidFill>
              </a:rPr>
              <a:t>Engine</a:t>
            </a:r>
            <a:endParaRPr kumimoji="1" lang="ja-JP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7127454" y="3665054"/>
            <a:ext cx="1781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Dashboard</a:t>
            </a:r>
            <a:endParaRPr kumimoji="1" lang="ja-JP" altLang="en-US" sz="2400" dirty="0"/>
          </a:p>
        </p:txBody>
      </p:sp>
      <p:cxnSp>
        <p:nvCxnSpPr>
          <p:cNvPr id="20" name="カギ線コネクタ 19"/>
          <p:cNvCxnSpPr>
            <a:stCxn id="12" idx="2"/>
            <a:endCxn id="6" idx="3"/>
          </p:cNvCxnSpPr>
          <p:nvPr/>
        </p:nvCxnSpPr>
        <p:spPr>
          <a:xfrm rot="5400000" flipH="1">
            <a:off x="6011996" y="3839684"/>
            <a:ext cx="322453" cy="3694830"/>
          </a:xfrm>
          <a:prstGeom prst="bentConnector3">
            <a:avLst>
              <a:gd name="adj1" fmla="val -9424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メモ 4"/>
          <p:cNvSpPr/>
          <p:nvPr/>
        </p:nvSpPr>
        <p:spPr>
          <a:xfrm>
            <a:off x="2250832" y="4548031"/>
            <a:ext cx="991192" cy="491084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Logs</a:t>
            </a:r>
            <a:endParaRPr kumimoji="1" lang="ja-JP" altLang="en-US" dirty="0"/>
          </a:p>
        </p:txBody>
      </p:sp>
      <p:sp>
        <p:nvSpPr>
          <p:cNvPr id="23" name="メモ 22"/>
          <p:cNvSpPr/>
          <p:nvPr/>
        </p:nvSpPr>
        <p:spPr>
          <a:xfrm>
            <a:off x="2250832" y="5253459"/>
            <a:ext cx="991192" cy="491084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Metrics</a:t>
            </a:r>
            <a:endParaRPr kumimoji="1" lang="ja-JP" altLang="en-US" dirty="0"/>
          </a:p>
        </p:txBody>
      </p:sp>
      <p:sp>
        <p:nvSpPr>
          <p:cNvPr id="24" name="メモ 23"/>
          <p:cNvSpPr/>
          <p:nvPr/>
        </p:nvSpPr>
        <p:spPr>
          <a:xfrm>
            <a:off x="5545981" y="6002841"/>
            <a:ext cx="1511815" cy="491084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dashboards</a:t>
            </a:r>
            <a:endParaRPr kumimoji="1" lang="ja-JP" altLang="en-US" dirty="0"/>
          </a:p>
        </p:txBody>
      </p:sp>
      <p:cxnSp>
        <p:nvCxnSpPr>
          <p:cNvPr id="25" name="直線矢印コネクタ 24"/>
          <p:cNvCxnSpPr>
            <a:endCxn id="6" idx="2"/>
          </p:cNvCxnSpPr>
          <p:nvPr/>
        </p:nvCxnSpPr>
        <p:spPr>
          <a:xfrm flipV="1">
            <a:off x="1889459" y="5117870"/>
            <a:ext cx="1800313" cy="348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64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9982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Motivation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69544" y="1081448"/>
            <a:ext cx="8822056" cy="3498019"/>
          </a:xfrm>
        </p:spPr>
        <p:txBody>
          <a:bodyPr>
            <a:normAutofit/>
          </a:bodyPr>
          <a:lstStyle/>
          <a:p>
            <a:r>
              <a:rPr lang="en-US" altLang="ja-JP" dirty="0" err="1"/>
              <a:t>Kibana</a:t>
            </a:r>
            <a:r>
              <a:rPr lang="ja-JP" altLang="en-US" dirty="0"/>
              <a:t> </a:t>
            </a:r>
            <a:r>
              <a:rPr lang="en-US" altLang="ja-JP" dirty="0"/>
              <a:t>+</a:t>
            </a:r>
            <a:r>
              <a:rPr lang="ja-JP" altLang="en-US" dirty="0"/>
              <a:t> </a:t>
            </a:r>
            <a:r>
              <a:rPr lang="en-US" altLang="ja-JP" dirty="0" err="1"/>
              <a:t>ElasticSearch</a:t>
            </a:r>
            <a:r>
              <a:rPr lang="ja-JP" altLang="en-US" dirty="0"/>
              <a:t> </a:t>
            </a:r>
            <a:r>
              <a:rPr lang="en-US" altLang="ja-JP" dirty="0">
                <a:solidFill>
                  <a:srgbClr val="FF0000"/>
                </a:solidFill>
              </a:rPr>
              <a:t>lack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access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control feature</a:t>
            </a:r>
          </a:p>
          <a:p>
            <a:r>
              <a:rPr lang="en-US" altLang="ja-JP" dirty="0"/>
              <a:t>Multiple users/groups use single</a:t>
            </a:r>
            <a:r>
              <a:rPr lang="ja-JP" altLang="en-US" dirty="0"/>
              <a:t> </a:t>
            </a:r>
            <a:r>
              <a:rPr lang="en-US" altLang="ja-JP" dirty="0" err="1"/>
              <a:t>Kibana</a:t>
            </a:r>
            <a:r>
              <a:rPr lang="en-US" altLang="ja-JP" dirty="0"/>
              <a:t> + </a:t>
            </a:r>
            <a:r>
              <a:rPr lang="en-US" altLang="ja-JP" dirty="0" err="1"/>
              <a:t>ElasticSearch</a:t>
            </a:r>
            <a:endParaRPr lang="en-US" altLang="ja-JP" dirty="0"/>
          </a:p>
          <a:p>
            <a:pPr lvl="1"/>
            <a:r>
              <a:rPr lang="en-US" altLang="ja-JP" dirty="0"/>
              <a:t>Any</a:t>
            </a:r>
            <a:r>
              <a:rPr lang="ja-JP" altLang="en-US" dirty="0"/>
              <a:t> </a:t>
            </a:r>
            <a:r>
              <a:rPr lang="en-US" altLang="ja-JP" dirty="0"/>
              <a:t>user can access to all</a:t>
            </a:r>
            <a:r>
              <a:rPr lang="ja-JP" altLang="en-US" dirty="0"/>
              <a:t> </a:t>
            </a:r>
            <a:r>
              <a:rPr lang="en-US" altLang="ja-JP" dirty="0" err="1"/>
              <a:t>ElasticSearch</a:t>
            </a:r>
            <a:r>
              <a:rPr lang="en-US" altLang="ja-JP" dirty="0"/>
              <a:t> data</a:t>
            </a:r>
          </a:p>
          <a:p>
            <a:pPr lvl="1"/>
            <a:r>
              <a:rPr lang="en-US" altLang="ja-JP" dirty="0"/>
              <a:t>Need</a:t>
            </a:r>
            <a:r>
              <a:rPr lang="ja-JP" altLang="en-US" dirty="0"/>
              <a:t> </a:t>
            </a:r>
            <a:r>
              <a:rPr lang="en-US" altLang="ja-JP" dirty="0"/>
              <a:t>access</a:t>
            </a:r>
            <a:r>
              <a:rPr lang="ja-JP" altLang="en-US" dirty="0"/>
              <a:t> </a:t>
            </a:r>
            <a:r>
              <a:rPr lang="en-US" altLang="ja-JP" dirty="0"/>
              <a:t>control</a:t>
            </a:r>
          </a:p>
        </p:txBody>
      </p:sp>
      <p:pic>
        <p:nvPicPr>
          <p:cNvPr id="5" name="図 4" descr="MC90043394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122" y="3942654"/>
            <a:ext cx="893706" cy="89370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3225534" y="4318738"/>
            <a:ext cx="1067012" cy="213464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2400" dirty="0" err="1">
                <a:solidFill>
                  <a:srgbClr val="000000"/>
                </a:solidFill>
              </a:rPr>
              <a:t>Kibana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480227" y="4318738"/>
            <a:ext cx="4401550" cy="213464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2400" dirty="0" err="1">
                <a:solidFill>
                  <a:srgbClr val="000000"/>
                </a:solidFill>
              </a:rPr>
              <a:t>Elastic</a:t>
            </a:r>
            <a:r>
              <a:rPr lang="en-US" altLang="ja-JP" sz="2400" dirty="0" err="1">
                <a:solidFill>
                  <a:srgbClr val="000000"/>
                </a:solidFill>
              </a:rPr>
              <a:t>Search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9" name="対角する 2 つの角を丸めた四角形 8"/>
          <p:cNvSpPr/>
          <p:nvPr/>
        </p:nvSpPr>
        <p:spPr>
          <a:xfrm>
            <a:off x="4633885" y="4799057"/>
            <a:ext cx="1606671" cy="793434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rgbClr val="000000"/>
                </a:solidFill>
              </a:rPr>
              <a:t>User01</a:t>
            </a:r>
          </a:p>
          <a:p>
            <a:pPr algn="ctr"/>
            <a:r>
              <a:rPr lang="en-US" altLang="ja-JP" sz="2400" dirty="0">
                <a:solidFill>
                  <a:srgbClr val="000000"/>
                </a:solidFill>
              </a:rPr>
              <a:t>dashboard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10" name="対角する 2 つの角を丸めた四角形 9"/>
          <p:cNvSpPr/>
          <p:nvPr/>
        </p:nvSpPr>
        <p:spPr>
          <a:xfrm>
            <a:off x="4633884" y="5673561"/>
            <a:ext cx="2205491" cy="777440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rgbClr val="000000"/>
                </a:solidFill>
              </a:rPr>
              <a:t>User01 </a:t>
            </a:r>
            <a:r>
              <a:rPr kumimoji="1" lang="en-US" altLang="ja-JP" sz="2400" dirty="0">
                <a:solidFill>
                  <a:srgbClr val="FF0000"/>
                </a:solidFill>
              </a:rPr>
              <a:t>SECRET</a:t>
            </a:r>
          </a:p>
          <a:p>
            <a:pPr algn="ctr"/>
            <a:r>
              <a:rPr lang="en-US" altLang="ja-JP" sz="2400" dirty="0">
                <a:solidFill>
                  <a:srgbClr val="000000"/>
                </a:solidFill>
              </a:rPr>
              <a:t>data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8055468" y="4915126"/>
            <a:ext cx="826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・・・</a:t>
            </a:r>
          </a:p>
        </p:txBody>
      </p:sp>
      <p:sp>
        <p:nvSpPr>
          <p:cNvPr id="12" name="対角する 2 つの角を丸めた四角形 11"/>
          <p:cNvSpPr/>
          <p:nvPr/>
        </p:nvSpPr>
        <p:spPr>
          <a:xfrm>
            <a:off x="6448797" y="4788029"/>
            <a:ext cx="1606671" cy="793434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rgbClr val="000000"/>
                </a:solidFill>
              </a:rPr>
              <a:t>User02</a:t>
            </a:r>
          </a:p>
          <a:p>
            <a:pPr algn="ctr"/>
            <a:r>
              <a:rPr lang="en-US" altLang="ja-JP" sz="2400" dirty="0">
                <a:solidFill>
                  <a:srgbClr val="000000"/>
                </a:solidFill>
              </a:rPr>
              <a:t>dashboard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839376" y="5793639"/>
            <a:ext cx="826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・・・</a:t>
            </a:r>
          </a:p>
        </p:txBody>
      </p:sp>
      <p:pic>
        <p:nvPicPr>
          <p:cNvPr id="14" name="図 13" descr="MC900433941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14" y="5327134"/>
            <a:ext cx="893706" cy="893706"/>
          </a:xfrm>
          <a:prstGeom prst="rect">
            <a:avLst/>
          </a:prstGeom>
        </p:spPr>
      </p:pic>
      <p:sp>
        <p:nvSpPr>
          <p:cNvPr id="15" name="テキスト ボックス 14"/>
          <p:cNvSpPr txBox="1"/>
          <p:nvPr/>
        </p:nvSpPr>
        <p:spPr>
          <a:xfrm>
            <a:off x="356262" y="4752252"/>
            <a:ext cx="118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User01</a:t>
            </a:r>
            <a:endParaRPr kumimoji="1" lang="ja-JP" altLang="en-US" sz="24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56262" y="6161505"/>
            <a:ext cx="118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User02</a:t>
            </a:r>
            <a:endParaRPr kumimoji="1" lang="ja-JP" altLang="en-US" sz="2400" dirty="0"/>
          </a:p>
        </p:txBody>
      </p:sp>
      <p:cxnSp>
        <p:nvCxnSpPr>
          <p:cNvPr id="18" name="直線矢印コネクタ 17"/>
          <p:cNvCxnSpPr>
            <a:stCxn id="5" idx="3"/>
            <a:endCxn id="9" idx="2"/>
          </p:cNvCxnSpPr>
          <p:nvPr/>
        </p:nvCxnSpPr>
        <p:spPr>
          <a:xfrm>
            <a:off x="1428828" y="4389507"/>
            <a:ext cx="3205057" cy="80626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>
            <a:stCxn id="5" idx="3"/>
            <a:endCxn id="10" idx="2"/>
          </p:cNvCxnSpPr>
          <p:nvPr/>
        </p:nvCxnSpPr>
        <p:spPr>
          <a:xfrm>
            <a:off x="1428828" y="4389507"/>
            <a:ext cx="3205056" cy="16727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>
            <a:stCxn id="14" idx="3"/>
          </p:cNvCxnSpPr>
          <p:nvPr/>
        </p:nvCxnSpPr>
        <p:spPr>
          <a:xfrm flipV="1">
            <a:off x="1333020" y="5327134"/>
            <a:ext cx="3300865" cy="44685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>
            <a:stCxn id="14" idx="3"/>
          </p:cNvCxnSpPr>
          <p:nvPr/>
        </p:nvCxnSpPr>
        <p:spPr>
          <a:xfrm>
            <a:off x="1333020" y="5773987"/>
            <a:ext cx="3300864" cy="44685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スライド番号プレースホルダー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09F4-8749-0240-B758-A6A8F883AB4F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爆発 1 3"/>
          <p:cNvSpPr/>
          <p:nvPr/>
        </p:nvSpPr>
        <p:spPr>
          <a:xfrm>
            <a:off x="1661346" y="5273470"/>
            <a:ext cx="1892515" cy="1120109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Problem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5319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211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Example:</a:t>
            </a:r>
            <a:r>
              <a:rPr lang="ja-JP" altLang="en-US" dirty="0"/>
              <a:t> </a:t>
            </a:r>
            <a:r>
              <a:rPr lang="en-US" altLang="ja-JP" dirty="0"/>
              <a:t>Solution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  <a:r>
              <a:rPr lang="ja-JP" altLang="en-US" dirty="0"/>
              <a:t> </a:t>
            </a:r>
            <a:r>
              <a:rPr lang="en-US" altLang="ja-JP" dirty="0"/>
              <a:t>CERN</a:t>
            </a:r>
            <a:r>
              <a:rPr lang="ja-JP" altLang="en-US" dirty="0"/>
              <a:t> </a:t>
            </a:r>
            <a:r>
              <a:rPr lang="en-US" altLang="ja-JP" dirty="0"/>
              <a:t>Cloud</a:t>
            </a:r>
            <a:r>
              <a:rPr lang="ja-JP" altLang="en-US" dirty="0"/>
              <a:t> </a:t>
            </a:r>
            <a:r>
              <a:rPr lang="en-US" altLang="ja-JP" dirty="0"/>
              <a:t>team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49560" y="1198801"/>
            <a:ext cx="8827269" cy="1589632"/>
          </a:xfrm>
        </p:spPr>
        <p:txBody>
          <a:bodyPr>
            <a:noAutofit/>
          </a:bodyPr>
          <a:lstStyle/>
          <a:p>
            <a:r>
              <a:rPr lang="en-US" altLang="ja-JP" sz="2800" dirty="0"/>
              <a:t>Provided</a:t>
            </a:r>
            <a:r>
              <a:rPr lang="ja-JP" altLang="en-US" sz="2800" dirty="0"/>
              <a:t> </a:t>
            </a:r>
            <a:r>
              <a:rPr lang="en-US" altLang="ja-JP" sz="2800" dirty="0"/>
              <a:t>cloud</a:t>
            </a:r>
            <a:r>
              <a:rPr lang="ja-JP" altLang="en-US" sz="2800" dirty="0"/>
              <a:t> </a:t>
            </a:r>
            <a:r>
              <a:rPr lang="en-US" altLang="ja-JP" sz="2800" dirty="0"/>
              <a:t>utilization</a:t>
            </a:r>
            <a:r>
              <a:rPr lang="ja-JP" altLang="en-US" sz="2800" dirty="0"/>
              <a:t> </a:t>
            </a:r>
            <a:r>
              <a:rPr lang="en-US" altLang="ja-JP" sz="2800" dirty="0"/>
              <a:t>dashboard</a:t>
            </a:r>
            <a:r>
              <a:rPr lang="ja-JP" altLang="en-US" sz="2800" dirty="0"/>
              <a:t> </a:t>
            </a:r>
            <a:r>
              <a:rPr lang="en-US" altLang="ja-JP" sz="2800" dirty="0"/>
              <a:t>to</a:t>
            </a:r>
            <a:r>
              <a:rPr lang="ja-JP" altLang="en-US" sz="2800" dirty="0"/>
              <a:t> </a:t>
            </a:r>
            <a:r>
              <a:rPr lang="en-US" altLang="ja-JP" sz="2800" dirty="0"/>
              <a:t>each</a:t>
            </a:r>
            <a:r>
              <a:rPr lang="ja-JP" altLang="en-US" sz="2800" dirty="0"/>
              <a:t> </a:t>
            </a:r>
            <a:r>
              <a:rPr lang="en-US" altLang="ja-JP" sz="2800" dirty="0"/>
              <a:t>cloud</a:t>
            </a:r>
            <a:r>
              <a:rPr lang="ja-JP" altLang="en-US" sz="2800" dirty="0"/>
              <a:t> </a:t>
            </a:r>
            <a:r>
              <a:rPr lang="en-US" altLang="ja-JP" sz="2800" dirty="0"/>
              <a:t>user</a:t>
            </a:r>
          </a:p>
          <a:p>
            <a:r>
              <a:rPr lang="en-US" altLang="ja-JP" sz="2800" dirty="0"/>
              <a:t>Developed an ES</a:t>
            </a:r>
            <a:r>
              <a:rPr lang="ja-JP" altLang="en-US" sz="2800" dirty="0"/>
              <a:t> </a:t>
            </a:r>
            <a:r>
              <a:rPr lang="en-US" altLang="ja-JP" sz="2800" dirty="0"/>
              <a:t>p</a:t>
            </a:r>
            <a:r>
              <a:rPr kumimoji="1" lang="en-US" altLang="ja-JP" sz="2800" dirty="0"/>
              <a:t>lugin </a:t>
            </a:r>
            <a:r>
              <a:rPr lang="en-US" altLang="ja-JP" sz="2800" dirty="0"/>
              <a:t>which</a:t>
            </a:r>
            <a:r>
              <a:rPr kumimoji="1" lang="en-US" altLang="ja-JP" sz="2800" dirty="0"/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provides</a:t>
            </a:r>
            <a:r>
              <a:rPr kumimoji="1" lang="en-US" altLang="ja-JP" sz="2800" dirty="0">
                <a:solidFill>
                  <a:srgbClr val="FF0000"/>
                </a:solidFill>
              </a:rPr>
              <a:t> user specific </a:t>
            </a:r>
            <a:r>
              <a:rPr lang="en-US" altLang="ja-JP" sz="2800" dirty="0">
                <a:solidFill>
                  <a:srgbClr val="FF0000"/>
                </a:solidFill>
              </a:rPr>
              <a:t>filter</a:t>
            </a:r>
            <a:endParaRPr lang="en-US" altLang="ja-JP" sz="2800" dirty="0"/>
          </a:p>
          <a:p>
            <a:r>
              <a:rPr lang="en-US" altLang="ja-JP" sz="2800" dirty="0"/>
              <a:t>User only gets </a:t>
            </a:r>
            <a:r>
              <a:rPr lang="en-US" altLang="ja-JP" sz="2800" dirty="0">
                <a:solidFill>
                  <a:srgbClr val="FF0000"/>
                </a:solidFill>
              </a:rPr>
              <a:t>own cloud tenants</a:t>
            </a:r>
            <a:r>
              <a:rPr lang="ja-JP" altLang="en-US" sz="2800" dirty="0">
                <a:solidFill>
                  <a:srgbClr val="FF0000"/>
                </a:solidFill>
              </a:rPr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utilization</a:t>
            </a:r>
          </a:p>
        </p:txBody>
      </p:sp>
      <p:pic>
        <p:nvPicPr>
          <p:cNvPr id="6" name="図 5" descr="MC90043394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53" y="3947543"/>
            <a:ext cx="658830" cy="658830"/>
          </a:xfrm>
          <a:prstGeom prst="rect">
            <a:avLst/>
          </a:prstGeom>
        </p:spPr>
      </p:pic>
      <p:sp>
        <p:nvSpPr>
          <p:cNvPr id="8" name="右矢印 7"/>
          <p:cNvSpPr/>
          <p:nvPr/>
        </p:nvSpPr>
        <p:spPr>
          <a:xfrm>
            <a:off x="821631" y="4164036"/>
            <a:ext cx="613631" cy="44233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右矢印 8"/>
          <p:cNvSpPr/>
          <p:nvPr/>
        </p:nvSpPr>
        <p:spPr>
          <a:xfrm>
            <a:off x="4595907" y="4135902"/>
            <a:ext cx="613631" cy="44233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右矢印 9"/>
          <p:cNvSpPr/>
          <p:nvPr/>
        </p:nvSpPr>
        <p:spPr>
          <a:xfrm>
            <a:off x="6305492" y="4164036"/>
            <a:ext cx="613631" cy="44233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504288" y="3568753"/>
            <a:ext cx="803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query</a:t>
            </a:r>
            <a:endParaRPr kumimoji="1" lang="ja-JP" altLang="en-US" sz="20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969505" y="3581983"/>
            <a:ext cx="1199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query</a:t>
            </a:r>
            <a:endParaRPr kumimoji="1" lang="ja-JP" altLang="en-US" sz="20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3189504" y="2973433"/>
            <a:ext cx="6100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Appends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</a:rPr>
              <a:t>tenant_id</a:t>
            </a:r>
            <a:r>
              <a:rPr lang="en-US" altLang="ja-JP" sz="2400" dirty="0">
                <a:solidFill>
                  <a:srgbClr val="FF0000"/>
                </a:solidFill>
              </a:rPr>
              <a:t>=“1234567890”</a:t>
            </a:r>
            <a:r>
              <a:rPr kumimoji="1" lang="en-US" altLang="ja-JP" sz="2400" dirty="0">
                <a:solidFill>
                  <a:srgbClr val="FF0000"/>
                </a:solidFill>
              </a:rPr>
              <a:t> </a:t>
            </a:r>
            <a:r>
              <a:rPr kumimoji="1" lang="en-US" altLang="ja-JP" sz="2400" dirty="0">
                <a:solidFill>
                  <a:srgbClr val="000000"/>
                </a:solidFill>
              </a:rPr>
              <a:t>condition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20" name="メモ 19"/>
          <p:cNvSpPr/>
          <p:nvPr/>
        </p:nvSpPr>
        <p:spPr>
          <a:xfrm>
            <a:off x="1271571" y="5688164"/>
            <a:ext cx="6628057" cy="110762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ja-JP" dirty="0"/>
              <a:t>#</a:t>
            </a:r>
            <a:r>
              <a:rPr lang="en-US" altLang="ja-JP" dirty="0" err="1"/>
              <a:t>userid</a:t>
            </a:r>
            <a:r>
              <a:rPr lang="en-US" altLang="ja-JP" dirty="0"/>
              <a:t>	</a:t>
            </a:r>
            <a:r>
              <a:rPr lang="en-US" altLang="ja-JP" dirty="0" err="1"/>
              <a:t>admin_flag</a:t>
            </a:r>
            <a:r>
              <a:rPr lang="en-US" altLang="ja-JP" dirty="0"/>
              <a:t>	</a:t>
            </a:r>
            <a:r>
              <a:rPr lang="en-US" altLang="ja-JP" dirty="0" err="1"/>
              <a:t>tenant_id</a:t>
            </a:r>
            <a:r>
              <a:rPr lang="en-US" altLang="ja-JP" dirty="0"/>
              <a:t>	</a:t>
            </a:r>
          </a:p>
          <a:p>
            <a:r>
              <a:rPr kumimoji="1" lang="en-US" altLang="ja-JP" dirty="0"/>
              <a:t>user01	0			1234567890</a:t>
            </a:r>
            <a:endParaRPr lang="hu-HU" altLang="ja-JP" dirty="0"/>
          </a:p>
          <a:p>
            <a:r>
              <a:rPr kumimoji="1" lang="hu-HU" altLang="ja-JP" dirty="0"/>
              <a:t>...</a:t>
            </a:r>
            <a:r>
              <a:rPr kumimoji="1" lang="en-US" altLang="ja-JP" dirty="0"/>
              <a:t>			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/>
        </p:nvSpPr>
        <p:spPr>
          <a:xfrm>
            <a:off x="3419567" y="3882960"/>
            <a:ext cx="1086086" cy="95811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>
                <a:solidFill>
                  <a:srgbClr val="000000"/>
                </a:solidFill>
              </a:rPr>
              <a:t>Kibana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6927454" y="3888384"/>
            <a:ext cx="859329" cy="95811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rgbClr val="000000"/>
                </a:solidFill>
              </a:rPr>
              <a:t>ES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5257574" y="3888385"/>
            <a:ext cx="985782" cy="95811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rgbClr val="000000"/>
                </a:solidFill>
              </a:rPr>
              <a:t>ES</a:t>
            </a:r>
          </a:p>
          <a:p>
            <a:pPr algn="ctr"/>
            <a:r>
              <a:rPr lang="en-US" altLang="ja-JP" sz="2400" dirty="0">
                <a:solidFill>
                  <a:srgbClr val="000000"/>
                </a:solidFill>
              </a:rPr>
              <a:t>plugin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1449793" y="3888384"/>
            <a:ext cx="859329" cy="95811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rgbClr val="000000"/>
                </a:solidFill>
              </a:rPr>
              <a:t>CERN</a:t>
            </a:r>
          </a:p>
          <a:p>
            <a:pPr algn="ctr"/>
            <a:r>
              <a:rPr lang="en-US" altLang="ja-JP" sz="2400" dirty="0">
                <a:solidFill>
                  <a:srgbClr val="000000"/>
                </a:solidFill>
              </a:rPr>
              <a:t>SSO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30" name="対角する 2 つの角を丸めた四角形 29"/>
          <p:cNvSpPr/>
          <p:nvPr/>
        </p:nvSpPr>
        <p:spPr>
          <a:xfrm>
            <a:off x="7666282" y="3481718"/>
            <a:ext cx="1342662" cy="596773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000000"/>
                </a:solidFill>
              </a:rPr>
              <a:t>dashboards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31" name="対角する 2 つの角を丸めた四角形 30"/>
          <p:cNvSpPr/>
          <p:nvPr/>
        </p:nvSpPr>
        <p:spPr>
          <a:xfrm>
            <a:off x="7661267" y="4218346"/>
            <a:ext cx="1342662" cy="783309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000000"/>
                </a:solidFill>
              </a:rPr>
              <a:t>Cloud</a:t>
            </a:r>
            <a:r>
              <a:rPr lang="ja-JP" altLang="en-US" dirty="0">
                <a:solidFill>
                  <a:srgbClr val="000000"/>
                </a:solidFill>
              </a:rPr>
              <a:t> </a:t>
            </a:r>
            <a:r>
              <a:rPr lang="en-US" altLang="ja-JP" dirty="0">
                <a:solidFill>
                  <a:srgbClr val="000000"/>
                </a:solidFill>
              </a:rPr>
              <a:t>utilizations</a:t>
            </a:r>
            <a:endParaRPr kumimoji="1" lang="en-US" altLang="ja-JP" dirty="0">
              <a:solidFill>
                <a:srgbClr val="000000"/>
              </a:solidFill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85273" y="5309222"/>
            <a:ext cx="28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user-tenant mapping file</a:t>
            </a:r>
            <a:endParaRPr kumimoji="1" lang="ja-JP" altLang="en-US" sz="2000" dirty="0"/>
          </a:p>
        </p:txBody>
      </p:sp>
      <p:sp>
        <p:nvSpPr>
          <p:cNvPr id="33" name="正方形/長方形 32"/>
          <p:cNvSpPr/>
          <p:nvPr/>
        </p:nvSpPr>
        <p:spPr>
          <a:xfrm>
            <a:off x="2409575" y="3882960"/>
            <a:ext cx="933686" cy="9581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 err="1">
                <a:solidFill>
                  <a:srgbClr val="000000"/>
                </a:solidFill>
              </a:rPr>
              <a:t>Httpd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cxnSp>
        <p:nvCxnSpPr>
          <p:cNvPr id="18" name="曲線コネクタ 17"/>
          <p:cNvCxnSpPr>
            <a:stCxn id="33" idx="2"/>
            <a:endCxn id="23" idx="2"/>
          </p:cNvCxnSpPr>
          <p:nvPr/>
        </p:nvCxnSpPr>
        <p:spPr>
          <a:xfrm rot="16200000" flipH="1">
            <a:off x="4310729" y="3406759"/>
            <a:ext cx="5425" cy="2874047"/>
          </a:xfrm>
          <a:prstGeom prst="curvedConnector3">
            <a:avLst>
              <a:gd name="adj1" fmla="val 431382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/>
          <p:cNvSpPr/>
          <p:nvPr/>
        </p:nvSpPr>
        <p:spPr>
          <a:xfrm>
            <a:off x="3661791" y="4954175"/>
            <a:ext cx="1795613" cy="3697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000000"/>
                </a:solidFill>
              </a:rPr>
              <a:t>username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09F4-8749-0240-B758-A6A8F883AB4F}" type="slidenum">
              <a:rPr kumimoji="1" lang="ja-JP" altLang="en-US" smtClean="0"/>
              <a:t>4</a:t>
            </a:fld>
            <a:endParaRPr kumimoji="1" lang="ja-JP" altLang="en-US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6523668" y="3396323"/>
            <a:ext cx="0" cy="3142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-52777" y="4604124"/>
            <a:ext cx="119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user01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8370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-15936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We</a:t>
            </a:r>
            <a:r>
              <a:rPr kumimoji="1" lang="ja-JP" altLang="en-US" dirty="0"/>
              <a:t> </a:t>
            </a:r>
            <a:r>
              <a:rPr kumimoji="1" lang="en-US" altLang="ja-JP" dirty="0"/>
              <a:t>Provide </a:t>
            </a:r>
            <a:r>
              <a:rPr lang="en-US" altLang="ja-JP" dirty="0"/>
              <a:t>A</a:t>
            </a:r>
            <a:r>
              <a:rPr kumimoji="1" lang="en-US" altLang="ja-JP" dirty="0"/>
              <a:t>lternative </a:t>
            </a:r>
            <a:r>
              <a:rPr lang="en-US" altLang="ja-JP" dirty="0"/>
              <a:t>S</a:t>
            </a:r>
            <a:r>
              <a:rPr kumimoji="1" lang="en-US" altLang="ja-JP" dirty="0"/>
              <a:t>olution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077083"/>
            <a:ext cx="8229600" cy="1120552"/>
          </a:xfrm>
        </p:spPr>
        <p:txBody>
          <a:bodyPr>
            <a:noAutofit/>
          </a:bodyPr>
          <a:lstStyle/>
          <a:p>
            <a:r>
              <a:rPr lang="en-US" altLang="ja-JP" sz="2800" dirty="0"/>
              <a:t>Based</a:t>
            </a:r>
            <a:r>
              <a:rPr kumimoji="1" lang="ja-JP" altLang="en-US" sz="2800" dirty="0"/>
              <a:t> </a:t>
            </a:r>
            <a:r>
              <a:rPr lang="ja-JP" altLang="ja-JP" sz="2800" dirty="0"/>
              <a:t>o</a:t>
            </a:r>
            <a:r>
              <a:rPr lang="en-US" altLang="ja-JP" sz="2800" dirty="0"/>
              <a:t>n</a:t>
            </a:r>
            <a:r>
              <a:rPr lang="ja-JP" altLang="en-US" sz="2800" dirty="0"/>
              <a:t> </a:t>
            </a:r>
            <a:r>
              <a:rPr lang="ja-JP" altLang="ja-JP" sz="2800" dirty="0"/>
              <a:t>t</a:t>
            </a:r>
            <a:r>
              <a:rPr lang="en-US" altLang="ja-JP" sz="2800" dirty="0"/>
              <a:t>he</a:t>
            </a:r>
            <a:r>
              <a:rPr lang="ja-JP" altLang="en-US" sz="2800" dirty="0"/>
              <a:t> </a:t>
            </a:r>
            <a:r>
              <a:rPr lang="en-US" altLang="ja-JP" sz="2800" dirty="0"/>
              <a:t>CERN’s</a:t>
            </a:r>
            <a:r>
              <a:rPr lang="ja-JP" altLang="en-US" sz="2800" dirty="0"/>
              <a:t> </a:t>
            </a:r>
            <a:r>
              <a:rPr lang="en-US" altLang="ja-JP" sz="2800" dirty="0"/>
              <a:t>solution</a:t>
            </a:r>
          </a:p>
          <a:p>
            <a:r>
              <a:rPr kumimoji="1" lang="en-US" altLang="ja-JP" sz="2800" dirty="0"/>
              <a:t>Enables access restriction on </a:t>
            </a:r>
            <a:r>
              <a:rPr kumimoji="1" lang="en-US" altLang="ja-JP" sz="2800" dirty="0" err="1"/>
              <a:t>ElasticSearch</a:t>
            </a:r>
            <a:r>
              <a:rPr kumimoji="1" lang="en-US" altLang="ja-JP" sz="2800" dirty="0"/>
              <a:t> and </a:t>
            </a:r>
            <a:r>
              <a:rPr kumimoji="1" lang="en-US" altLang="ja-JP" sz="2800" dirty="0" err="1"/>
              <a:t>Kibana</a:t>
            </a:r>
            <a:r>
              <a:rPr kumimoji="1" lang="en-US" altLang="ja-JP" sz="2800" dirty="0"/>
              <a:t> dashboard separation.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38588"/>
              </p:ext>
            </p:extLst>
          </p:nvPr>
        </p:nvGraphicFramePr>
        <p:xfrm>
          <a:off x="582402" y="2613425"/>
          <a:ext cx="807421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CERN’s</a:t>
                      </a:r>
                      <a:r>
                        <a:rPr kumimoji="1" lang="ja-JP" altLang="en-US" sz="2400" dirty="0"/>
                        <a:t> </a:t>
                      </a:r>
                      <a:r>
                        <a:rPr kumimoji="1" lang="en-US" altLang="ja-JP" sz="2400" dirty="0"/>
                        <a:t>solution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Our</a:t>
                      </a:r>
                      <a:r>
                        <a:rPr kumimoji="1" lang="ja-JP" altLang="en-US" sz="2400" dirty="0"/>
                        <a:t> </a:t>
                      </a:r>
                      <a:r>
                        <a:rPr kumimoji="1" lang="en-US" altLang="ja-JP" sz="2400" dirty="0"/>
                        <a:t>solution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>
                          <a:solidFill>
                            <a:schemeClr val="tx1"/>
                          </a:solidFill>
                        </a:rPr>
                        <a:t>SSO integration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Shibboleth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Kerberos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>
                          <a:solidFill>
                            <a:schemeClr val="tx1"/>
                          </a:solidFill>
                        </a:rPr>
                        <a:t>ElasticSearch</a:t>
                      </a:r>
                      <a:r>
                        <a:rPr kumimoji="1" lang="en-US" altLang="ja-JP" sz="2400" b="0" dirty="0">
                          <a:solidFill>
                            <a:schemeClr val="tx1"/>
                          </a:solidFill>
                        </a:rPr>
                        <a:t> plugin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Homemade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err="1"/>
                        <a:t>SearchGuard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>
                          <a:solidFill>
                            <a:schemeClr val="tx1"/>
                          </a:solidFill>
                        </a:rPr>
                        <a:t>ElasticSearch</a:t>
                      </a:r>
                      <a:endParaRPr kumimoji="1" lang="en-US" altLang="ja-JP" sz="2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2400" b="0" dirty="0">
                          <a:solidFill>
                            <a:schemeClr val="tx1"/>
                          </a:solidFill>
                        </a:rPr>
                        <a:t>Access restriction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User based;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Document level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User/group based;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Index, type, operation, document level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>
                          <a:solidFill>
                            <a:schemeClr val="tx1"/>
                          </a:solidFill>
                        </a:rPr>
                        <a:t>Kibana</a:t>
                      </a:r>
                      <a:endParaRPr kumimoji="1" lang="en-US" altLang="ja-JP" sz="2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2400" b="0" dirty="0">
                          <a:solidFill>
                            <a:schemeClr val="tx1"/>
                          </a:solidFill>
                        </a:rPr>
                        <a:t>Dashboard separation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Per user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Per user/group</a:t>
                      </a:r>
                    </a:p>
                    <a:p>
                      <a:pPr algn="ctr"/>
                      <a:r>
                        <a:rPr kumimoji="1" lang="en-US" altLang="ja-JP" sz="2400" dirty="0">
                          <a:solidFill>
                            <a:srgbClr val="FF0000"/>
                          </a:solidFill>
                        </a:rPr>
                        <a:t>(Created </a:t>
                      </a:r>
                      <a:r>
                        <a:rPr kumimoji="1" lang="en-US" altLang="ja-JP" sz="2400" dirty="0" err="1">
                          <a:solidFill>
                            <a:srgbClr val="FF0000"/>
                          </a:solidFill>
                        </a:rPr>
                        <a:t>Kibana</a:t>
                      </a:r>
                      <a:r>
                        <a:rPr kumimoji="1" lang="en-US" altLang="ja-JP" sz="2400" dirty="0">
                          <a:solidFill>
                            <a:srgbClr val="FF0000"/>
                          </a:solidFill>
                        </a:rPr>
                        <a:t> plugin)</a:t>
                      </a:r>
                      <a:endParaRPr kumimoji="1" lang="ja-JP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09F4-8749-0240-B758-A6A8F883AB4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02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71406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/>
              <a:t>What </a:t>
            </a:r>
            <a:r>
              <a:rPr lang="ja-JP" altLang="ja-JP" dirty="0"/>
              <a:t>w</a:t>
            </a:r>
            <a:r>
              <a:rPr lang="en-US" altLang="ja-JP" dirty="0"/>
              <a:t>e</a:t>
            </a:r>
            <a:r>
              <a:rPr lang="ja-JP" altLang="en-US" dirty="0"/>
              <a:t> </a:t>
            </a:r>
            <a:r>
              <a:rPr lang="ja-JP" altLang="ja-JP" dirty="0"/>
              <a:t>d</a:t>
            </a:r>
            <a:r>
              <a:rPr lang="en-US" altLang="ja-JP" dirty="0"/>
              <a:t>id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940073"/>
            <a:ext cx="8229600" cy="415989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Kerberos 5 authentication integration.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Development of</a:t>
            </a:r>
            <a:r>
              <a:rPr kumimoji="1" lang="ja-JP" altLang="en-US" dirty="0"/>
              <a:t> </a:t>
            </a:r>
            <a:r>
              <a:rPr kumimoji="1" lang="en-US" altLang="ja-JP" dirty="0"/>
              <a:t>a </a:t>
            </a:r>
            <a:r>
              <a:rPr kumimoji="1" lang="en-US" altLang="ja-JP" dirty="0" err="1"/>
              <a:t>Kibana</a:t>
            </a:r>
            <a:r>
              <a:rPr kumimoji="1" lang="en-US" altLang="ja-JP" dirty="0"/>
              <a:t> plugin which makes it possible to separate </a:t>
            </a:r>
            <a:r>
              <a:rPr kumimoji="1" lang="en-US" altLang="ja-JP" dirty="0" err="1"/>
              <a:t>Kibana</a:t>
            </a:r>
            <a:r>
              <a:rPr kumimoji="1" lang="en-US" altLang="ja-JP" dirty="0"/>
              <a:t> dashboards based on user/group.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User/group based access control </a:t>
            </a:r>
            <a:r>
              <a:rPr lang="en-US" altLang="ja-JP" dirty="0"/>
              <a:t>on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ElasticSearch</a:t>
            </a:r>
            <a:r>
              <a:rPr kumimoji="1" lang="en-US" altLang="ja-JP" dirty="0"/>
              <a:t> by </a:t>
            </a:r>
            <a:r>
              <a:rPr kumimoji="1" lang="en-US" altLang="ja-JP" dirty="0" err="1"/>
              <a:t>SearchGuard</a:t>
            </a:r>
            <a:r>
              <a:rPr kumimoji="1" lang="en-US" altLang="ja-JP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Measurement on</a:t>
            </a:r>
            <a:r>
              <a:rPr kumimoji="1" lang="ja-JP" altLang="en-US" dirty="0"/>
              <a:t> </a:t>
            </a:r>
            <a:r>
              <a:rPr kumimoji="1" lang="en-US" altLang="ja-JP" dirty="0"/>
              <a:t>performance</a:t>
            </a:r>
            <a:r>
              <a:rPr kumimoji="1" lang="ja-JP" altLang="en-US" dirty="0"/>
              <a:t> </a:t>
            </a:r>
            <a:r>
              <a:rPr kumimoji="1" lang="en-US" altLang="ja-JP" dirty="0"/>
              <a:t>deterioration from</a:t>
            </a:r>
            <a:r>
              <a:rPr kumimoji="1" lang="ja-JP" altLang="en-US" dirty="0"/>
              <a:t> </a:t>
            </a:r>
            <a:r>
              <a:rPr kumimoji="1" lang="en-US" altLang="ja-JP" dirty="0"/>
              <a:t>using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SearchGuard</a:t>
            </a:r>
            <a:r>
              <a:rPr kumimoji="1" lang="en-US" altLang="ja-JP" dirty="0"/>
              <a:t>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09F4-8749-0240-B758-A6A8F883AB4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62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kerberos_integratio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484" y="1974496"/>
            <a:ext cx="8510937" cy="3877701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083" y="274638"/>
            <a:ext cx="8649621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1.</a:t>
            </a:r>
            <a:r>
              <a:rPr lang="ja-JP" altLang="en-US" dirty="0"/>
              <a:t> </a:t>
            </a:r>
            <a:r>
              <a:rPr lang="en-US" altLang="ja-JP" dirty="0"/>
              <a:t>Kerberos</a:t>
            </a:r>
            <a:r>
              <a:rPr lang="ja-JP" altLang="en-US" dirty="0"/>
              <a:t> </a:t>
            </a:r>
            <a:r>
              <a:rPr lang="en-US" altLang="ja-JP" dirty="0"/>
              <a:t>5</a:t>
            </a:r>
            <a:r>
              <a:rPr lang="ja-JP" altLang="en-US" dirty="0"/>
              <a:t> </a:t>
            </a:r>
            <a:r>
              <a:rPr lang="en-US" altLang="ja-JP" dirty="0"/>
              <a:t>Authentication</a:t>
            </a:r>
            <a:r>
              <a:rPr lang="ja-JP" altLang="en-US" dirty="0"/>
              <a:t> </a:t>
            </a:r>
            <a:r>
              <a:rPr lang="en-US" altLang="ja-JP" dirty="0"/>
              <a:t>Integration</a:t>
            </a:r>
            <a:endParaRPr kumimoji="1" lang="ja-JP" altLang="en-US" dirty="0"/>
          </a:p>
        </p:txBody>
      </p:sp>
      <p:sp>
        <p:nvSpPr>
          <p:cNvPr id="41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9602"/>
            <a:ext cx="8229600" cy="549654"/>
          </a:xfrm>
        </p:spPr>
        <p:txBody>
          <a:bodyPr>
            <a:normAutofit/>
          </a:bodyPr>
          <a:lstStyle/>
          <a:p>
            <a:pPr marL="342900" lvl="1" indent="-342900">
              <a:buFont typeface="Arial"/>
              <a:buChar char="•"/>
            </a:pPr>
            <a:r>
              <a:rPr lang="en-US" altLang="ja-JP" dirty="0">
                <a:solidFill>
                  <a:srgbClr val="000000"/>
                </a:solidFill>
              </a:rPr>
              <a:t>Apache </a:t>
            </a:r>
            <a:r>
              <a:rPr lang="en-US" altLang="ja-JP" dirty="0" err="1">
                <a:solidFill>
                  <a:srgbClr val="000000"/>
                </a:solidFill>
              </a:rPr>
              <a:t>mod_auth_kerb</a:t>
            </a:r>
            <a:r>
              <a:rPr lang="en-US" altLang="ja-JP" dirty="0">
                <a:solidFill>
                  <a:srgbClr val="000000"/>
                </a:solidFill>
              </a:rPr>
              <a:t> module + reverse proxy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59654" y="5798388"/>
            <a:ext cx="8099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Only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>
                <a:solidFill>
                  <a:srgbClr val="FF0000"/>
                </a:solidFill>
              </a:rPr>
              <a:t>authenticated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>
                <a:solidFill>
                  <a:srgbClr val="FF0000"/>
                </a:solidFill>
              </a:rPr>
              <a:t>users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>
                <a:solidFill>
                  <a:srgbClr val="FF0000"/>
                </a:solidFill>
              </a:rPr>
              <a:t>can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>
                <a:solidFill>
                  <a:srgbClr val="FF0000"/>
                </a:solidFill>
              </a:rPr>
              <a:t>access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>
                <a:solidFill>
                  <a:srgbClr val="FF0000"/>
                </a:solidFill>
              </a:rPr>
              <a:t>to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>
                <a:solidFill>
                  <a:srgbClr val="FF0000"/>
                </a:solidFill>
              </a:rPr>
              <a:t>ES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>
                <a:solidFill>
                  <a:srgbClr val="FF0000"/>
                </a:solidFill>
              </a:rPr>
              <a:t>and</a:t>
            </a:r>
            <a:r>
              <a:rPr kumimoji="1" lang="ja-JP" altLang="en-US" sz="2800" dirty="0">
                <a:solidFill>
                  <a:srgbClr val="FF0000"/>
                </a:solidFill>
              </a:rPr>
              <a:t> </a:t>
            </a:r>
            <a:r>
              <a:rPr kumimoji="1" lang="en-US" altLang="ja-JP" sz="2800" dirty="0" err="1">
                <a:solidFill>
                  <a:srgbClr val="FF0000"/>
                </a:solidFill>
              </a:rPr>
              <a:t>Kibana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09F4-8749-0240-B758-A6A8F883AB4F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13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図形グループ 27"/>
          <p:cNvGrpSpPr/>
          <p:nvPr/>
        </p:nvGrpSpPr>
        <p:grpSpPr>
          <a:xfrm>
            <a:off x="5851601" y="3921361"/>
            <a:ext cx="3330360" cy="1334226"/>
            <a:chOff x="7527990" y="4791937"/>
            <a:chExt cx="3330360" cy="1334226"/>
          </a:xfrm>
        </p:grpSpPr>
        <p:sp>
          <p:nvSpPr>
            <p:cNvPr id="29" name="正方形/長方形 28"/>
            <p:cNvSpPr/>
            <p:nvPr/>
          </p:nvSpPr>
          <p:spPr>
            <a:xfrm>
              <a:off x="8916338" y="5167046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平行四辺形 29"/>
            <p:cNvSpPr/>
            <p:nvPr/>
          </p:nvSpPr>
          <p:spPr>
            <a:xfrm rot="20737033">
              <a:off x="7527990" y="5341179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メモ 30"/>
            <p:cNvSpPr/>
            <p:nvPr/>
          </p:nvSpPr>
          <p:spPr>
            <a:xfrm>
              <a:off x="8510610" y="4791937"/>
              <a:ext cx="1266092" cy="1028801"/>
            </a:xfrm>
            <a:prstGeom prst="foldedCorner">
              <a:avLst/>
            </a:prstGeom>
            <a:ln/>
            <a:scene3d>
              <a:camera prst="orthographicFront">
                <a:rot lat="0" lon="19799991" rev="0"/>
              </a:camera>
              <a:lightRig rig="threePt" dir="t"/>
            </a:scene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User02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2" name="平行四辺形 31"/>
            <p:cNvSpPr/>
            <p:nvPr/>
          </p:nvSpPr>
          <p:spPr>
            <a:xfrm rot="20737033">
              <a:off x="9379233" y="5341180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7635675" y="5515312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dirty="0">
                  <a:solidFill>
                    <a:schemeClr val="tx1"/>
                  </a:solidFill>
                </a:rPr>
                <a:t>.kibana_user02</a:t>
              </a:r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5694" y="1663252"/>
            <a:ext cx="9144530" cy="2066482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Problem</a:t>
            </a:r>
          </a:p>
          <a:p>
            <a:pPr lvl="1"/>
            <a:r>
              <a:rPr lang="en-US" altLang="ja-JP" dirty="0"/>
              <a:t>1</a:t>
            </a:r>
            <a:r>
              <a:rPr lang="ja-JP" altLang="en-US" dirty="0"/>
              <a:t> </a:t>
            </a:r>
            <a:r>
              <a:rPr lang="en-US" altLang="ja-JP" dirty="0" err="1"/>
              <a:t>Kibana</a:t>
            </a:r>
            <a:r>
              <a:rPr lang="ja-JP" altLang="en-US" dirty="0"/>
              <a:t> </a:t>
            </a:r>
            <a:r>
              <a:rPr lang="en-US" altLang="ja-JP" dirty="0"/>
              <a:t>instance uses only 1 </a:t>
            </a:r>
            <a:r>
              <a:rPr lang="en-US" altLang="ja-JP" dirty="0" err="1"/>
              <a:t>Kibana</a:t>
            </a:r>
            <a:r>
              <a:rPr lang="en-US" altLang="ja-JP" dirty="0"/>
              <a:t> index</a:t>
            </a:r>
            <a:r>
              <a:rPr lang="ja-JP" altLang="en-US" dirty="0"/>
              <a:t> </a:t>
            </a:r>
            <a:r>
              <a:rPr lang="en-US" altLang="ja-JP" dirty="0"/>
              <a:t>(1</a:t>
            </a:r>
            <a:r>
              <a:rPr lang="ja-JP" altLang="en-US" dirty="0"/>
              <a:t> </a:t>
            </a:r>
            <a:r>
              <a:rPr lang="en-US" altLang="ja-JP" dirty="0"/>
              <a:t>database)</a:t>
            </a:r>
          </a:p>
          <a:p>
            <a:pPr lvl="1"/>
            <a:r>
              <a:rPr lang="en-US" altLang="ja-JP" dirty="0"/>
              <a:t>All user’s dashboards are stored in the same</a:t>
            </a:r>
            <a:r>
              <a:rPr lang="ja-JP" altLang="en-US" dirty="0"/>
              <a:t> </a:t>
            </a:r>
            <a:r>
              <a:rPr lang="en-US" altLang="ja-JP" dirty="0"/>
              <a:t>index</a:t>
            </a:r>
          </a:p>
        </p:txBody>
      </p:sp>
      <p:grpSp>
        <p:nvGrpSpPr>
          <p:cNvPr id="15" name="図形グループ 14"/>
          <p:cNvGrpSpPr/>
          <p:nvPr/>
        </p:nvGrpSpPr>
        <p:grpSpPr>
          <a:xfrm>
            <a:off x="91511" y="3714341"/>
            <a:ext cx="4124177" cy="1602116"/>
            <a:chOff x="7723498" y="3391828"/>
            <a:chExt cx="4124177" cy="1602116"/>
          </a:xfrm>
        </p:grpSpPr>
        <p:sp>
          <p:nvSpPr>
            <p:cNvPr id="7" name="正方形/長方形 6"/>
            <p:cNvSpPr/>
            <p:nvPr/>
          </p:nvSpPr>
          <p:spPr>
            <a:xfrm>
              <a:off x="9111846" y="4034827"/>
              <a:ext cx="2625634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メモ 11"/>
            <p:cNvSpPr/>
            <p:nvPr/>
          </p:nvSpPr>
          <p:spPr>
            <a:xfrm>
              <a:off x="9049778" y="3391828"/>
              <a:ext cx="1266092" cy="1028801"/>
            </a:xfrm>
            <a:prstGeom prst="foldedCorner">
              <a:avLst/>
            </a:prstGeom>
            <a:ln/>
            <a:scene3d>
              <a:camera prst="orthographicFront">
                <a:rot lat="0" lon="19799991" rev="0"/>
              </a:camera>
              <a:lightRig rig="threePt" dir="t"/>
            </a:scene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User02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4" name="メモ 13"/>
            <p:cNvSpPr/>
            <p:nvPr/>
          </p:nvSpPr>
          <p:spPr>
            <a:xfrm>
              <a:off x="10315870" y="3391828"/>
              <a:ext cx="1266092" cy="1028801"/>
            </a:xfrm>
            <a:prstGeom prst="foldedCorner">
              <a:avLst/>
            </a:prstGeom>
            <a:ln/>
            <a:scene3d>
              <a:camera prst="orthographicFront">
                <a:rot lat="0" lon="19799991" rev="0"/>
              </a:camera>
              <a:lightRig rig="threePt" dir="t"/>
            </a:scene3d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User04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" name="平行四辺形 9"/>
            <p:cNvSpPr/>
            <p:nvPr/>
          </p:nvSpPr>
          <p:spPr>
            <a:xfrm rot="20737033">
              <a:off x="7723498" y="4208960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メモ 10"/>
            <p:cNvSpPr/>
            <p:nvPr/>
          </p:nvSpPr>
          <p:spPr>
            <a:xfrm>
              <a:off x="8416732" y="3659718"/>
              <a:ext cx="1266092" cy="1028801"/>
            </a:xfrm>
            <a:prstGeom prst="foldedCorner">
              <a:avLst/>
            </a:prstGeom>
            <a:ln>
              <a:solidFill>
                <a:schemeClr val="accent6">
                  <a:lumMod val="75000"/>
                </a:schemeClr>
              </a:solidFill>
            </a:ln>
            <a:scene3d>
              <a:camera prst="orthographicFront">
                <a:rot lat="0" lon="19799975" rev="0"/>
              </a:camera>
              <a:lightRig rig="threePt" dir="t"/>
            </a:scene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User01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3" name="メモ 12"/>
            <p:cNvSpPr/>
            <p:nvPr/>
          </p:nvSpPr>
          <p:spPr>
            <a:xfrm>
              <a:off x="9682824" y="3697254"/>
              <a:ext cx="1266092" cy="1028801"/>
            </a:xfrm>
            <a:prstGeom prst="foldedCorner">
              <a:avLst/>
            </a:prstGeom>
            <a:ln/>
            <a:scene3d>
              <a:camera prst="orthographicFront">
                <a:rot lat="0" lon="19799991" rev="0"/>
              </a:camera>
              <a:lightRig rig="threePt" dir="t"/>
            </a:scene3d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User03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9" name="平行四辺形 8"/>
            <p:cNvSpPr/>
            <p:nvPr/>
          </p:nvSpPr>
          <p:spPr>
            <a:xfrm rot="20737033">
              <a:off x="10368558" y="4208960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7831183" y="4383093"/>
              <a:ext cx="2625634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800" dirty="0">
                  <a:solidFill>
                    <a:schemeClr val="tx1"/>
                  </a:solidFill>
                </a:rPr>
                <a:t>.</a:t>
              </a:r>
              <a:r>
                <a:rPr kumimoji="1" lang="en-US" altLang="ja-JP" sz="2800" dirty="0" err="1">
                  <a:solidFill>
                    <a:schemeClr val="tx1"/>
                  </a:solidFill>
                </a:rPr>
                <a:t>kibana</a:t>
              </a:r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図形グループ 25"/>
          <p:cNvGrpSpPr/>
          <p:nvPr/>
        </p:nvGrpSpPr>
        <p:grpSpPr>
          <a:xfrm>
            <a:off x="4563918" y="5171908"/>
            <a:ext cx="3330360" cy="1334226"/>
            <a:chOff x="7527990" y="4791937"/>
            <a:chExt cx="3330360" cy="1334226"/>
          </a:xfrm>
        </p:grpSpPr>
        <p:sp>
          <p:nvSpPr>
            <p:cNvPr id="17" name="正方形/長方形 16"/>
            <p:cNvSpPr/>
            <p:nvPr/>
          </p:nvSpPr>
          <p:spPr>
            <a:xfrm>
              <a:off x="8916338" y="5167046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平行四辺形 19"/>
            <p:cNvSpPr/>
            <p:nvPr/>
          </p:nvSpPr>
          <p:spPr>
            <a:xfrm rot="20737033">
              <a:off x="7527990" y="5341179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メモ 20"/>
            <p:cNvSpPr/>
            <p:nvPr/>
          </p:nvSpPr>
          <p:spPr>
            <a:xfrm>
              <a:off x="8510610" y="4791937"/>
              <a:ext cx="1266092" cy="1028801"/>
            </a:xfrm>
            <a:prstGeom prst="foldedCorner">
              <a:avLst/>
            </a:prstGeom>
            <a:ln>
              <a:solidFill>
                <a:srgbClr val="E46C0A"/>
              </a:solidFill>
            </a:ln>
            <a:scene3d>
              <a:camera prst="orthographicFront">
                <a:rot lat="0" lon="19799975" rev="0"/>
              </a:camera>
              <a:lightRig rig="threePt" dir="t"/>
            </a:scene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User01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23" name="平行四辺形 22"/>
            <p:cNvSpPr/>
            <p:nvPr/>
          </p:nvSpPr>
          <p:spPr>
            <a:xfrm rot="20737033">
              <a:off x="9379233" y="5341180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7635675" y="5515312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dirty="0">
                  <a:solidFill>
                    <a:schemeClr val="tx1"/>
                  </a:solidFill>
                </a:rPr>
                <a:t>.kibana_user01</a:t>
              </a:r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右矢印 35"/>
          <p:cNvSpPr/>
          <p:nvPr/>
        </p:nvSpPr>
        <p:spPr>
          <a:xfrm>
            <a:off x="4363570" y="4526497"/>
            <a:ext cx="700703" cy="87487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166776" y="3440052"/>
            <a:ext cx="481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</a:rPr>
              <a:t>Separate </a:t>
            </a:r>
            <a:r>
              <a:rPr lang="en-US" altLang="ja-JP" sz="2400" dirty="0">
                <a:solidFill>
                  <a:srgbClr val="FF0000"/>
                </a:solidFill>
              </a:rPr>
              <a:t>the</a:t>
            </a:r>
            <a:r>
              <a:rPr lang="ja-JP" altLang="en-US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index for access control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09F4-8749-0240-B758-A6A8F883AB4F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右矢印 4"/>
          <p:cNvSpPr/>
          <p:nvPr/>
        </p:nvSpPr>
        <p:spPr>
          <a:xfrm>
            <a:off x="604227" y="2866848"/>
            <a:ext cx="224816" cy="49757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タイトル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2.</a:t>
            </a:r>
            <a:r>
              <a:rPr lang="ja-JP" altLang="en-US" dirty="0"/>
              <a:t> </a:t>
            </a:r>
            <a:r>
              <a:rPr lang="en-US" altLang="ja-JP" dirty="0"/>
              <a:t>Development</a:t>
            </a:r>
            <a:r>
              <a:rPr lang="ja-JP" altLang="en-US" dirty="0"/>
              <a:t> </a:t>
            </a:r>
            <a:r>
              <a:rPr lang="en-US" altLang="ja-JP" dirty="0"/>
              <a:t>of a</a:t>
            </a:r>
            <a:r>
              <a:rPr lang="ja-JP" altLang="en-US" dirty="0"/>
              <a:t> </a:t>
            </a:r>
            <a:r>
              <a:rPr lang="en-US" altLang="ja-JP" dirty="0" err="1"/>
              <a:t>Kibana</a:t>
            </a:r>
            <a:r>
              <a:rPr lang="en-US" altLang="ja-JP" dirty="0"/>
              <a:t> plugin:</a:t>
            </a:r>
            <a:r>
              <a:rPr lang="ja-JP" altLang="en-US" dirty="0"/>
              <a:t> </a:t>
            </a:r>
            <a:r>
              <a:rPr lang="en-US" altLang="ja-JP" dirty="0"/>
              <a:t>Motivation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7550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/>
        </p:nvSpPr>
        <p:spPr>
          <a:xfrm>
            <a:off x="6276368" y="4393507"/>
            <a:ext cx="1833892" cy="6108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/>
          <p:cNvSpPr/>
          <p:nvPr/>
        </p:nvSpPr>
        <p:spPr>
          <a:xfrm rot="20737033">
            <a:off x="4888020" y="4567640"/>
            <a:ext cx="1479117" cy="610851"/>
          </a:xfrm>
          <a:prstGeom prst="parallelogram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メモ 16"/>
          <p:cNvSpPr/>
          <p:nvPr/>
        </p:nvSpPr>
        <p:spPr>
          <a:xfrm>
            <a:off x="6299115" y="3861594"/>
            <a:ext cx="1266092" cy="1028801"/>
          </a:xfrm>
          <a:prstGeom prst="foldedCorner">
            <a:avLst/>
          </a:prstGeom>
          <a:ln/>
          <a:scene3d>
            <a:camera prst="orthographicFront">
              <a:rot lat="0" lon="19799991" rev="0"/>
            </a:camera>
            <a:lightRig rig="threePt" dir="t"/>
          </a:scene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600" dirty="0">
                <a:solidFill>
                  <a:srgbClr val="000000"/>
                </a:solidFill>
              </a:rPr>
              <a:t>group01</a:t>
            </a:r>
            <a:endParaRPr kumimoji="1" lang="en-US" altLang="ja-JP" sz="1600" dirty="0">
              <a:solidFill>
                <a:srgbClr val="000000"/>
              </a:solidFill>
            </a:endParaRPr>
          </a:p>
          <a:p>
            <a:pPr algn="ctr"/>
            <a:r>
              <a:rPr lang="en-US" altLang="ja-JP" sz="1600" dirty="0">
                <a:solidFill>
                  <a:srgbClr val="000000"/>
                </a:solidFill>
              </a:rPr>
              <a:t>dashboard02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4" name="メモ 13"/>
          <p:cNvSpPr/>
          <p:nvPr/>
        </p:nvSpPr>
        <p:spPr>
          <a:xfrm>
            <a:off x="5373705" y="4018398"/>
            <a:ext cx="1266092" cy="1028801"/>
          </a:xfrm>
          <a:prstGeom prst="foldedCorner">
            <a:avLst/>
          </a:prstGeom>
          <a:ln>
            <a:solidFill>
              <a:srgbClr val="E46C0A"/>
            </a:solidFill>
          </a:ln>
          <a:scene3d>
            <a:camera prst="orthographicFront">
              <a:rot lat="0" lon="19799975" rev="0"/>
            </a:camera>
            <a:lightRig rig="threePt" dir="t"/>
          </a:scene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600" dirty="0">
                <a:solidFill>
                  <a:srgbClr val="000000"/>
                </a:solidFill>
              </a:rPr>
              <a:t>group01</a:t>
            </a:r>
            <a:endParaRPr kumimoji="1" lang="en-US" altLang="ja-JP" sz="1600" dirty="0">
              <a:solidFill>
                <a:srgbClr val="000000"/>
              </a:solidFill>
            </a:endParaRPr>
          </a:p>
          <a:p>
            <a:pPr algn="ctr"/>
            <a:r>
              <a:rPr lang="en-US" altLang="ja-JP" sz="1600" dirty="0">
                <a:solidFill>
                  <a:srgbClr val="000000"/>
                </a:solidFill>
              </a:rPr>
              <a:t>dashboard01</a:t>
            </a:r>
            <a:endParaRPr kumimoji="1" lang="ja-JP" altLang="en-US" sz="1600" dirty="0">
              <a:solidFill>
                <a:srgbClr val="000000"/>
              </a:solidFill>
            </a:endParaRPr>
          </a:p>
        </p:txBody>
      </p:sp>
      <p:sp>
        <p:nvSpPr>
          <p:cNvPr id="15" name="平行四辺形 14"/>
          <p:cNvSpPr/>
          <p:nvPr/>
        </p:nvSpPr>
        <p:spPr>
          <a:xfrm rot="20737033">
            <a:off x="6739263" y="4567641"/>
            <a:ext cx="1479117" cy="610851"/>
          </a:xfrm>
          <a:prstGeom prst="parallelogram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4995705" y="4741773"/>
            <a:ext cx="1833892" cy="6108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.kibana_</a:t>
            </a:r>
            <a:r>
              <a:rPr lang="en-US" altLang="ja-JP" dirty="0">
                <a:solidFill>
                  <a:schemeClr val="tx1"/>
                </a:solidFill>
              </a:rPr>
              <a:t>group01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Development</a:t>
            </a:r>
            <a:r>
              <a:rPr lang="ja-JP" altLang="en-US" dirty="0"/>
              <a:t> </a:t>
            </a:r>
            <a:r>
              <a:rPr lang="en-US" altLang="ja-JP" dirty="0"/>
              <a:t>of a</a:t>
            </a:r>
            <a:r>
              <a:rPr lang="ja-JP" altLang="en-US" dirty="0"/>
              <a:t> </a:t>
            </a:r>
            <a:r>
              <a:rPr lang="en-US" altLang="ja-JP" dirty="0" err="1"/>
              <a:t>Kibana</a:t>
            </a:r>
            <a:r>
              <a:rPr lang="en-US" altLang="ja-JP" dirty="0"/>
              <a:t> plugin:</a:t>
            </a:r>
            <a:r>
              <a:rPr lang="ja-JP" altLang="en-US" dirty="0"/>
              <a:t> </a:t>
            </a:r>
            <a:r>
              <a:rPr lang="en-US" altLang="ja-JP" dirty="0"/>
              <a:t>Motivation</a:t>
            </a:r>
            <a:endParaRPr kumimoji="1" lang="ja-JP" altLang="en-US" dirty="0"/>
          </a:p>
        </p:txBody>
      </p:sp>
      <p:pic>
        <p:nvPicPr>
          <p:cNvPr id="6" name="図 5" descr="MC90043394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7430" y="3987524"/>
            <a:ext cx="654768" cy="654768"/>
          </a:xfrm>
          <a:prstGeom prst="rect">
            <a:avLst/>
          </a:prstGeom>
        </p:spPr>
      </p:pic>
      <p:pic>
        <p:nvPicPr>
          <p:cNvPr id="9" name="図 8" descr="MC90043394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4598" y="3812540"/>
            <a:ext cx="654768" cy="654768"/>
          </a:xfrm>
          <a:prstGeom prst="rect">
            <a:avLst/>
          </a:prstGeom>
        </p:spPr>
      </p:pic>
      <p:pic>
        <p:nvPicPr>
          <p:cNvPr id="10" name="図 9" descr="MC90043394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214" y="4642292"/>
            <a:ext cx="654768" cy="654768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1045831" y="3812540"/>
            <a:ext cx="2171148" cy="1603268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19823" y="5429925"/>
            <a:ext cx="186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group01</a:t>
            </a:r>
            <a:endParaRPr kumimoji="1" lang="ja-JP" altLang="en-US" sz="2400" dirty="0"/>
          </a:p>
        </p:txBody>
      </p:sp>
      <p:sp>
        <p:nvSpPr>
          <p:cNvPr id="19" name="右矢印 18"/>
          <p:cNvSpPr/>
          <p:nvPr/>
        </p:nvSpPr>
        <p:spPr>
          <a:xfrm>
            <a:off x="3638335" y="4470809"/>
            <a:ext cx="1064481" cy="348265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194952" y="3691895"/>
            <a:ext cx="1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share group</a:t>
            </a:r>
            <a:r>
              <a:rPr kumimoji="1" lang="ja-JP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ja-JP" sz="2400" dirty="0">
                <a:solidFill>
                  <a:srgbClr val="FF0000"/>
                </a:solidFill>
              </a:rPr>
              <a:t>dashboards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09F4-8749-0240-B758-A6A8F883AB4F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1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15370" y="1862081"/>
            <a:ext cx="8745303" cy="1647119"/>
          </a:xfrm>
        </p:spPr>
        <p:txBody>
          <a:bodyPr>
            <a:normAutofit fontScale="92500"/>
          </a:bodyPr>
          <a:lstStyle/>
          <a:p>
            <a:r>
              <a:rPr lang="en-US" altLang="ja-JP" sz="3600" dirty="0"/>
              <a:t>Group</a:t>
            </a:r>
            <a:r>
              <a:rPr lang="ja-JP" altLang="en-US" sz="3600" dirty="0"/>
              <a:t> </a:t>
            </a:r>
            <a:r>
              <a:rPr lang="en-US" altLang="ja-JP" sz="3600" dirty="0"/>
              <a:t>based</a:t>
            </a:r>
            <a:r>
              <a:rPr lang="ja-JP" altLang="en-US" sz="3600" dirty="0"/>
              <a:t> </a:t>
            </a:r>
            <a:r>
              <a:rPr lang="en-US" altLang="ja-JP" sz="3600" dirty="0" err="1"/>
              <a:t>Kibana</a:t>
            </a:r>
            <a:r>
              <a:rPr lang="en-US" altLang="ja-JP" sz="3600" dirty="0"/>
              <a:t> index separation is useful</a:t>
            </a:r>
          </a:p>
          <a:p>
            <a:r>
              <a:rPr lang="en-US" altLang="ja-JP" sz="3600" dirty="0"/>
              <a:t>Users can share a</a:t>
            </a:r>
            <a:r>
              <a:rPr lang="ja-JP" altLang="en-US" sz="3600" dirty="0"/>
              <a:t> </a:t>
            </a:r>
            <a:r>
              <a:rPr lang="en-US" altLang="ja-JP" sz="3600" dirty="0" err="1"/>
              <a:t>Kibana</a:t>
            </a:r>
            <a:r>
              <a:rPr lang="ja-JP" altLang="en-US" sz="3600" dirty="0"/>
              <a:t> </a:t>
            </a:r>
            <a:r>
              <a:rPr lang="en-US" altLang="ja-JP" sz="3600" dirty="0"/>
              <a:t>index among a group</a:t>
            </a:r>
          </a:p>
        </p:txBody>
      </p:sp>
      <p:sp>
        <p:nvSpPr>
          <p:cNvPr id="22" name="右矢印 21"/>
          <p:cNvSpPr/>
          <p:nvPr/>
        </p:nvSpPr>
        <p:spPr>
          <a:xfrm>
            <a:off x="318606" y="2540242"/>
            <a:ext cx="224816" cy="49757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02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kibana_plugi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20" y="2978064"/>
            <a:ext cx="8965075" cy="3459869"/>
          </a:xfrm>
          <a:prstGeom prst="rect">
            <a:avLst/>
          </a:prstGeom>
        </p:spPr>
      </p:pic>
      <p:pic>
        <p:nvPicPr>
          <p:cNvPr id="10" name="図 9" descr="objects_separation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8836" y="5424371"/>
            <a:ext cx="4332796" cy="1422867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-2772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/>
              <a:t>Development of</a:t>
            </a:r>
            <a:r>
              <a:rPr lang="ja-JP" altLang="en-US" dirty="0"/>
              <a:t> </a:t>
            </a:r>
            <a:r>
              <a:rPr lang="en-US" altLang="ja-JP" dirty="0"/>
              <a:t>a</a:t>
            </a:r>
            <a:r>
              <a:rPr lang="ja-JP" altLang="en-US" dirty="0"/>
              <a:t> </a:t>
            </a:r>
            <a:r>
              <a:rPr lang="en-US" altLang="ja-JP" dirty="0" err="1"/>
              <a:t>Kibana</a:t>
            </a:r>
            <a:r>
              <a:rPr lang="en-US" altLang="ja-JP" dirty="0"/>
              <a:t> plugin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6465372" y="5717887"/>
            <a:ext cx="1605280" cy="785929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7620" y="1275403"/>
            <a:ext cx="5655110" cy="1539240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/>
              <a:t>Adds</a:t>
            </a:r>
            <a:r>
              <a:rPr lang="ja-JP" altLang="en-US" dirty="0"/>
              <a:t> </a:t>
            </a:r>
            <a:r>
              <a:rPr lang="en-US" altLang="ja-JP" dirty="0"/>
              <a:t>multi-tenancy</a:t>
            </a:r>
          </a:p>
          <a:p>
            <a:r>
              <a:rPr lang="en-US" altLang="ja-JP" dirty="0"/>
              <a:t>User can switch </a:t>
            </a:r>
            <a:r>
              <a:rPr lang="en-US" altLang="ja-JP" dirty="0" err="1"/>
              <a:t>Kibana</a:t>
            </a:r>
            <a:r>
              <a:rPr lang="ja-JP" altLang="en-US" dirty="0"/>
              <a:t> </a:t>
            </a:r>
            <a:r>
              <a:rPr lang="en-US" altLang="ja-JP" dirty="0"/>
              <a:t>index</a:t>
            </a:r>
            <a:r>
              <a:rPr lang="ja-JP" altLang="en-US" dirty="0"/>
              <a:t> </a:t>
            </a:r>
            <a:r>
              <a:rPr lang="en-US" altLang="ja-JP" dirty="0"/>
              <a:t>for</a:t>
            </a:r>
            <a:r>
              <a:rPr lang="ja-JP" altLang="en-US" dirty="0"/>
              <a:t> </a:t>
            </a:r>
            <a:r>
              <a:rPr lang="en-US" altLang="ja-JP" dirty="0"/>
              <a:t>personal</a:t>
            </a:r>
            <a:r>
              <a:rPr lang="ja-JP" altLang="en-US" dirty="0"/>
              <a:t> </a:t>
            </a:r>
            <a:r>
              <a:rPr lang="en-US" altLang="ja-JP" dirty="0"/>
              <a:t>or</a:t>
            </a:r>
            <a:r>
              <a:rPr lang="ja-JP" altLang="en-US" dirty="0"/>
              <a:t> </a:t>
            </a:r>
            <a:r>
              <a:rPr lang="en-US" altLang="ja-JP" dirty="0"/>
              <a:t>group</a:t>
            </a:r>
            <a:r>
              <a:rPr lang="ja-JP" altLang="en-US" dirty="0"/>
              <a:t> </a:t>
            </a:r>
            <a:r>
              <a:rPr lang="en-US" altLang="ja-JP" dirty="0"/>
              <a:t>shared</a:t>
            </a:r>
            <a:r>
              <a:rPr lang="ja-JP" altLang="en-US" dirty="0"/>
              <a:t> </a:t>
            </a:r>
            <a:r>
              <a:rPr lang="en-US" altLang="ja-JP" dirty="0"/>
              <a:t>use.</a:t>
            </a:r>
            <a:endParaRPr lang="en-US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662404" y="6458116"/>
            <a:ext cx="124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Developed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pSp>
        <p:nvGrpSpPr>
          <p:cNvPr id="31" name="図形グループ 30"/>
          <p:cNvGrpSpPr/>
          <p:nvPr/>
        </p:nvGrpSpPr>
        <p:grpSpPr>
          <a:xfrm>
            <a:off x="5655045" y="1158430"/>
            <a:ext cx="3330360" cy="1334226"/>
            <a:chOff x="7527990" y="4791937"/>
            <a:chExt cx="3330360" cy="1334226"/>
          </a:xfrm>
        </p:grpSpPr>
        <p:sp>
          <p:nvSpPr>
            <p:cNvPr id="32" name="正方形/長方形 31"/>
            <p:cNvSpPr/>
            <p:nvPr/>
          </p:nvSpPr>
          <p:spPr>
            <a:xfrm>
              <a:off x="8916338" y="5167046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平行四辺形 32"/>
            <p:cNvSpPr/>
            <p:nvPr/>
          </p:nvSpPr>
          <p:spPr>
            <a:xfrm rot="20737033">
              <a:off x="7527990" y="5341179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メモ 33"/>
            <p:cNvSpPr/>
            <p:nvPr/>
          </p:nvSpPr>
          <p:spPr>
            <a:xfrm>
              <a:off x="8510610" y="4791937"/>
              <a:ext cx="1266092" cy="1028801"/>
            </a:xfrm>
            <a:prstGeom prst="foldedCorner">
              <a:avLst/>
            </a:prstGeom>
            <a:ln>
              <a:solidFill>
                <a:srgbClr val="E46C0A"/>
              </a:solidFill>
            </a:ln>
            <a:scene3d>
              <a:camera prst="orthographicFront">
                <a:rot lat="0" lon="19799975" rev="0"/>
              </a:camera>
              <a:lightRig rig="threePt" dir="t"/>
            </a:scene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User01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5" name="平行四辺形 34"/>
            <p:cNvSpPr/>
            <p:nvPr/>
          </p:nvSpPr>
          <p:spPr>
            <a:xfrm rot="20737033">
              <a:off x="9379233" y="5341180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7635675" y="5515312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dirty="0">
                  <a:solidFill>
                    <a:schemeClr val="tx1"/>
                  </a:solidFill>
                </a:rPr>
                <a:t>.kibana_user01</a:t>
              </a:r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図形グループ 36"/>
          <p:cNvGrpSpPr/>
          <p:nvPr/>
        </p:nvGrpSpPr>
        <p:grpSpPr>
          <a:xfrm>
            <a:off x="5624121" y="2604658"/>
            <a:ext cx="3330360" cy="1491030"/>
            <a:chOff x="4485120" y="1767436"/>
            <a:chExt cx="3330360" cy="1491030"/>
          </a:xfrm>
        </p:grpSpPr>
        <p:sp>
          <p:nvSpPr>
            <p:cNvPr id="38" name="正方形/長方形 37"/>
            <p:cNvSpPr/>
            <p:nvPr/>
          </p:nvSpPr>
          <p:spPr>
            <a:xfrm>
              <a:off x="5873468" y="2299349"/>
              <a:ext cx="1833892" cy="61085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平行四辺形 38"/>
            <p:cNvSpPr/>
            <p:nvPr/>
          </p:nvSpPr>
          <p:spPr>
            <a:xfrm rot="20737033">
              <a:off x="4485120" y="2473482"/>
              <a:ext cx="1479117" cy="610851"/>
            </a:xfrm>
            <a:prstGeom prst="parallelogra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メモ 39"/>
            <p:cNvSpPr/>
            <p:nvPr/>
          </p:nvSpPr>
          <p:spPr>
            <a:xfrm>
              <a:off x="5896215" y="1767436"/>
              <a:ext cx="1266092" cy="1028801"/>
            </a:xfrm>
            <a:prstGeom prst="foldedCorner">
              <a:avLst/>
            </a:prstGeom>
            <a:ln/>
            <a:scene3d>
              <a:camera prst="orthographicFront">
                <a:rot lat="0" lon="19799991" rev="0"/>
              </a:camera>
              <a:lightRig rig="threePt" dir="t"/>
            </a:scene3d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ja-JP" sz="1600" dirty="0">
                  <a:solidFill>
                    <a:srgbClr val="000000"/>
                  </a:solidFill>
                </a:rPr>
                <a:t>group01</a:t>
              </a:r>
              <a:endParaRPr kumimoji="1" lang="en-US" altLang="ja-JP" sz="1600" dirty="0">
                <a:solidFill>
                  <a:srgbClr val="000000"/>
                </a:solidFill>
              </a:endParaRPr>
            </a:p>
            <a:p>
              <a:pPr algn="ctr"/>
              <a:r>
                <a:rPr lang="en-US" altLang="ja-JP" sz="1600" dirty="0">
                  <a:solidFill>
                    <a:srgbClr val="000000"/>
                  </a:solidFill>
                </a:rPr>
                <a:t>dashboard02</a:t>
              </a:r>
              <a:endParaRPr kumimoji="1" lang="ja-JP" alt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41" name="メモ 40"/>
            <p:cNvSpPr/>
            <p:nvPr/>
          </p:nvSpPr>
          <p:spPr>
            <a:xfrm>
              <a:off x="4970805" y="1924240"/>
              <a:ext cx="1266092" cy="1028801"/>
            </a:xfrm>
            <a:prstGeom prst="foldedCorner">
              <a:avLst/>
            </a:prstGeom>
            <a:ln>
              <a:solidFill>
                <a:srgbClr val="E46C0A"/>
              </a:solidFill>
            </a:ln>
            <a:scene3d>
              <a:camera prst="orthographicFront">
                <a:rot lat="0" lon="19799975" rev="0"/>
              </a:camera>
              <a:lightRig rig="threePt" dir="t"/>
            </a:scene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ja-JP" sz="1600" dirty="0">
                  <a:solidFill>
                    <a:srgbClr val="000000"/>
                  </a:solidFill>
                </a:rPr>
                <a:t>group01</a:t>
              </a:r>
              <a:endParaRPr kumimoji="1" lang="en-US" altLang="ja-JP" sz="1600" dirty="0">
                <a:solidFill>
                  <a:srgbClr val="000000"/>
                </a:solidFill>
              </a:endParaRPr>
            </a:p>
            <a:p>
              <a:pPr algn="ctr"/>
              <a:r>
                <a:rPr lang="en-US" altLang="ja-JP" sz="1600" dirty="0">
                  <a:solidFill>
                    <a:srgbClr val="000000"/>
                  </a:solidFill>
                </a:rPr>
                <a:t>dashboard01</a:t>
              </a:r>
              <a:endParaRPr kumimoji="1" lang="ja-JP" alt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42" name="平行四辺形 41"/>
            <p:cNvSpPr/>
            <p:nvPr/>
          </p:nvSpPr>
          <p:spPr>
            <a:xfrm rot="20737033">
              <a:off x="6336363" y="2473483"/>
              <a:ext cx="1479117" cy="610851"/>
            </a:xfrm>
            <a:prstGeom prst="parallelogra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4592805" y="2647615"/>
              <a:ext cx="1833892" cy="61085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.kibana_</a:t>
              </a:r>
              <a:r>
                <a:rPr lang="en-US" altLang="ja-JP" dirty="0">
                  <a:solidFill>
                    <a:schemeClr val="tx1"/>
                  </a:solidFill>
                </a:rPr>
                <a:t>group01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8155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8150" y="37874"/>
            <a:ext cx="8689135" cy="1143000"/>
          </a:xfrm>
        </p:spPr>
        <p:txBody>
          <a:bodyPr>
            <a:normAutofit/>
          </a:bodyPr>
          <a:lstStyle/>
          <a:p>
            <a:r>
              <a:rPr lang="en-US" altLang="ja-JP" dirty="0" err="1"/>
              <a:t>Kibana</a:t>
            </a:r>
            <a:r>
              <a:rPr lang="en-US" altLang="ja-JP" dirty="0"/>
              <a:t> plugin: Own Home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88150" y="1382840"/>
            <a:ext cx="8229600" cy="661382"/>
          </a:xfrm>
        </p:spPr>
        <p:txBody>
          <a:bodyPr>
            <a:noAutofit/>
          </a:bodyPr>
          <a:lstStyle/>
          <a:p>
            <a:r>
              <a:rPr lang="en-US" altLang="ja-JP" sz="2400" dirty="0"/>
              <a:t>https://github.com/wtakase/kibana-own-home</a:t>
            </a:r>
          </a:p>
        </p:txBody>
      </p:sp>
      <p:pic>
        <p:nvPicPr>
          <p:cNvPr id="5" name="図 4" descr="screensho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2468" y="2153650"/>
            <a:ext cx="7298335" cy="4254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DAFFD2CF-EAEF-604A-A741-9F7CE07B6A1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5764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3.</a:t>
            </a:r>
            <a:r>
              <a:rPr kumimoji="1" lang="ja-JP" altLang="en-US" dirty="0"/>
              <a:t> </a:t>
            </a:r>
            <a:r>
              <a:rPr kumimoji="1" lang="en-US" altLang="ja-JP" dirty="0"/>
              <a:t>User/group based Access</a:t>
            </a:r>
            <a:r>
              <a:rPr kumimoji="1" lang="ja-JP" altLang="en-US" dirty="0"/>
              <a:t> </a:t>
            </a:r>
            <a:r>
              <a:rPr kumimoji="1" lang="en-US" altLang="ja-JP" dirty="0"/>
              <a:t>control</a:t>
            </a:r>
            <a:r>
              <a:rPr kumimoji="1" lang="ja-JP" altLang="en-US" dirty="0"/>
              <a:t> </a:t>
            </a:r>
            <a:r>
              <a:rPr kumimoji="1" lang="en-US" altLang="ja-JP" dirty="0"/>
              <a:t>on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ElasticSearch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32740" y="1614344"/>
            <a:ext cx="8544560" cy="1574765"/>
          </a:xfrm>
        </p:spPr>
        <p:txBody>
          <a:bodyPr>
            <a:normAutofit lnSpcReduction="10000"/>
          </a:bodyPr>
          <a:lstStyle/>
          <a:p>
            <a:r>
              <a:rPr lang="en-US" altLang="ja-JP"/>
              <a:t>Need </a:t>
            </a:r>
            <a:r>
              <a:rPr lang="en-US" altLang="ja-JP" dirty="0" err="1"/>
              <a:t>ElasticSearch</a:t>
            </a:r>
            <a:r>
              <a:rPr lang="en-US" altLang="ja-JP" dirty="0"/>
              <a:t> index level access control.</a:t>
            </a:r>
          </a:p>
          <a:p>
            <a:r>
              <a:rPr lang="en-US" altLang="ja-JP" dirty="0"/>
              <a:t>The</a:t>
            </a:r>
            <a:r>
              <a:rPr lang="ja-JP" altLang="en-US" dirty="0"/>
              <a:t> </a:t>
            </a:r>
            <a:r>
              <a:rPr lang="en-US" altLang="ja-JP" dirty="0" err="1"/>
              <a:t>Kibana</a:t>
            </a:r>
            <a:r>
              <a:rPr lang="ja-JP" altLang="en-US" dirty="0"/>
              <a:t> </a:t>
            </a:r>
            <a:r>
              <a:rPr lang="en-US" altLang="ja-JP" dirty="0"/>
              <a:t>plugin</a:t>
            </a:r>
            <a:r>
              <a:rPr lang="ja-JP" altLang="en-US" dirty="0"/>
              <a:t> </a:t>
            </a:r>
            <a:r>
              <a:rPr lang="en-US" altLang="ja-JP" dirty="0"/>
              <a:t>separates</a:t>
            </a:r>
            <a:r>
              <a:rPr lang="ja-JP" altLang="en-US" dirty="0"/>
              <a:t> </a:t>
            </a:r>
            <a:r>
              <a:rPr lang="en-US" altLang="ja-JP" dirty="0" err="1"/>
              <a:t>Kibana</a:t>
            </a:r>
            <a:r>
              <a:rPr lang="ja-JP" altLang="en-US" dirty="0"/>
              <a:t> </a:t>
            </a:r>
            <a:r>
              <a:rPr lang="en-US" altLang="ja-JP" dirty="0"/>
              <a:t>index,</a:t>
            </a:r>
            <a:r>
              <a:rPr lang="ja-JP" altLang="en-US" dirty="0"/>
              <a:t> </a:t>
            </a:r>
            <a:r>
              <a:rPr lang="en-US" altLang="ja-JP" dirty="0"/>
              <a:t>but</a:t>
            </a:r>
            <a:r>
              <a:rPr lang="ja-JP" altLang="en-US" dirty="0"/>
              <a:t> </a:t>
            </a:r>
            <a:r>
              <a:rPr lang="en-US" altLang="ja-JP" dirty="0"/>
              <a:t>still</a:t>
            </a:r>
            <a:r>
              <a:rPr lang="ja-JP" altLang="en-US" dirty="0"/>
              <a:t> </a:t>
            </a:r>
            <a:r>
              <a:rPr lang="en-US" altLang="ja-JP" dirty="0"/>
              <a:t>all</a:t>
            </a:r>
            <a:r>
              <a:rPr lang="ja-JP" altLang="en-US" dirty="0"/>
              <a:t> </a:t>
            </a:r>
            <a:r>
              <a:rPr lang="en-US" altLang="ja-JP" dirty="0"/>
              <a:t>users</a:t>
            </a:r>
            <a:r>
              <a:rPr lang="ja-JP" altLang="en-US" dirty="0"/>
              <a:t> </a:t>
            </a:r>
            <a:r>
              <a:rPr lang="ja-JP" altLang="ja-JP" dirty="0"/>
              <a:t>c</a:t>
            </a:r>
            <a:r>
              <a:rPr lang="en-US" altLang="ja-JP" dirty="0"/>
              <a:t>an</a:t>
            </a:r>
            <a:r>
              <a:rPr lang="ja-JP" altLang="en-US" dirty="0"/>
              <a:t> </a:t>
            </a:r>
            <a:r>
              <a:rPr lang="en-US" altLang="ja-JP" dirty="0"/>
              <a:t>access</a:t>
            </a:r>
            <a:r>
              <a:rPr lang="ja-JP" altLang="en-US" dirty="0"/>
              <a:t> </a:t>
            </a:r>
            <a:r>
              <a:rPr lang="en-US" altLang="ja-JP" dirty="0"/>
              <a:t>other’s index.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12</a:t>
            </a:fld>
            <a:endParaRPr kumimoji="1" lang="ja-JP" altLang="en-US"/>
          </a:p>
        </p:txBody>
      </p:sp>
      <p:grpSp>
        <p:nvGrpSpPr>
          <p:cNvPr id="7" name="図形グループ 6"/>
          <p:cNvGrpSpPr/>
          <p:nvPr/>
        </p:nvGrpSpPr>
        <p:grpSpPr>
          <a:xfrm>
            <a:off x="5715305" y="4520491"/>
            <a:ext cx="3330360" cy="1334226"/>
            <a:chOff x="7527990" y="4791937"/>
            <a:chExt cx="3330360" cy="1334226"/>
          </a:xfrm>
        </p:grpSpPr>
        <p:sp>
          <p:nvSpPr>
            <p:cNvPr id="8" name="正方形/長方形 7"/>
            <p:cNvSpPr/>
            <p:nvPr/>
          </p:nvSpPr>
          <p:spPr>
            <a:xfrm>
              <a:off x="8916338" y="5167046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平行四辺形 8"/>
            <p:cNvSpPr/>
            <p:nvPr/>
          </p:nvSpPr>
          <p:spPr>
            <a:xfrm rot="20737033">
              <a:off x="7527990" y="5341179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メモ 9"/>
            <p:cNvSpPr/>
            <p:nvPr/>
          </p:nvSpPr>
          <p:spPr>
            <a:xfrm>
              <a:off x="8510610" y="4791937"/>
              <a:ext cx="1266092" cy="1028801"/>
            </a:xfrm>
            <a:prstGeom prst="foldedCorner">
              <a:avLst/>
            </a:prstGeom>
            <a:ln/>
            <a:scene3d>
              <a:camera prst="orthographicFront">
                <a:rot lat="0" lon="19799991" rev="0"/>
              </a:camera>
              <a:lightRig rig="threePt" dir="t"/>
            </a:scene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User02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1" name="平行四辺形 10"/>
            <p:cNvSpPr/>
            <p:nvPr/>
          </p:nvSpPr>
          <p:spPr>
            <a:xfrm rot="20737033">
              <a:off x="9379233" y="5341180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/>
            <p:cNvSpPr/>
            <p:nvPr/>
          </p:nvSpPr>
          <p:spPr>
            <a:xfrm>
              <a:off x="7635675" y="5515312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dirty="0">
                  <a:solidFill>
                    <a:schemeClr val="tx1"/>
                  </a:solidFill>
                </a:rPr>
                <a:t>.kibana_user02</a:t>
              </a:r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" name="図 18" descr="MC900433941.PNG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938" y="5520954"/>
            <a:ext cx="654768" cy="654768"/>
          </a:xfrm>
          <a:prstGeom prst="rect">
            <a:avLst/>
          </a:prstGeom>
        </p:spPr>
      </p:pic>
      <p:pic>
        <p:nvPicPr>
          <p:cNvPr id="20" name="図 19" descr="MC90043394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168" y="4171630"/>
            <a:ext cx="654768" cy="654768"/>
          </a:xfrm>
          <a:prstGeom prst="rect">
            <a:avLst/>
          </a:prstGeom>
        </p:spPr>
      </p:pic>
      <p:sp>
        <p:nvSpPr>
          <p:cNvPr id="21" name="テキスト ボックス 20"/>
          <p:cNvSpPr txBox="1"/>
          <p:nvPr/>
        </p:nvSpPr>
        <p:spPr>
          <a:xfrm>
            <a:off x="332740" y="6154655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user02</a:t>
            </a:r>
            <a:endParaRPr kumimoji="1" lang="ja-JP" altLang="en-US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05394" y="4805899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user01</a:t>
            </a:r>
            <a:endParaRPr kumimoji="1" lang="ja-JP" altLang="en-US" dirty="0"/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1211706" y="4637226"/>
            <a:ext cx="5168704" cy="3533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flipV="1">
            <a:off x="1322994" y="5922762"/>
            <a:ext cx="1652413" cy="730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>
            <a:stCxn id="20" idx="3"/>
          </p:cNvCxnSpPr>
          <p:nvPr/>
        </p:nvCxnSpPr>
        <p:spPr>
          <a:xfrm flipV="1">
            <a:off x="1071936" y="4062683"/>
            <a:ext cx="2106815" cy="4363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/>
          <p:cNvCxnSpPr/>
          <p:nvPr/>
        </p:nvCxnSpPr>
        <p:spPr>
          <a:xfrm>
            <a:off x="1211706" y="4826398"/>
            <a:ext cx="1856544" cy="908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図形グループ 12"/>
          <p:cNvGrpSpPr/>
          <p:nvPr/>
        </p:nvGrpSpPr>
        <p:grpSpPr>
          <a:xfrm>
            <a:off x="2867722" y="5252046"/>
            <a:ext cx="3330360" cy="1334226"/>
            <a:chOff x="7527990" y="4791937"/>
            <a:chExt cx="3330360" cy="1334226"/>
          </a:xfrm>
        </p:grpSpPr>
        <p:sp>
          <p:nvSpPr>
            <p:cNvPr id="14" name="正方形/長方形 13"/>
            <p:cNvSpPr/>
            <p:nvPr/>
          </p:nvSpPr>
          <p:spPr>
            <a:xfrm>
              <a:off x="8916338" y="5167046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平行四辺形 14"/>
            <p:cNvSpPr/>
            <p:nvPr/>
          </p:nvSpPr>
          <p:spPr>
            <a:xfrm rot="20737033">
              <a:off x="7527990" y="5341179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メモ 15"/>
            <p:cNvSpPr/>
            <p:nvPr/>
          </p:nvSpPr>
          <p:spPr>
            <a:xfrm>
              <a:off x="8510610" y="4791937"/>
              <a:ext cx="1266092" cy="1028801"/>
            </a:xfrm>
            <a:prstGeom prst="foldedCorner">
              <a:avLst/>
            </a:prstGeom>
            <a:ln>
              <a:solidFill>
                <a:srgbClr val="E46C0A"/>
              </a:solidFill>
            </a:ln>
            <a:scene3d>
              <a:camera prst="orthographicFront">
                <a:rot lat="0" lon="19799975" rev="0"/>
              </a:camera>
              <a:lightRig rig="threePt" dir="t"/>
            </a:scene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User01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dashboard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7" name="平行四辺形 16"/>
            <p:cNvSpPr/>
            <p:nvPr/>
          </p:nvSpPr>
          <p:spPr>
            <a:xfrm rot="20737033">
              <a:off x="9379233" y="5341180"/>
              <a:ext cx="1479117" cy="610851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/>
            <p:cNvSpPr/>
            <p:nvPr/>
          </p:nvSpPr>
          <p:spPr>
            <a:xfrm>
              <a:off x="7635675" y="5515312"/>
              <a:ext cx="1833892" cy="610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dirty="0">
                  <a:solidFill>
                    <a:schemeClr val="tx1"/>
                  </a:solidFill>
                </a:rPr>
                <a:t>.kibana_user01</a:t>
              </a:r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乗算記号 28"/>
          <p:cNvSpPr/>
          <p:nvPr/>
        </p:nvSpPr>
        <p:spPr>
          <a:xfrm>
            <a:off x="1919247" y="5560495"/>
            <a:ext cx="853440" cy="853440"/>
          </a:xfrm>
          <a:prstGeom prst="mathMultiply">
            <a:avLst>
              <a:gd name="adj1" fmla="val 685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図形グループ 41"/>
          <p:cNvGrpSpPr/>
          <p:nvPr/>
        </p:nvGrpSpPr>
        <p:grpSpPr>
          <a:xfrm>
            <a:off x="3231439" y="3137258"/>
            <a:ext cx="3330360" cy="1422834"/>
            <a:chOff x="3231439" y="3033882"/>
            <a:chExt cx="3330360" cy="1422834"/>
          </a:xfrm>
        </p:grpSpPr>
        <p:sp>
          <p:nvSpPr>
            <p:cNvPr id="31" name="正方形/長方形 30"/>
            <p:cNvSpPr/>
            <p:nvPr/>
          </p:nvSpPr>
          <p:spPr>
            <a:xfrm>
              <a:off x="4619787" y="3497599"/>
              <a:ext cx="1833892" cy="61085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平行四辺形 32"/>
            <p:cNvSpPr/>
            <p:nvPr/>
          </p:nvSpPr>
          <p:spPr>
            <a:xfrm rot="20737033">
              <a:off x="3231439" y="3671732"/>
              <a:ext cx="1479117" cy="610851"/>
            </a:xfrm>
            <a:prstGeom prst="parallelogram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メモ 36"/>
            <p:cNvSpPr/>
            <p:nvPr/>
          </p:nvSpPr>
          <p:spPr>
            <a:xfrm>
              <a:off x="4561330" y="3033882"/>
              <a:ext cx="1266092" cy="1028801"/>
            </a:xfrm>
            <a:prstGeom prst="foldedCorne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  <a:scene3d>
              <a:camera prst="orthographicFront">
                <a:rot lat="0" lon="19799975" rev="0"/>
              </a:camera>
              <a:lightRig rig="threePt" dir="t"/>
            </a:scene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User01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data02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4" name="メモ 33"/>
            <p:cNvSpPr/>
            <p:nvPr/>
          </p:nvSpPr>
          <p:spPr>
            <a:xfrm>
              <a:off x="3593887" y="3122490"/>
              <a:ext cx="1266092" cy="1028801"/>
            </a:xfrm>
            <a:prstGeom prst="foldedCorner">
              <a:avLst/>
            </a:prstGeom>
            <a:ln>
              <a:solidFill>
                <a:srgbClr val="E46C0A"/>
              </a:solidFill>
            </a:ln>
            <a:scene3d>
              <a:camera prst="orthographicFront">
                <a:rot lat="0" lon="19799975" rev="0"/>
              </a:camera>
              <a:lightRig rig="threePt" dir="t"/>
            </a:scene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User01</a:t>
              </a:r>
            </a:p>
            <a:p>
              <a:pPr algn="ctr"/>
              <a:r>
                <a:rPr lang="en-US" altLang="ja-JP" dirty="0">
                  <a:solidFill>
                    <a:srgbClr val="000000"/>
                  </a:solidFill>
                </a:rPr>
                <a:t>data01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35" name="平行四辺形 34"/>
            <p:cNvSpPr/>
            <p:nvPr/>
          </p:nvSpPr>
          <p:spPr>
            <a:xfrm rot="20737033">
              <a:off x="5082682" y="3671733"/>
              <a:ext cx="1479117" cy="610851"/>
            </a:xfrm>
            <a:prstGeom prst="parallelogram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3339124" y="3845865"/>
              <a:ext cx="1833892" cy="61085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dirty="0">
                  <a:solidFill>
                    <a:schemeClr val="tx1"/>
                  </a:solidFill>
                </a:rPr>
                <a:t>User01_secret_index</a:t>
              </a:r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直線矢印コネクタ 37"/>
          <p:cNvCxnSpPr>
            <a:stCxn id="19" idx="3"/>
          </p:cNvCxnSpPr>
          <p:nvPr/>
        </p:nvCxnSpPr>
        <p:spPr>
          <a:xfrm flipV="1">
            <a:off x="1211706" y="4151291"/>
            <a:ext cx="1967045" cy="16970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乗算記号 31"/>
          <p:cNvSpPr/>
          <p:nvPr/>
        </p:nvSpPr>
        <p:spPr>
          <a:xfrm>
            <a:off x="1101468" y="5191150"/>
            <a:ext cx="853440" cy="853440"/>
          </a:xfrm>
          <a:prstGeom prst="mathMultiply">
            <a:avLst>
              <a:gd name="adj1" fmla="val 685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乗算記号 38"/>
          <p:cNvSpPr/>
          <p:nvPr/>
        </p:nvSpPr>
        <p:spPr>
          <a:xfrm>
            <a:off x="2563453" y="4379764"/>
            <a:ext cx="853440" cy="853440"/>
          </a:xfrm>
          <a:prstGeom prst="mathMultiply">
            <a:avLst>
              <a:gd name="adj1" fmla="val 685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24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Investigation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SearchGuard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36240" y="1600200"/>
            <a:ext cx="8463776" cy="5121275"/>
          </a:xfrm>
        </p:spPr>
        <p:txBody>
          <a:bodyPr>
            <a:normAutofit/>
          </a:bodyPr>
          <a:lstStyle/>
          <a:p>
            <a:r>
              <a:rPr lang="en-US" altLang="ja-JP" sz="3600" dirty="0" err="1"/>
              <a:t>ElasticSearch</a:t>
            </a:r>
            <a:r>
              <a:rPr lang="en-US" altLang="ja-JP" sz="3600" dirty="0"/>
              <a:t> plugin</a:t>
            </a:r>
          </a:p>
          <a:p>
            <a:pPr lvl="1"/>
            <a:r>
              <a:rPr lang="en-US" altLang="ja-JP" sz="3200" dirty="0"/>
              <a:t>Flexible REST/transport layer access control based on user/group</a:t>
            </a:r>
          </a:p>
          <a:p>
            <a:pPr lvl="2"/>
            <a:r>
              <a:rPr lang="en-US" altLang="ja-JP" sz="2800" dirty="0"/>
              <a:t>Index, type, operation, document level restrictions</a:t>
            </a:r>
          </a:p>
          <a:p>
            <a:pPr lvl="1"/>
            <a:r>
              <a:rPr lang="en-US" altLang="ja-JP" sz="3200" dirty="0"/>
              <a:t>Node-to-node encryption</a:t>
            </a:r>
          </a:p>
          <a:p>
            <a:pPr lvl="1"/>
            <a:r>
              <a:rPr lang="en-US" altLang="ja-JP" sz="3200" dirty="0"/>
              <a:t>Supported by </a:t>
            </a:r>
            <a:r>
              <a:rPr lang="en-US" altLang="ja-JP" sz="3200" dirty="0" err="1"/>
              <a:t>Floragunn</a:t>
            </a:r>
            <a:endParaRPr lang="en-US" altLang="ja-JP" sz="3200" dirty="0"/>
          </a:p>
          <a:p>
            <a:pPr lvl="2"/>
            <a:r>
              <a:rPr lang="en-US" altLang="ja-JP" sz="2800" dirty="0"/>
              <a:t>http://floragunn.com/searchguard</a:t>
            </a:r>
          </a:p>
          <a:p>
            <a:pPr lvl="2"/>
            <a:r>
              <a:rPr lang="en-US" altLang="ja-JP" sz="2800" dirty="0"/>
              <a:t>https://github.com/floragunncom/search-guard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9096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/>
              <a:t>SearchGuard</a:t>
            </a:r>
            <a:r>
              <a:rPr kumimoji="1" lang="ja-JP" altLang="en-US" dirty="0"/>
              <a:t> </a:t>
            </a:r>
            <a:r>
              <a:rPr kumimoji="1" lang="en-US" altLang="ja-JP" dirty="0"/>
              <a:t>+</a:t>
            </a:r>
            <a:r>
              <a:rPr kumimoji="1" lang="ja-JP" altLang="en-US" dirty="0"/>
              <a:t> </a:t>
            </a:r>
            <a:r>
              <a:rPr kumimoji="1" lang="en-US" altLang="ja-JP" dirty="0"/>
              <a:t>LDAP</a:t>
            </a:r>
            <a:r>
              <a:rPr kumimoji="1" lang="ja-JP" altLang="en-US" dirty="0"/>
              <a:t> </a:t>
            </a:r>
            <a:r>
              <a:rPr kumimoji="1" lang="en-US" altLang="ja-JP" dirty="0"/>
              <a:t>Authorization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2336800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 err="1"/>
              <a:t>SearchGuard</a:t>
            </a:r>
            <a:r>
              <a:rPr lang="en-US" altLang="ja-JP" dirty="0"/>
              <a:t> supports multiple </a:t>
            </a:r>
            <a:r>
              <a:rPr lang="en-US" altLang="ja-JP" dirty="0" err="1"/>
              <a:t>auth</a:t>
            </a:r>
            <a:r>
              <a:rPr lang="en-US" altLang="ja-JP" dirty="0"/>
              <a:t> back-ends</a:t>
            </a:r>
          </a:p>
          <a:p>
            <a:pPr lvl="1"/>
            <a:r>
              <a:rPr lang="en-US" altLang="ja-JP" dirty="0"/>
              <a:t>YAML files based configuration</a:t>
            </a:r>
          </a:p>
          <a:p>
            <a:r>
              <a:rPr lang="en-US" altLang="ja-JP" dirty="0"/>
              <a:t>We u</a:t>
            </a:r>
            <a:r>
              <a:rPr kumimoji="1" lang="en-US" altLang="ja-JP" dirty="0"/>
              <a:t>se proxy based authentication and LDAP authorization features for user/group based access control.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5" name="図 4" descr="searchguar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191" y="3935801"/>
            <a:ext cx="8566489" cy="2462142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>
            <a:off x="1505914" y="4293573"/>
            <a:ext cx="3181377" cy="2171443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505913" y="3860801"/>
            <a:ext cx="296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Proxy based authentication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7318057" y="5672187"/>
            <a:ext cx="1605280" cy="785929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579031" y="5865563"/>
            <a:ext cx="18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LDAP authorization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753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7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Development</a:t>
            </a:r>
            <a:r>
              <a:rPr lang="ja-JP" altLang="en-US" dirty="0"/>
              <a:t> </a:t>
            </a:r>
            <a:r>
              <a:rPr lang="en-US" altLang="ja-JP" dirty="0"/>
              <a:t>related</a:t>
            </a:r>
            <a:r>
              <a:rPr lang="ja-JP" altLang="en-US" dirty="0"/>
              <a:t> </a:t>
            </a:r>
            <a:r>
              <a:rPr lang="en-US" altLang="ja-JP" dirty="0"/>
              <a:t>to </a:t>
            </a:r>
            <a:r>
              <a:rPr lang="en-US" altLang="ja-JP" dirty="0" err="1"/>
              <a:t>SearchGuard</a:t>
            </a:r>
            <a:r>
              <a:rPr lang="en-US" altLang="ja-JP" dirty="0"/>
              <a:t>:</a:t>
            </a:r>
            <a:br>
              <a:rPr lang="en-US" altLang="ja-JP" dirty="0"/>
            </a:br>
            <a:r>
              <a:rPr lang="en-US" altLang="ja-JP" dirty="0"/>
              <a:t>Motivation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1550912" y="3124920"/>
            <a:ext cx="355948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kumimoji="1" lang="en-US" altLang="ja-JP" dirty="0">
              <a:latin typeface="Menlo Regular"/>
              <a:cs typeface="Menlo Regular"/>
            </a:endParaRPr>
          </a:p>
          <a:p>
            <a:r>
              <a:rPr kumimoji="1" lang="en-US" altLang="ja-JP" dirty="0">
                <a:latin typeface="Menlo Regular"/>
                <a:cs typeface="Menlo Regular"/>
              </a:rPr>
              <a:t>kibana_</a:t>
            </a:r>
            <a:r>
              <a:rPr kumimoji="1" lang="en-US" altLang="ja-JP" dirty="0">
                <a:solidFill>
                  <a:schemeClr val="tx1"/>
                </a:solidFill>
                <a:latin typeface="Menlo Regular"/>
                <a:cs typeface="Menlo Regular"/>
              </a:rPr>
              <a:t>user01</a:t>
            </a:r>
            <a:r>
              <a:rPr kumimoji="1" lang="en-US" altLang="ja-JP" dirty="0">
                <a:latin typeface="Menlo Regular"/>
                <a:cs typeface="Menlo Regular"/>
              </a:rPr>
              <a:t>_index: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indices: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</a:t>
            </a:r>
            <a:r>
              <a:rPr kumimoji="1" lang="en-US" altLang="ja-JP" dirty="0">
                <a:latin typeface="Menlo Regular"/>
                <a:cs typeface="Menlo Regular"/>
              </a:rPr>
              <a:t>‘</a:t>
            </a:r>
            <a:r>
              <a:rPr kumimoji="1" lang="en-US" altLang="ja-JP" dirty="0">
                <a:solidFill>
                  <a:srgbClr val="0000FF"/>
                </a:solidFill>
                <a:latin typeface="Menlo Regular"/>
                <a:cs typeface="Menlo Regular"/>
              </a:rPr>
              <a:t>.kibana_user01</a:t>
            </a:r>
            <a:r>
              <a:rPr kumimoji="1" lang="en-US" altLang="ja-JP" dirty="0">
                <a:latin typeface="Menlo Regular"/>
                <a:cs typeface="Menlo Regular"/>
              </a:rPr>
              <a:t>’: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  ‘</a:t>
            </a:r>
            <a:r>
              <a:rPr lang="ja-JP" altLang="en-US" dirty="0">
                <a:latin typeface="Menlo Regular"/>
                <a:cs typeface="Menlo Regular"/>
              </a:rPr>
              <a:t>*</a:t>
            </a:r>
            <a:r>
              <a:rPr lang="en-US" altLang="ja-JP" dirty="0">
                <a:latin typeface="Menlo Regular"/>
                <a:cs typeface="Menlo Regular"/>
              </a:rPr>
              <a:t>’: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    </a:t>
            </a:r>
            <a:r>
              <a:rPr kumimoji="1" lang="en-US" altLang="ja-JP" dirty="0">
                <a:latin typeface="Menlo Regular"/>
                <a:cs typeface="Menlo Regular"/>
              </a:rPr>
              <a:t>-</a:t>
            </a:r>
            <a:r>
              <a:rPr kumimoji="1" lang="ja-JP" altLang="en-US" dirty="0">
                <a:latin typeface="Menlo Regular"/>
                <a:cs typeface="Menlo Regular"/>
              </a:rPr>
              <a:t> </a:t>
            </a:r>
            <a:r>
              <a:rPr kumimoji="1" lang="en-US" altLang="ja-JP" dirty="0">
                <a:latin typeface="Menlo Regular"/>
                <a:cs typeface="Menlo Regular"/>
              </a:rPr>
              <a:t>ALL</a:t>
            </a:r>
          </a:p>
          <a:p>
            <a:endParaRPr kumimoji="1" lang="en-US" altLang="ja-JP" dirty="0">
              <a:latin typeface="Menlo Regular"/>
              <a:cs typeface="Menlo Regular"/>
            </a:endParaRPr>
          </a:p>
          <a:p>
            <a:r>
              <a:rPr lang="en-US" altLang="ja-JP" dirty="0">
                <a:latin typeface="Menlo Regular"/>
                <a:cs typeface="Menlo Regular"/>
              </a:rPr>
              <a:t>kibana_</a:t>
            </a:r>
            <a:r>
              <a:rPr lang="en-US" altLang="ja-JP" dirty="0">
                <a:solidFill>
                  <a:schemeClr val="tx1"/>
                </a:solidFill>
                <a:latin typeface="Menlo Regular"/>
                <a:cs typeface="Menlo Regular"/>
              </a:rPr>
              <a:t>user02</a:t>
            </a:r>
            <a:r>
              <a:rPr lang="en-US" altLang="ja-JP" dirty="0">
                <a:latin typeface="Menlo Regular"/>
                <a:cs typeface="Menlo Regular"/>
              </a:rPr>
              <a:t>_index: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indices: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‘</a:t>
            </a:r>
            <a:r>
              <a:rPr lang="en-US" altLang="ja-JP" dirty="0">
                <a:solidFill>
                  <a:srgbClr val="008000"/>
                </a:solidFill>
                <a:latin typeface="Menlo Regular"/>
                <a:cs typeface="Menlo Regular"/>
              </a:rPr>
              <a:t>.kibana_user02</a:t>
            </a:r>
            <a:r>
              <a:rPr lang="en-US" altLang="ja-JP" dirty="0">
                <a:latin typeface="Menlo Regular"/>
                <a:cs typeface="Menlo Regular"/>
              </a:rPr>
              <a:t>’: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  ‘</a:t>
            </a:r>
            <a:r>
              <a:rPr lang="ja-JP" altLang="en-US" dirty="0">
                <a:latin typeface="Menlo Regular"/>
                <a:cs typeface="Menlo Regular"/>
              </a:rPr>
              <a:t>*</a:t>
            </a:r>
            <a:r>
              <a:rPr lang="en-US" altLang="ja-JP" dirty="0">
                <a:latin typeface="Menlo Regular"/>
                <a:cs typeface="Menlo Regular"/>
              </a:rPr>
              <a:t>’: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    -</a:t>
            </a:r>
            <a:r>
              <a:rPr lang="ja-JP" altLang="en-US" dirty="0">
                <a:latin typeface="Menlo Regular"/>
                <a:cs typeface="Menlo Regular"/>
              </a:rPr>
              <a:t> </a:t>
            </a:r>
            <a:r>
              <a:rPr lang="en-US" altLang="ja-JP" dirty="0">
                <a:latin typeface="Menlo Regular"/>
                <a:cs typeface="Menlo Regular"/>
              </a:rPr>
              <a:t>ALL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. . .</a:t>
            </a:r>
            <a:endParaRPr kumimoji="1" lang="ja-JP" altLang="en-US" dirty="0">
              <a:latin typeface="Menlo Regular"/>
              <a:cs typeface="Menlo Regular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5402859" y="3124920"/>
            <a:ext cx="301752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kumimoji="1" lang="en-US" altLang="ja-JP" dirty="0">
              <a:latin typeface="Menlo Regular"/>
              <a:cs typeface="Menlo Regular"/>
            </a:endParaRPr>
          </a:p>
          <a:p>
            <a:r>
              <a:rPr kumimoji="1" lang="en-US" altLang="ja-JP" dirty="0">
                <a:latin typeface="Menlo Regular"/>
                <a:cs typeface="Menlo Regular"/>
              </a:rPr>
              <a:t>kibana_</a:t>
            </a:r>
            <a:r>
              <a:rPr kumimoji="1" lang="en-US" altLang="ja-JP" dirty="0">
                <a:solidFill>
                  <a:schemeClr val="tx1"/>
                </a:solidFill>
                <a:latin typeface="Menlo Regular"/>
                <a:cs typeface="Menlo Regular"/>
              </a:rPr>
              <a:t>user01</a:t>
            </a:r>
            <a:r>
              <a:rPr kumimoji="1" lang="en-US" altLang="ja-JP" dirty="0">
                <a:latin typeface="Menlo Regular"/>
                <a:cs typeface="Menlo Regular"/>
              </a:rPr>
              <a:t>_index: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users:</a:t>
            </a:r>
          </a:p>
          <a:p>
            <a:r>
              <a:rPr kumimoji="1" lang="en-US" altLang="ja-JP" dirty="0">
                <a:latin typeface="Menlo Regular"/>
                <a:cs typeface="Menlo Regular"/>
              </a:rPr>
              <a:t>    </a:t>
            </a:r>
            <a:r>
              <a:rPr kumimoji="1" lang="en-US" altLang="ja-JP" dirty="0">
                <a:solidFill>
                  <a:srgbClr val="0000FF"/>
                </a:solidFill>
                <a:latin typeface="Menlo Regular"/>
                <a:cs typeface="Menlo Regular"/>
              </a:rPr>
              <a:t>user01</a:t>
            </a:r>
          </a:p>
          <a:p>
            <a:endParaRPr kumimoji="1" lang="en-US" altLang="ja-JP" dirty="0">
              <a:latin typeface="Menlo Regular"/>
              <a:cs typeface="Menlo Regular"/>
            </a:endParaRPr>
          </a:p>
          <a:p>
            <a:endParaRPr lang="en-US" altLang="ja-JP" dirty="0">
              <a:latin typeface="Menlo Regular"/>
              <a:cs typeface="Menlo Regular"/>
            </a:endParaRPr>
          </a:p>
          <a:p>
            <a:endParaRPr kumimoji="1" lang="en-US" altLang="ja-JP" dirty="0">
              <a:latin typeface="Menlo Regular"/>
              <a:cs typeface="Menlo Regular"/>
            </a:endParaRPr>
          </a:p>
          <a:p>
            <a:r>
              <a:rPr lang="en-US" altLang="ja-JP" dirty="0">
                <a:latin typeface="Menlo Regular"/>
                <a:cs typeface="Menlo Regular"/>
              </a:rPr>
              <a:t>kibana_</a:t>
            </a:r>
            <a:r>
              <a:rPr lang="en-US" altLang="ja-JP" dirty="0">
                <a:solidFill>
                  <a:schemeClr val="tx1"/>
                </a:solidFill>
                <a:latin typeface="Menlo Regular"/>
                <a:cs typeface="Menlo Regular"/>
              </a:rPr>
              <a:t>user02</a:t>
            </a:r>
            <a:r>
              <a:rPr lang="en-US" altLang="ja-JP" dirty="0">
                <a:latin typeface="Menlo Regular"/>
                <a:cs typeface="Menlo Regular"/>
              </a:rPr>
              <a:t>_index: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users: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</a:t>
            </a:r>
            <a:r>
              <a:rPr lang="en-US" altLang="ja-JP" dirty="0">
                <a:solidFill>
                  <a:srgbClr val="008000"/>
                </a:solidFill>
                <a:latin typeface="Menlo Regular"/>
                <a:cs typeface="Menlo Regular"/>
              </a:rPr>
              <a:t>user02</a:t>
            </a:r>
          </a:p>
          <a:p>
            <a:endParaRPr lang="en-US" altLang="ja-JP" dirty="0">
              <a:latin typeface="Menlo Regular"/>
              <a:cs typeface="Menlo Regular"/>
            </a:endParaRPr>
          </a:p>
          <a:p>
            <a:endParaRPr lang="en-US" altLang="ja-JP" dirty="0">
              <a:latin typeface="Menlo Regular"/>
              <a:cs typeface="Menlo Regular"/>
            </a:endParaRPr>
          </a:p>
          <a:p>
            <a:r>
              <a:rPr lang="en-US" altLang="ja-JP" dirty="0">
                <a:latin typeface="Menlo Regular"/>
                <a:cs typeface="Menlo Regular"/>
              </a:rPr>
              <a:t>. . .</a:t>
            </a:r>
            <a:endParaRPr kumimoji="1" lang="ja-JP" altLang="en-US" dirty="0">
              <a:latin typeface="Menlo Regular"/>
              <a:cs typeface="Menlo Regular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1997380" y="2743287"/>
            <a:ext cx="2572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err="1"/>
              <a:t>sg_roles.yml</a:t>
            </a:r>
            <a:endParaRPr kumimoji="1" lang="ja-JP" altLang="en-US" sz="20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233061" y="2742990"/>
            <a:ext cx="3421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err="1"/>
              <a:t>sg_roles_mapping.yml</a:t>
            </a:r>
            <a:endParaRPr kumimoji="1" lang="ja-JP" altLang="en-US" sz="2000" dirty="0"/>
          </a:p>
        </p:txBody>
      </p:sp>
      <p:sp>
        <p:nvSpPr>
          <p:cNvPr id="35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25683" y="1126032"/>
            <a:ext cx="8544560" cy="1694702"/>
          </a:xfrm>
        </p:spPr>
        <p:txBody>
          <a:bodyPr>
            <a:noAutofit/>
          </a:bodyPr>
          <a:lstStyle/>
          <a:p>
            <a:r>
              <a:rPr lang="en-US" altLang="ja-JP" sz="2400" dirty="0"/>
              <a:t>Each user has</a:t>
            </a:r>
            <a:r>
              <a:rPr lang="ja-JP" altLang="en-US" sz="2400" dirty="0"/>
              <a:t> </a:t>
            </a:r>
            <a:r>
              <a:rPr lang="en-US" altLang="ja-JP" sz="2400" dirty="0"/>
              <a:t>a own </a:t>
            </a:r>
            <a:r>
              <a:rPr lang="en-US" altLang="ja-JP" sz="2400" dirty="0" err="1"/>
              <a:t>Kibana</a:t>
            </a:r>
            <a:r>
              <a:rPr lang="en-US" altLang="ja-JP" sz="2400" dirty="0"/>
              <a:t> index and</a:t>
            </a:r>
            <a:r>
              <a:rPr lang="ja-JP" altLang="en-US" sz="2400" dirty="0"/>
              <a:t> </a:t>
            </a:r>
            <a:r>
              <a:rPr lang="en-US" altLang="ja-JP" sz="2400" dirty="0"/>
              <a:t>each index allows access only from the owner.</a:t>
            </a:r>
          </a:p>
          <a:p>
            <a:r>
              <a:rPr lang="en-US" altLang="ja-JP" sz="2400" dirty="0"/>
              <a:t>Admin has to define permissions for every user.</a:t>
            </a:r>
          </a:p>
          <a:p>
            <a:r>
              <a:rPr lang="en-US" altLang="ja-JP" sz="2400" dirty="0"/>
              <a:t>Whenever new user is registered, admin has to add permission.</a:t>
            </a:r>
            <a:endParaRPr lang="ja-JP" altLang="en-US" sz="2400" dirty="0"/>
          </a:p>
        </p:txBody>
      </p:sp>
      <p:sp>
        <p:nvSpPr>
          <p:cNvPr id="3" name="角丸四角形 2"/>
          <p:cNvSpPr/>
          <p:nvPr/>
        </p:nvSpPr>
        <p:spPr>
          <a:xfrm>
            <a:off x="1380168" y="3387375"/>
            <a:ext cx="7325080" cy="1455461"/>
          </a:xfrm>
          <a:prstGeom prst="roundRect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1380168" y="5038375"/>
            <a:ext cx="7325080" cy="1455461"/>
          </a:xfrm>
          <a:prstGeom prst="roundRect">
            <a:avLst/>
          </a:prstGeom>
          <a:noFill/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7075" y="3712536"/>
            <a:ext cx="1440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rgbClr val="3366FF"/>
                </a:solidFill>
              </a:rPr>
              <a:t>Permission for user01</a:t>
            </a:r>
            <a:endParaRPr kumimoji="1" lang="ja-JP" altLang="en-US" sz="2000" dirty="0">
              <a:solidFill>
                <a:srgbClr val="3366FF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97076" y="5439736"/>
            <a:ext cx="1440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rgbClr val="008000"/>
                </a:solidFill>
              </a:rPr>
              <a:t>Permission for user02</a:t>
            </a:r>
            <a:endParaRPr kumimoji="1" lang="ja-JP" altLang="en-US" sz="2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696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Development of</a:t>
            </a:r>
            <a:r>
              <a:rPr lang="ja-JP" altLang="en-US" dirty="0"/>
              <a:t> </a:t>
            </a:r>
            <a:r>
              <a:rPr lang="en-US" altLang="ja-JP" dirty="0"/>
              <a:t>a</a:t>
            </a:r>
            <a:r>
              <a:rPr lang="ja-JP" altLang="en-US" dirty="0"/>
              <a:t> </a:t>
            </a:r>
            <a:r>
              <a:rPr lang="en-US" altLang="ja-JP" dirty="0" err="1"/>
              <a:t>SearchGuard</a:t>
            </a:r>
            <a:r>
              <a:rPr lang="ja-JP" altLang="en-US" dirty="0"/>
              <a:t> </a:t>
            </a:r>
            <a:r>
              <a:rPr lang="en-US" altLang="ja-JP" dirty="0"/>
              <a:t>Patch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16200"/>
          </a:xfrm>
        </p:spPr>
        <p:txBody>
          <a:bodyPr>
            <a:normAutofit/>
          </a:bodyPr>
          <a:lstStyle/>
          <a:p>
            <a:r>
              <a:rPr lang="en-US" altLang="ja-JP" dirty="0"/>
              <a:t>Enables to set username variable in configuration file and releases the admin from the troublesome task</a:t>
            </a:r>
          </a:p>
          <a:p>
            <a:r>
              <a:rPr kumimoji="1" lang="ja-JP" altLang="ja-JP" dirty="0"/>
              <a:t>H</a:t>
            </a:r>
            <a:r>
              <a:rPr kumimoji="1" lang="en-US" altLang="ja-JP" dirty="0"/>
              <a:t>as</a:t>
            </a:r>
            <a:r>
              <a:rPr kumimoji="1" lang="ja-JP" altLang="en-US" dirty="0"/>
              <a:t> </a:t>
            </a:r>
            <a:r>
              <a:rPr kumimoji="1" lang="en-US" altLang="ja-JP" dirty="0"/>
              <a:t>been</a:t>
            </a:r>
            <a:r>
              <a:rPr kumimoji="1" lang="ja-JP" altLang="en-US" dirty="0"/>
              <a:t> </a:t>
            </a:r>
            <a:r>
              <a:rPr kumimoji="1" lang="en-US" altLang="ja-JP" dirty="0"/>
              <a:t>merged</a:t>
            </a:r>
            <a:r>
              <a:rPr kumimoji="1" lang="ja-JP" altLang="en-US" dirty="0"/>
              <a:t> </a:t>
            </a:r>
            <a:r>
              <a:rPr kumimoji="1" lang="en-US" altLang="ja-JP" dirty="0"/>
              <a:t>to</a:t>
            </a:r>
            <a:r>
              <a:rPr kumimoji="1" lang="ja-JP" altLang="en-US" dirty="0"/>
              <a:t> </a:t>
            </a:r>
            <a:r>
              <a:rPr kumimoji="1" lang="en-US" altLang="ja-JP" dirty="0"/>
              <a:t>upstream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92667" y="4780515"/>
            <a:ext cx="41768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 err="1">
                <a:latin typeface="Menlo Regular"/>
                <a:cs typeface="Menlo Regular"/>
              </a:rPr>
              <a:t>kibana_own_index</a:t>
            </a:r>
            <a:r>
              <a:rPr kumimoji="1" lang="en-US" altLang="ja-JP" dirty="0">
                <a:latin typeface="Menlo Regular"/>
                <a:cs typeface="Menlo Regular"/>
              </a:rPr>
              <a:t>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indices: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</a:t>
            </a:r>
            <a:r>
              <a:rPr kumimoji="1" lang="en-US" altLang="ja-JP" dirty="0">
                <a:latin typeface="Menlo Regular"/>
                <a:cs typeface="Menlo Regular"/>
              </a:rPr>
              <a:t>‘.</a:t>
            </a:r>
            <a:r>
              <a:rPr kumimoji="1" lang="en-US" altLang="ja-JP" dirty="0" err="1">
                <a:latin typeface="Menlo Regular"/>
                <a:cs typeface="Menlo Regular"/>
              </a:rPr>
              <a:t>kibana</a:t>
            </a:r>
            <a:r>
              <a:rPr kumimoji="1" lang="en-US" altLang="ja-JP" dirty="0">
                <a:latin typeface="Menlo Regular"/>
                <a:cs typeface="Menlo Regular"/>
              </a:rPr>
              <a:t>_</a:t>
            </a:r>
            <a:r>
              <a:rPr kumimoji="1" lang="en-US" altLang="ja-JP" dirty="0">
                <a:solidFill>
                  <a:srgbClr val="FF0000"/>
                </a:solidFill>
                <a:latin typeface="Menlo Regular"/>
                <a:cs typeface="Menlo Regular"/>
              </a:rPr>
              <a:t>${</a:t>
            </a:r>
            <a:r>
              <a:rPr kumimoji="1" lang="en-US" altLang="ja-JP" dirty="0" err="1">
                <a:solidFill>
                  <a:srgbClr val="FF0000"/>
                </a:solidFill>
                <a:latin typeface="Menlo Regular"/>
                <a:cs typeface="Menlo Regular"/>
              </a:rPr>
              <a:t>user_name</a:t>
            </a:r>
            <a:r>
              <a:rPr kumimoji="1" lang="en-US" altLang="ja-JP" dirty="0">
                <a:solidFill>
                  <a:srgbClr val="FF0000"/>
                </a:solidFill>
                <a:latin typeface="Menlo Regular"/>
                <a:cs typeface="Menlo Regular"/>
              </a:rPr>
              <a:t>}</a:t>
            </a:r>
            <a:r>
              <a:rPr kumimoji="1" lang="en-US" altLang="ja-JP" dirty="0">
                <a:latin typeface="Menlo Regular"/>
                <a:cs typeface="Menlo Regular"/>
              </a:rPr>
              <a:t>’: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  ‘</a:t>
            </a:r>
            <a:r>
              <a:rPr lang="ja-JP" altLang="en-US" dirty="0">
                <a:latin typeface="Menlo Regular"/>
                <a:cs typeface="Menlo Regular"/>
              </a:rPr>
              <a:t>*</a:t>
            </a:r>
            <a:r>
              <a:rPr lang="en-US" altLang="ja-JP" dirty="0">
                <a:latin typeface="Menlo Regular"/>
                <a:cs typeface="Menlo Regular"/>
              </a:rPr>
              <a:t>’: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      </a:t>
            </a:r>
            <a:r>
              <a:rPr kumimoji="1" lang="en-US" altLang="ja-JP" dirty="0">
                <a:latin typeface="Menlo Regular"/>
                <a:cs typeface="Menlo Regular"/>
              </a:rPr>
              <a:t>-</a:t>
            </a:r>
            <a:r>
              <a:rPr kumimoji="1" lang="ja-JP" altLang="en-US" dirty="0">
                <a:latin typeface="Menlo Regular"/>
                <a:cs typeface="Menlo Regular"/>
              </a:rPr>
              <a:t> </a:t>
            </a:r>
            <a:r>
              <a:rPr kumimoji="1" lang="en-US" altLang="ja-JP" dirty="0">
                <a:latin typeface="Menlo Regular"/>
                <a:cs typeface="Menlo Regular"/>
              </a:rPr>
              <a:t>ALL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392930" y="4234184"/>
            <a:ext cx="2572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err="1"/>
              <a:t>sg_roles.yml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23167" y="4797460"/>
            <a:ext cx="301752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 err="1">
                <a:latin typeface="Menlo Regular"/>
                <a:cs typeface="Menlo Regular"/>
              </a:rPr>
              <a:t>kibana_</a:t>
            </a:r>
            <a:r>
              <a:rPr lang="en-US" altLang="ja-JP" dirty="0" err="1">
                <a:solidFill>
                  <a:schemeClr val="tx1"/>
                </a:solidFill>
                <a:latin typeface="Menlo Regular"/>
                <a:cs typeface="Menlo Regular"/>
              </a:rPr>
              <a:t>own</a:t>
            </a:r>
            <a:r>
              <a:rPr kumimoji="1" lang="en-US" altLang="ja-JP" dirty="0" err="1">
                <a:latin typeface="Menlo Regular"/>
                <a:cs typeface="Menlo Regular"/>
              </a:rPr>
              <a:t>_index</a:t>
            </a:r>
            <a:r>
              <a:rPr kumimoji="1" lang="en-US" altLang="ja-JP" dirty="0">
                <a:latin typeface="Menlo Regular"/>
                <a:cs typeface="Menlo Regular"/>
              </a:rPr>
              <a:t>:</a:t>
            </a:r>
          </a:p>
          <a:p>
            <a:r>
              <a:rPr lang="en-US" altLang="ja-JP" dirty="0">
                <a:latin typeface="Menlo Regular"/>
                <a:cs typeface="Menlo Regular"/>
              </a:rPr>
              <a:t>  users:</a:t>
            </a:r>
          </a:p>
          <a:p>
            <a:r>
              <a:rPr kumimoji="1" lang="en-US" altLang="ja-JP" dirty="0">
                <a:latin typeface="Menlo Regular"/>
                <a:cs typeface="Menlo Regular"/>
              </a:rPr>
              <a:t>    ‘</a:t>
            </a:r>
            <a:r>
              <a:rPr kumimoji="1" lang="en-US" altLang="ja-JP" dirty="0">
                <a:solidFill>
                  <a:srgbClr val="FF0000"/>
                </a:solidFill>
                <a:latin typeface="Menlo Regular"/>
                <a:cs typeface="Menlo Regular"/>
              </a:rPr>
              <a:t>*</a:t>
            </a:r>
            <a:r>
              <a:rPr kumimoji="1" lang="en-US" altLang="ja-JP" dirty="0">
                <a:latin typeface="Menlo Regular"/>
                <a:cs typeface="Menlo Regular"/>
              </a:rPr>
              <a:t>’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903776" y="4234184"/>
            <a:ext cx="3421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err="1"/>
              <a:t>sg_roles_mapping.yml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6436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Contributions</a:t>
            </a:r>
            <a:r>
              <a:rPr kumimoji="1" lang="ja-JP" altLang="en-US" dirty="0"/>
              <a:t> </a:t>
            </a:r>
            <a:r>
              <a:rPr kumimoji="1" lang="en-US" altLang="ja-JP" dirty="0"/>
              <a:t>to </a:t>
            </a:r>
            <a:r>
              <a:rPr kumimoji="1" lang="en-US" altLang="ja-JP" dirty="0" err="1"/>
              <a:t>SearchGuard</a:t>
            </a:r>
            <a:r>
              <a:rPr kumimoji="1" lang="ja-JP" altLang="en-US" dirty="0"/>
              <a:t> </a:t>
            </a:r>
            <a:r>
              <a:rPr kumimoji="1" lang="en-US" altLang="ja-JP" dirty="0"/>
              <a:t>for</a:t>
            </a:r>
            <a:r>
              <a:rPr kumimoji="1" lang="ja-JP" altLang="en-US" dirty="0"/>
              <a:t> </a:t>
            </a:r>
            <a:r>
              <a:rPr kumimoji="1" lang="en-US" altLang="ja-JP" dirty="0"/>
              <a:t>more</a:t>
            </a:r>
            <a:r>
              <a:rPr kumimoji="1" lang="ja-JP" altLang="en-US" dirty="0"/>
              <a:t> </a:t>
            </a:r>
            <a:r>
              <a:rPr kumimoji="1" lang="en-US" altLang="ja-JP" dirty="0"/>
              <a:t>flexible</a:t>
            </a:r>
            <a:r>
              <a:rPr kumimoji="1" lang="ja-JP" altLang="en-US" dirty="0"/>
              <a:t> </a:t>
            </a:r>
            <a:r>
              <a:rPr kumimoji="1" lang="en-US" altLang="ja-JP" dirty="0"/>
              <a:t>configurations</a:t>
            </a:r>
            <a:r>
              <a:rPr kumimoji="1" lang="ja-JP" altLang="en-US" dirty="0"/>
              <a:t> 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en-US" altLang="ja-JP" dirty="0"/>
              <a:t>Support configurable OID</a:t>
            </a:r>
          </a:p>
          <a:p>
            <a:pPr lvl="1"/>
            <a:r>
              <a:rPr lang="en-US" altLang="ja-JP" dirty="0"/>
              <a:t>https://github.com/floragunncom/search-guard/pull/168</a:t>
            </a:r>
          </a:p>
          <a:p>
            <a:r>
              <a:rPr lang="en-US" altLang="ja-JP" dirty="0"/>
              <a:t>Use username variable at indices sections in </a:t>
            </a:r>
            <a:r>
              <a:rPr lang="en-US" altLang="ja-JP" dirty="0" err="1"/>
              <a:t>sg_roles.yml</a:t>
            </a:r>
            <a:endParaRPr lang="en-US" altLang="ja-JP" dirty="0"/>
          </a:p>
          <a:p>
            <a:pPr lvl="1"/>
            <a:r>
              <a:rPr lang="en-US" altLang="ja-JP" dirty="0"/>
              <a:t>https://</a:t>
            </a:r>
            <a:r>
              <a:rPr lang="en-US" altLang="ja-JP" dirty="0" err="1"/>
              <a:t>github.com</a:t>
            </a:r>
            <a:r>
              <a:rPr lang="en-US" altLang="ja-JP" dirty="0"/>
              <a:t>/</a:t>
            </a:r>
            <a:r>
              <a:rPr lang="en-US" altLang="ja-JP" dirty="0" err="1"/>
              <a:t>floragunncom</a:t>
            </a:r>
            <a:r>
              <a:rPr lang="en-US" altLang="ja-JP" dirty="0"/>
              <a:t>/search-guard/pull/169</a:t>
            </a:r>
          </a:p>
          <a:p>
            <a:r>
              <a:rPr lang="en-US" altLang="ja-JP" dirty="0"/>
              <a:t>Support </a:t>
            </a:r>
            <a:r>
              <a:rPr lang="en-US" altLang="ja-JP" dirty="0" err="1"/>
              <a:t>and_backendroles</a:t>
            </a:r>
            <a:endParaRPr lang="en-US" altLang="ja-JP" dirty="0"/>
          </a:p>
          <a:p>
            <a:pPr lvl="1"/>
            <a:r>
              <a:rPr lang="en-US" altLang="ja-JP" dirty="0"/>
              <a:t>https://</a:t>
            </a:r>
            <a:r>
              <a:rPr lang="en-US" altLang="ja-JP" dirty="0" err="1"/>
              <a:t>github.com</a:t>
            </a:r>
            <a:r>
              <a:rPr lang="en-US" altLang="ja-JP" dirty="0"/>
              <a:t>/</a:t>
            </a:r>
            <a:r>
              <a:rPr lang="en-US" altLang="ja-JP" dirty="0" err="1"/>
              <a:t>floragunncom</a:t>
            </a:r>
            <a:r>
              <a:rPr lang="en-US" altLang="ja-JP" dirty="0"/>
              <a:t>/search-guard/pull/247</a:t>
            </a:r>
          </a:p>
          <a:p>
            <a:r>
              <a:rPr kumimoji="1" lang="en-US" altLang="ja-JP" dirty="0"/>
              <a:t>Add </a:t>
            </a:r>
            <a:r>
              <a:rPr kumimoji="1" lang="en-US" altLang="ja-JP" dirty="0" err="1"/>
              <a:t>skip_users</a:t>
            </a:r>
            <a:r>
              <a:rPr kumimoji="1" lang="en-US" altLang="ja-JP" dirty="0"/>
              <a:t> option</a:t>
            </a:r>
          </a:p>
          <a:p>
            <a:pPr lvl="1"/>
            <a:r>
              <a:rPr lang="en-US" altLang="ja-JP" dirty="0"/>
              <a:t>https://</a:t>
            </a:r>
            <a:r>
              <a:rPr lang="en-US" altLang="ja-JP" dirty="0" err="1"/>
              <a:t>github.com</a:t>
            </a:r>
            <a:r>
              <a:rPr lang="en-US" altLang="ja-JP" dirty="0"/>
              <a:t>/</a:t>
            </a:r>
            <a:r>
              <a:rPr lang="en-US" altLang="ja-JP" dirty="0" err="1"/>
              <a:t>floragunncom</a:t>
            </a:r>
            <a:r>
              <a:rPr lang="en-US" altLang="ja-JP" dirty="0"/>
              <a:t>/search-guard-</a:t>
            </a:r>
            <a:r>
              <a:rPr lang="en-US" altLang="ja-JP" dirty="0" err="1"/>
              <a:t>authbackend</a:t>
            </a:r>
            <a:r>
              <a:rPr lang="en-US" altLang="ja-JP" dirty="0"/>
              <a:t>-</a:t>
            </a:r>
            <a:r>
              <a:rPr lang="en-US" altLang="ja-JP" dirty="0" err="1"/>
              <a:t>ldap</a:t>
            </a:r>
            <a:r>
              <a:rPr lang="en-US" altLang="ja-JP" dirty="0"/>
              <a:t>/pull/1</a:t>
            </a:r>
            <a:endParaRPr kumimoji="1" lang="ja-JP" altLang="en-US" dirty="0"/>
          </a:p>
        </p:txBody>
      </p:sp>
      <p:pic>
        <p:nvPicPr>
          <p:cNvPr id="4" name="図 3" descr="スクリーンショット 2017-02-27 16.09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7277" y="1684003"/>
            <a:ext cx="1016000" cy="355600"/>
          </a:xfrm>
          <a:prstGeom prst="rect">
            <a:avLst/>
          </a:prstGeom>
        </p:spPr>
      </p:pic>
      <p:pic>
        <p:nvPicPr>
          <p:cNvPr id="5" name="図 4" descr="スクリーンショット 2017-02-27 16.09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971" y="2901827"/>
            <a:ext cx="1016000" cy="355600"/>
          </a:xfrm>
          <a:prstGeom prst="rect">
            <a:avLst/>
          </a:prstGeom>
        </p:spPr>
      </p:pic>
      <p:pic>
        <p:nvPicPr>
          <p:cNvPr id="6" name="図 5" descr="スクリーンショット 2017-02-27 16.09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454" y="3753748"/>
            <a:ext cx="1016000" cy="355600"/>
          </a:xfrm>
          <a:prstGeom prst="rect">
            <a:avLst/>
          </a:prstGeom>
        </p:spPr>
      </p:pic>
      <p:pic>
        <p:nvPicPr>
          <p:cNvPr id="7" name="図 6" descr="スクリーンショット 2017-02-27 16.09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9277" y="4616432"/>
            <a:ext cx="1016000" cy="355600"/>
          </a:xfrm>
          <a:prstGeom prst="rect">
            <a:avLst/>
          </a:prstGeom>
        </p:spPr>
      </p:pic>
      <p:sp>
        <p:nvSpPr>
          <p:cNvPr id="8" name="スライド番号プレースホルダー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273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overview_of_solutio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488" y="1530858"/>
            <a:ext cx="8864178" cy="4710341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Overview</a:t>
            </a:r>
            <a:r>
              <a:rPr kumimoji="1" lang="ja-JP" altLang="en-US" dirty="0"/>
              <a:t> </a:t>
            </a:r>
            <a:r>
              <a:rPr kumimoji="1" lang="en-US" altLang="ja-JP" dirty="0"/>
              <a:t>of</a:t>
            </a:r>
            <a:r>
              <a:rPr kumimoji="1" lang="ja-JP" altLang="en-US" dirty="0"/>
              <a:t> </a:t>
            </a:r>
            <a:r>
              <a:rPr kumimoji="1" lang="en-US" altLang="ja-JP" dirty="0"/>
              <a:t>Our Solution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7" name="メモ 6"/>
          <p:cNvSpPr/>
          <p:nvPr/>
        </p:nvSpPr>
        <p:spPr>
          <a:xfrm>
            <a:off x="4490720" y="1939491"/>
            <a:ext cx="812800" cy="365125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patch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8" name="メモ 7"/>
          <p:cNvSpPr/>
          <p:nvPr/>
        </p:nvSpPr>
        <p:spPr>
          <a:xfrm>
            <a:off x="5449294" y="3362208"/>
            <a:ext cx="812800" cy="365125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patch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6485090" y="5521955"/>
            <a:ext cx="1605280" cy="785929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918960" y="6263990"/>
            <a:ext cx="124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Developed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1" name="メモ 10"/>
          <p:cNvSpPr/>
          <p:nvPr/>
        </p:nvSpPr>
        <p:spPr>
          <a:xfrm>
            <a:off x="5449294" y="3727333"/>
            <a:ext cx="812800" cy="365125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patch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2" name="メモ 11"/>
          <p:cNvSpPr/>
          <p:nvPr/>
        </p:nvSpPr>
        <p:spPr>
          <a:xfrm>
            <a:off x="5449294" y="4092458"/>
            <a:ext cx="812800" cy="365125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patch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3" name="メモ 12"/>
          <p:cNvSpPr/>
          <p:nvPr/>
        </p:nvSpPr>
        <p:spPr>
          <a:xfrm>
            <a:off x="5449294" y="4461486"/>
            <a:ext cx="812800" cy="365125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patch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62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 sz="3600" dirty="0"/>
              <a:t>4</a:t>
            </a:r>
            <a:r>
              <a:rPr kumimoji="1" lang="en-US" altLang="ja-JP" sz="3600" dirty="0"/>
              <a:t>. Measurement of</a:t>
            </a:r>
            <a:r>
              <a:rPr kumimoji="1" lang="ja-JP" altLang="en-US" sz="3600" dirty="0"/>
              <a:t> </a:t>
            </a:r>
            <a:r>
              <a:rPr kumimoji="1" lang="en-US" altLang="ja-JP" sz="3600" dirty="0" err="1"/>
              <a:t>SearchGuard-ed</a:t>
            </a:r>
            <a:r>
              <a:rPr kumimoji="1" lang="ja-JP" altLang="en-US" sz="3600" dirty="0"/>
              <a:t> </a:t>
            </a:r>
            <a:r>
              <a:rPr kumimoji="1" lang="en-US" altLang="ja-JP" sz="3600" dirty="0" err="1"/>
              <a:t>ElasticSearch</a:t>
            </a:r>
            <a:r>
              <a:rPr kumimoji="1" lang="ja-JP" altLang="en-US" sz="3600" dirty="0"/>
              <a:t> </a:t>
            </a:r>
            <a:r>
              <a:rPr lang="en-US" altLang="ja-JP" sz="3600" dirty="0"/>
              <a:t>Performance</a:t>
            </a:r>
            <a:r>
              <a:rPr kumimoji="1" lang="en-US" altLang="ja-JP" sz="3600" dirty="0"/>
              <a:t> by Rally</a:t>
            </a:r>
            <a:endParaRPr kumimoji="1" lang="ja-JP" altLang="en-US" sz="36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What</a:t>
            </a:r>
            <a:r>
              <a:rPr kumimoji="1" lang="ja-JP" altLang="en-US" dirty="0"/>
              <a:t> </a:t>
            </a:r>
            <a:r>
              <a:rPr kumimoji="1" lang="en-US" altLang="ja-JP" dirty="0"/>
              <a:t>is</a:t>
            </a:r>
            <a:r>
              <a:rPr kumimoji="1" lang="ja-JP" altLang="en-US" dirty="0"/>
              <a:t> </a:t>
            </a:r>
            <a:r>
              <a:rPr kumimoji="1" lang="en-US" altLang="ja-JP" dirty="0"/>
              <a:t>Rally?</a:t>
            </a:r>
          </a:p>
          <a:p>
            <a:pPr lvl="1"/>
            <a:r>
              <a:rPr kumimoji="1" lang="en-US" altLang="ja-JP" dirty="0"/>
              <a:t>Benchmarking</a:t>
            </a:r>
            <a:r>
              <a:rPr kumimoji="1" lang="ja-JP" altLang="en-US" dirty="0"/>
              <a:t> </a:t>
            </a:r>
            <a:r>
              <a:rPr kumimoji="1" lang="en-US" altLang="ja-JP" dirty="0"/>
              <a:t>tool</a:t>
            </a:r>
            <a:r>
              <a:rPr kumimoji="1" lang="ja-JP" altLang="en-US" dirty="0"/>
              <a:t> </a:t>
            </a:r>
            <a:r>
              <a:rPr kumimoji="1" lang="en-US" altLang="ja-JP" dirty="0"/>
              <a:t>for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ElasticSearch</a:t>
            </a:r>
            <a:endParaRPr kumimoji="1" lang="en-US" altLang="ja-JP" dirty="0"/>
          </a:p>
          <a:p>
            <a:pPr lvl="2"/>
            <a:r>
              <a:rPr lang="en-US" altLang="ja-JP" dirty="0"/>
              <a:t>https://www.elastic.co/blog/announcing-rally-benchmarking-for-elasticsearch</a:t>
            </a:r>
          </a:p>
          <a:p>
            <a:pPr lvl="2"/>
            <a:r>
              <a:rPr lang="en-US" altLang="ja-JP" dirty="0"/>
              <a:t>https://github.com/elastic/rally</a:t>
            </a:r>
          </a:p>
          <a:p>
            <a:pPr lvl="1"/>
            <a:r>
              <a:rPr kumimoji="1" lang="en-US" altLang="ja-JP" dirty="0"/>
              <a:t>Measures indexing throughput, query latencies</a:t>
            </a:r>
          </a:p>
          <a:p>
            <a:pPr lvl="1"/>
            <a:r>
              <a:rPr lang="en-US" altLang="ja-JP" dirty="0"/>
              <a:t>Provides a few default scenarios and user can define customized one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491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 descr="es_with_s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5200" y="4978400"/>
            <a:ext cx="5381626" cy="1283143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Test</a:t>
            </a:r>
            <a:r>
              <a:rPr kumimoji="1" lang="ja-JP" altLang="en-US" dirty="0"/>
              <a:t> </a:t>
            </a:r>
            <a:r>
              <a:rPr kumimoji="1" lang="en-US" altLang="ja-JP" dirty="0"/>
              <a:t>Scenario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75081"/>
            <a:ext cx="8229600" cy="3581400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Used Rally default </a:t>
            </a:r>
            <a:r>
              <a:rPr kumimoji="1" lang="en-US" altLang="ja-JP" dirty="0"/>
              <a:t>scenario named “</a:t>
            </a:r>
            <a:r>
              <a:rPr lang="en-US" altLang="ja-JP" dirty="0" err="1"/>
              <a:t>g</a:t>
            </a:r>
            <a:r>
              <a:rPr kumimoji="1" lang="en-US" altLang="ja-JP" dirty="0" err="1"/>
              <a:t>eonames</a:t>
            </a:r>
            <a:r>
              <a:rPr kumimoji="1" lang="en-US" altLang="ja-JP" dirty="0"/>
              <a:t>”</a:t>
            </a:r>
          </a:p>
          <a:p>
            <a:pPr lvl="1"/>
            <a:r>
              <a:rPr lang="en-US" altLang="ja-JP" dirty="0"/>
              <a:t>Uses geographical dataset</a:t>
            </a:r>
          </a:p>
          <a:p>
            <a:pPr lvl="2"/>
            <a:r>
              <a:rPr lang="en-US" altLang="ja-JP" dirty="0"/>
              <a:t>Data source: http://www.geonames.org/</a:t>
            </a:r>
          </a:p>
          <a:p>
            <a:pPr lvl="1"/>
            <a:r>
              <a:rPr lang="en-US" altLang="ja-JP" dirty="0"/>
              <a:t>Indexes 8.6M documents (total 2.8GB) and 5000 docs per bulk request against </a:t>
            </a:r>
            <a:r>
              <a:rPr lang="en-US" altLang="ja-JP" dirty="0" err="1"/>
              <a:t>ElasticSearch</a:t>
            </a:r>
            <a:endParaRPr kumimoji="1" lang="en-US" altLang="ja-JP" dirty="0"/>
          </a:p>
          <a:p>
            <a:r>
              <a:rPr lang="en-US" altLang="ja-JP" dirty="0"/>
              <a:t>Compared performance between normal </a:t>
            </a:r>
            <a:r>
              <a:rPr lang="en-US" altLang="ja-JP" dirty="0" err="1"/>
              <a:t>ElasticSearch</a:t>
            </a:r>
            <a:r>
              <a:rPr lang="en-US" altLang="ja-JP" dirty="0"/>
              <a:t> and </a:t>
            </a:r>
            <a:r>
              <a:rPr lang="en-US" altLang="ja-JP" dirty="0" err="1"/>
              <a:t>SearchGuard-ed</a:t>
            </a:r>
            <a:r>
              <a:rPr lang="en-US" altLang="ja-JP" dirty="0"/>
              <a:t> </a:t>
            </a:r>
            <a:r>
              <a:rPr lang="en-US" altLang="ja-JP" dirty="0" err="1"/>
              <a:t>ElasticSearch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76688" y="5384784"/>
            <a:ext cx="686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Rally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763728" y="5507352"/>
            <a:ext cx="686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Rally</a:t>
            </a:r>
            <a:endParaRPr kumimoji="1" lang="ja-JP" altLang="en-US" dirty="0"/>
          </a:p>
        </p:txBody>
      </p:sp>
      <p:sp>
        <p:nvSpPr>
          <p:cNvPr id="16" name="角丸四角形 15"/>
          <p:cNvSpPr/>
          <p:nvPr/>
        </p:nvSpPr>
        <p:spPr>
          <a:xfrm>
            <a:off x="132080" y="4836160"/>
            <a:ext cx="2672080" cy="1483043"/>
          </a:xfrm>
          <a:prstGeom prst="roundRect">
            <a:avLst>
              <a:gd name="adj" fmla="val 9089"/>
            </a:avLst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角丸四角形 16"/>
          <p:cNvSpPr/>
          <p:nvPr/>
        </p:nvSpPr>
        <p:spPr>
          <a:xfrm>
            <a:off x="3383280" y="4836160"/>
            <a:ext cx="5618480" cy="1483043"/>
          </a:xfrm>
          <a:prstGeom prst="roundRect">
            <a:avLst>
              <a:gd name="adj" fmla="val 9089"/>
            </a:avLst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792639" y="5373188"/>
            <a:ext cx="609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 err="1"/>
              <a:t>vs</a:t>
            </a:r>
            <a:endParaRPr kumimoji="1" lang="ja-JP" altLang="en-US" sz="3200" dirty="0"/>
          </a:p>
        </p:txBody>
      </p:sp>
      <p:pic>
        <p:nvPicPr>
          <p:cNvPr id="20" name="図 19" descr="normal_es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00" y="5618814"/>
            <a:ext cx="2452624" cy="61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52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Test</a:t>
            </a:r>
            <a:r>
              <a:rPr kumimoji="1" lang="ja-JP" altLang="en-US" dirty="0"/>
              <a:t> </a:t>
            </a:r>
            <a:r>
              <a:rPr kumimoji="1" lang="en-US" altLang="ja-JP" dirty="0"/>
              <a:t>Environment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21</a:t>
            </a:fld>
            <a:endParaRPr kumimoji="1" lang="ja-JP" altLang="en-US"/>
          </a:p>
        </p:txBody>
      </p:sp>
      <p:pic>
        <p:nvPicPr>
          <p:cNvPr id="6" name="図 5" descr="environmen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9360" y="1447800"/>
            <a:ext cx="7081520" cy="2744573"/>
          </a:xfrm>
          <a:prstGeom prst="rect">
            <a:avLst/>
          </a:prstGeom>
        </p:spPr>
      </p:pic>
      <p:sp>
        <p:nvSpPr>
          <p:cNvPr id="8" name="四角形吹き出し 7"/>
          <p:cNvSpPr/>
          <p:nvPr/>
        </p:nvSpPr>
        <p:spPr>
          <a:xfrm>
            <a:off x="7538720" y="1691640"/>
            <a:ext cx="1483360" cy="675640"/>
          </a:xfrm>
          <a:prstGeom prst="wedgeRectCallout">
            <a:avLst>
              <a:gd name="adj1" fmla="val -48972"/>
              <a:gd name="adj2" fmla="val 9858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Normal </a:t>
            </a:r>
            <a:r>
              <a:rPr lang="en-US" altLang="ja-JP" dirty="0" err="1"/>
              <a:t>ElasticSearch</a:t>
            </a:r>
            <a:endParaRPr kumimoji="1" lang="ja-JP" altLang="en-US" dirty="0"/>
          </a:p>
        </p:txBody>
      </p:sp>
      <p:sp>
        <p:nvSpPr>
          <p:cNvPr id="9" name="四角形吹き出し 8"/>
          <p:cNvSpPr/>
          <p:nvPr/>
        </p:nvSpPr>
        <p:spPr>
          <a:xfrm>
            <a:off x="132080" y="2768600"/>
            <a:ext cx="1849120" cy="675640"/>
          </a:xfrm>
          <a:prstGeom prst="wedgeRectCallout">
            <a:avLst>
              <a:gd name="adj1" fmla="val 46602"/>
              <a:gd name="adj2" fmla="val 910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SearchGuard-ed</a:t>
            </a:r>
            <a:r>
              <a:rPr lang="en-US" altLang="ja-JP" dirty="0"/>
              <a:t> </a:t>
            </a:r>
            <a:r>
              <a:rPr lang="en-US" altLang="ja-JP" dirty="0" err="1"/>
              <a:t>ElasticSearch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125504"/>
              </p:ext>
            </p:extLst>
          </p:nvPr>
        </p:nvGraphicFramePr>
        <p:xfrm>
          <a:off x="1524000" y="4460875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server01 and server02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OS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/>
                        <a:t>CentOS</a:t>
                      </a:r>
                      <a:r>
                        <a:rPr kumimoji="1" lang="en-US" altLang="ja-JP" dirty="0"/>
                        <a:t> 7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CPU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AMD Opteron 6212 2.6GHz 8 cores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RAM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 GB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/>
                        <a:t>ElasticSearch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2.3.4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/>
                        <a:t>SearchGuard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2.3.4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テキスト ボックス 10"/>
          <p:cNvSpPr txBox="1"/>
          <p:nvPr/>
        </p:nvSpPr>
        <p:spPr>
          <a:xfrm>
            <a:off x="629920" y="1346518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ElasticSearch</a:t>
            </a:r>
            <a:r>
              <a:rPr kumimoji="1" lang="en-US" altLang="ja-JP" dirty="0"/>
              <a:t> Rally 0.3.1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1056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rally_results_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2974"/>
            <a:ext cx="9144000" cy="2164316"/>
          </a:xfrm>
          <a:prstGeom prst="rect">
            <a:avLst/>
          </a:prstGeom>
        </p:spPr>
      </p:pic>
      <p:pic>
        <p:nvPicPr>
          <p:cNvPr id="2" name="図 1" descr="rally_result_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788" y="540265"/>
            <a:ext cx="3640211" cy="2191851"/>
          </a:xfrm>
          <a:prstGeom prst="rect">
            <a:avLst/>
          </a:prstGeom>
        </p:spPr>
      </p:pic>
      <p:sp>
        <p:nvSpPr>
          <p:cNvPr id="18" name="タイトル 1"/>
          <p:cNvSpPr>
            <a:spLocks noGrp="1"/>
          </p:cNvSpPr>
          <p:nvPr>
            <p:ph type="title"/>
          </p:nvPr>
        </p:nvSpPr>
        <p:spPr>
          <a:xfrm>
            <a:off x="457200" y="-89384"/>
            <a:ext cx="8229600" cy="1143000"/>
          </a:xfrm>
        </p:spPr>
        <p:txBody>
          <a:bodyPr/>
          <a:lstStyle/>
          <a:p>
            <a:r>
              <a:rPr kumimoji="1" lang="en-US" altLang="ja-JP" dirty="0"/>
              <a:t>Results</a:t>
            </a:r>
            <a:endParaRPr kumimoji="1" lang="ja-JP" altLang="en-US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898835" y="931354"/>
            <a:ext cx="224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13% </a:t>
            </a:r>
            <a:r>
              <a:rPr lang="en-US" altLang="ja-JP" dirty="0">
                <a:solidFill>
                  <a:srgbClr val="FF0000"/>
                </a:solidFill>
              </a:rPr>
              <a:t>degradation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104794" y="3722736"/>
            <a:ext cx="108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116ms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562701" y="3564870"/>
            <a:ext cx="108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87ms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531239" y="3534619"/>
            <a:ext cx="108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82ms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57199" y="5225880"/>
            <a:ext cx="83396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kumimoji="1" lang="en-US" altLang="ja-JP" sz="2400" dirty="0"/>
              <a:t>Overhead of each query can be estimated as </a:t>
            </a:r>
            <a:r>
              <a:rPr kumimoji="1" lang="en-US" altLang="ja-JP" sz="2400" dirty="0">
                <a:solidFill>
                  <a:srgbClr val="FF0000"/>
                </a:solidFill>
              </a:rPr>
              <a:t>80〜120ms</a:t>
            </a:r>
            <a:r>
              <a:rPr kumimoji="1" lang="en-US" altLang="ja-JP" sz="2400" dirty="0">
                <a:solidFill>
                  <a:srgbClr val="000000"/>
                </a:solidFill>
              </a:rPr>
              <a:t> by 90% and 99% of queries completion lines.</a:t>
            </a:r>
            <a:endParaRPr lang="en-US" altLang="ja-JP" sz="2400" dirty="0">
              <a:solidFill>
                <a:srgbClr val="000000"/>
              </a:solidFill>
            </a:endParaRPr>
          </a:p>
          <a:p>
            <a:pPr marL="742950" lvl="1" indent="-285750">
              <a:buFont typeface="Arial"/>
              <a:buChar char="•"/>
            </a:pPr>
            <a:r>
              <a:rPr kumimoji="1" lang="en-US" altLang="ja-JP" sz="2400" dirty="0"/>
              <a:t>Kerberos authentication, </a:t>
            </a:r>
            <a:r>
              <a:rPr lang="en-US" altLang="ja-JP" sz="2400" dirty="0"/>
              <a:t>R</a:t>
            </a:r>
            <a:r>
              <a:rPr kumimoji="1" lang="en-US" altLang="ja-JP" sz="2400" dirty="0"/>
              <a:t>everse proxy</a:t>
            </a:r>
            <a:r>
              <a:rPr lang="en-US" altLang="ja-JP" sz="2400" dirty="0"/>
              <a:t>, </a:t>
            </a:r>
            <a:r>
              <a:rPr kumimoji="1" lang="en-US" altLang="ja-JP" sz="2400" dirty="0"/>
              <a:t>LDAP lookup</a:t>
            </a:r>
            <a:r>
              <a:rPr lang="en-US" altLang="ja-JP" sz="2400" dirty="0"/>
              <a:t>, </a:t>
            </a:r>
            <a:r>
              <a:rPr kumimoji="1" lang="en-US" altLang="ja-JP" sz="2400" dirty="0"/>
              <a:t>Search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Guard access control</a:t>
            </a:r>
          </a:p>
          <a:p>
            <a:pPr marL="742950" lvl="1" indent="-285750">
              <a:buFont typeface="Arial"/>
              <a:buChar char="•"/>
            </a:pPr>
            <a:endParaRPr kumimoji="1" lang="ja-JP" altLang="en-US" sz="24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D2CF-EAEF-604A-A741-9F7CE07B6A1B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434365" y="4883196"/>
            <a:ext cx="6782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ja-JP" sz="2000" dirty="0"/>
              <a:t>99%tile: 99% queries completed in under a given latency</a:t>
            </a:r>
            <a:endParaRPr kumimoji="1" lang="ja-JP" altLang="en-US" sz="20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85225" y="801041"/>
            <a:ext cx="50824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kumimoji="1" lang="en-US" altLang="ja-JP" sz="2400" dirty="0"/>
              <a:t>Document indexing throughput</a:t>
            </a:r>
          </a:p>
          <a:p>
            <a:pPr marL="285750" indent="-285750">
              <a:buFont typeface="Arial"/>
              <a:buChar char="•"/>
            </a:pPr>
            <a:r>
              <a:rPr lang="en-US" altLang="ja-JP" sz="2400" dirty="0"/>
              <a:t>Query latencies</a:t>
            </a:r>
          </a:p>
          <a:p>
            <a:pPr marL="742950" lvl="1" indent="-285750">
              <a:buFont typeface="Arial"/>
              <a:buChar char="•"/>
            </a:pPr>
            <a:r>
              <a:rPr kumimoji="1" lang="en-US" altLang="ja-JP" sz="2400" dirty="0"/>
              <a:t>Term matching query</a:t>
            </a:r>
          </a:p>
          <a:p>
            <a:pPr marL="742950" lvl="1" indent="-285750">
              <a:buFont typeface="Arial"/>
              <a:buChar char="•"/>
            </a:pPr>
            <a:r>
              <a:rPr lang="en-US" altLang="ja-JP" sz="2400" dirty="0"/>
              <a:t>Phrase matching query</a:t>
            </a:r>
          </a:p>
          <a:p>
            <a:pPr marL="742950" lvl="1" indent="-285750">
              <a:buFont typeface="Arial"/>
              <a:buChar char="•"/>
            </a:pPr>
            <a:r>
              <a:rPr lang="en-US" altLang="ja-JP" sz="2400" dirty="0"/>
              <a:t>“Group by” query</a:t>
            </a:r>
            <a:endParaRPr kumimoji="1" lang="ja-JP" altLang="en-US" sz="2400" dirty="0"/>
          </a:p>
        </p:txBody>
      </p:sp>
      <p:cxnSp>
        <p:nvCxnSpPr>
          <p:cNvPr id="7" name="直線矢印コネクタ 6"/>
          <p:cNvCxnSpPr/>
          <p:nvPr/>
        </p:nvCxnSpPr>
        <p:spPr>
          <a:xfrm flipH="1">
            <a:off x="2403989" y="3381241"/>
            <a:ext cx="1" cy="73091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 flipH="1">
            <a:off x="8527730" y="3302604"/>
            <a:ext cx="2425" cy="37477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 flipH="1">
            <a:off x="5489727" y="3411477"/>
            <a:ext cx="1" cy="73091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7136780" y="1240214"/>
            <a:ext cx="816497" cy="165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38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110"/>
          </a:xfrm>
        </p:spPr>
        <p:txBody>
          <a:bodyPr>
            <a:normAutofit fontScale="85000" lnSpcReduction="20000"/>
          </a:bodyPr>
          <a:lstStyle/>
          <a:p>
            <a:r>
              <a:rPr lang="en-US" altLang="ja-JP" dirty="0"/>
              <a:t>In multi-user environment, user/group based access restriction and dashboard separation </a:t>
            </a:r>
            <a:r>
              <a:rPr lang="ja-JP" altLang="ja-JP" dirty="0"/>
              <a:t>a</a:t>
            </a:r>
            <a:r>
              <a:rPr lang="en-US" altLang="ja-JP" dirty="0"/>
              <a:t>re necessary</a:t>
            </a:r>
            <a:r>
              <a:rPr lang="ja-JP" altLang="en-US" dirty="0"/>
              <a:t> </a:t>
            </a:r>
            <a:r>
              <a:rPr lang="en-US" altLang="ja-JP" dirty="0"/>
              <a:t>for</a:t>
            </a:r>
            <a:r>
              <a:rPr lang="en-US" altLang="en-US" dirty="0"/>
              <a:t> </a:t>
            </a:r>
            <a:r>
              <a:rPr lang="en-US" altLang="ja-JP" dirty="0"/>
              <a:t>secure</a:t>
            </a:r>
            <a:r>
              <a:rPr lang="ja-JP" altLang="en-US" dirty="0"/>
              <a:t> </a:t>
            </a:r>
            <a:r>
              <a:rPr lang="en-US" altLang="ja-JP" dirty="0"/>
              <a:t>use of </a:t>
            </a:r>
            <a:r>
              <a:rPr lang="en-US" altLang="ja-JP" dirty="0" err="1"/>
              <a:t>Kibana</a:t>
            </a:r>
            <a:r>
              <a:rPr lang="en-US" altLang="ja-JP" dirty="0"/>
              <a:t> and </a:t>
            </a:r>
            <a:r>
              <a:rPr lang="en-US" altLang="ja-JP" dirty="0" err="1"/>
              <a:t>ElasticSearch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We provided alternative solution based on the CERN cloud team’s one.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ja-JP" sz="2600" dirty="0"/>
              <a:t>Kerberos 5 authentication</a:t>
            </a:r>
            <a:r>
              <a:rPr lang="ja-JP" altLang="en-US" sz="2600" dirty="0"/>
              <a:t> </a:t>
            </a:r>
            <a:r>
              <a:rPr lang="en-US" altLang="ja-JP" sz="2600" dirty="0"/>
              <a:t>integration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ja-JP" sz="2600" dirty="0" err="1"/>
              <a:t>Kibana</a:t>
            </a:r>
            <a:r>
              <a:rPr lang="en-US" altLang="ja-JP" sz="2600" dirty="0"/>
              <a:t> plugin separates </a:t>
            </a:r>
            <a:r>
              <a:rPr lang="en-US" altLang="ja-JP" sz="2600" dirty="0" err="1"/>
              <a:t>Kibana</a:t>
            </a:r>
            <a:r>
              <a:rPr lang="en-US" altLang="ja-JP" sz="2600" dirty="0"/>
              <a:t> dashboards based on user/group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ja-JP" sz="2600" dirty="0" err="1"/>
              <a:t>SearchGuard</a:t>
            </a:r>
            <a:r>
              <a:rPr lang="en-US" altLang="ja-JP" sz="2600" dirty="0"/>
              <a:t> enables access control on </a:t>
            </a:r>
            <a:r>
              <a:rPr lang="en-US" altLang="ja-JP" sz="2600" dirty="0" err="1"/>
              <a:t>ElasticSearch</a:t>
            </a:r>
            <a:r>
              <a:rPr lang="en-US" altLang="ja-JP" sz="2600" dirty="0"/>
              <a:t> and patches for </a:t>
            </a:r>
            <a:r>
              <a:rPr lang="en-US" altLang="ja-JP" sz="2600" dirty="0" err="1"/>
              <a:t>SearchGuard</a:t>
            </a:r>
            <a:r>
              <a:rPr lang="ja-JP" altLang="en-US" sz="2600" dirty="0"/>
              <a:t> </a:t>
            </a:r>
            <a:r>
              <a:rPr lang="en-US" altLang="ja-JP" sz="2600" dirty="0"/>
              <a:t>enabling flexible access control have been merged to the upstream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ja-JP" sz="2600" dirty="0"/>
              <a:t>We measured performance of </a:t>
            </a:r>
            <a:r>
              <a:rPr lang="en-US" altLang="ja-JP" sz="2600" dirty="0" err="1"/>
              <a:t>SearchGuard-ed</a:t>
            </a:r>
            <a:r>
              <a:rPr lang="en-US" altLang="ja-JP" sz="2600" dirty="0"/>
              <a:t> </a:t>
            </a:r>
            <a:r>
              <a:rPr lang="en-US" altLang="ja-JP" sz="2600" dirty="0" err="1"/>
              <a:t>ElasticSearch</a:t>
            </a:r>
            <a:r>
              <a:rPr lang="en-US" altLang="ja-JP" sz="2600" dirty="0"/>
              <a:t> and compared to the normal one:</a:t>
            </a:r>
          </a:p>
          <a:p>
            <a:pPr marL="1371600" lvl="2" indent="-514350"/>
            <a:r>
              <a:rPr lang="en-US" altLang="ja-JP" dirty="0"/>
              <a:t>Overhead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  <a:r>
              <a:rPr lang="ja-JP" altLang="en-US" dirty="0"/>
              <a:t> </a:t>
            </a:r>
            <a:r>
              <a:rPr lang="en-US" altLang="ja-JP" dirty="0"/>
              <a:t>indexing</a:t>
            </a:r>
            <a:r>
              <a:rPr lang="ja-JP" altLang="en-US" dirty="0"/>
              <a:t> </a:t>
            </a:r>
            <a:r>
              <a:rPr lang="en-US" altLang="ja-JP" dirty="0"/>
              <a:t>throughput:</a:t>
            </a:r>
            <a:r>
              <a:rPr lang="ja-JP" altLang="en-US" dirty="0"/>
              <a:t> </a:t>
            </a:r>
            <a:r>
              <a:rPr lang="en-US" altLang="ja-JP" dirty="0"/>
              <a:t>13%</a:t>
            </a:r>
          </a:p>
          <a:p>
            <a:pPr marL="1371600" lvl="2" indent="-514350"/>
            <a:r>
              <a:rPr lang="en-US" altLang="ja-JP" dirty="0"/>
              <a:t>Estimated</a:t>
            </a:r>
            <a:r>
              <a:rPr lang="ja-JP" altLang="en-US" dirty="0"/>
              <a:t> </a:t>
            </a:r>
            <a:r>
              <a:rPr lang="en-US" altLang="ja-JP" dirty="0"/>
              <a:t>overhead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  <a:r>
              <a:rPr lang="ja-JP" altLang="en-US" dirty="0"/>
              <a:t> </a:t>
            </a:r>
            <a:r>
              <a:rPr lang="en-US" altLang="ja-JP" dirty="0"/>
              <a:t>each query:</a:t>
            </a:r>
            <a:r>
              <a:rPr lang="ja-JP" altLang="en-US" dirty="0"/>
              <a:t> </a:t>
            </a:r>
            <a:r>
              <a:rPr lang="en-US" altLang="ja-JP" dirty="0"/>
              <a:t>80〜120ms</a:t>
            </a:r>
            <a:endParaRPr lang="ja-JP" altLang="en-US" dirty="0"/>
          </a:p>
          <a:p>
            <a:pPr marL="914400" lvl="1" indent="-514350">
              <a:buFont typeface="+mj-lt"/>
              <a:buAutoNum type="arabicPeriod"/>
            </a:pPr>
            <a:endParaRPr lang="en-US" altLang="ja-JP" sz="2400" dirty="0"/>
          </a:p>
          <a:p>
            <a:pPr marL="914400" lvl="1" indent="-514350">
              <a:buFont typeface="+mj-lt"/>
              <a:buAutoNum type="arabicPeriod"/>
            </a:pPr>
            <a:endParaRPr lang="en-US" altLang="ja-JP" sz="2400" dirty="0"/>
          </a:p>
          <a:p>
            <a:pPr marL="914400" lvl="1" indent="-514350">
              <a:buFont typeface="+mj-lt"/>
              <a:buAutoNum type="arabicPeriod"/>
            </a:pP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06FA-1BDD-F141-AE9C-7980720B7E6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1230472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1266</Words>
  <Application>Microsoft Office PowerPoint</Application>
  <PresentationFormat>Presentación en pantalla (4:3)</PresentationFormat>
  <Paragraphs>306</Paragraphs>
  <Slides>23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Menlo Regular</vt:lpstr>
      <vt:lpstr>ホワイト</vt:lpstr>
      <vt:lpstr>A solution for secure use of Kibana and ElasticSearch in multi-user environment</vt:lpstr>
      <vt:lpstr>Kibana and ElasticSearch</vt:lpstr>
      <vt:lpstr>Motivation</vt:lpstr>
      <vt:lpstr>Example: Solution of CERN Cloud team</vt:lpstr>
      <vt:lpstr>We Provide Alternative Solution</vt:lpstr>
      <vt:lpstr>What we did</vt:lpstr>
      <vt:lpstr>1. Kerberos 5 Authentication Integration</vt:lpstr>
      <vt:lpstr>Presentación de PowerPoint</vt:lpstr>
      <vt:lpstr>Development of a Kibana plugin: Motivation</vt:lpstr>
      <vt:lpstr>Development of a Kibana plugin</vt:lpstr>
      <vt:lpstr>Kibana plugin: Own Home</vt:lpstr>
      <vt:lpstr>3. User/group based Access control on ElasticSearch</vt:lpstr>
      <vt:lpstr>Investigation of SearchGuard</vt:lpstr>
      <vt:lpstr>SearchGuard + LDAP Authorization</vt:lpstr>
      <vt:lpstr>Development related to SearchGuard: Motivation</vt:lpstr>
      <vt:lpstr>Development of a SearchGuard Patch</vt:lpstr>
      <vt:lpstr>Contributions to SearchGuard for more flexible configurations </vt:lpstr>
      <vt:lpstr>Overview of Our Solution</vt:lpstr>
      <vt:lpstr>4. Measurement of SearchGuard-ed ElasticSearch Performance by Rally</vt:lpstr>
      <vt:lpstr>Test Scenario</vt:lpstr>
      <vt:lpstr>Test Environment</vt:lpstr>
      <vt:lpstr>Results</vt:lpstr>
      <vt:lpstr>Summary</vt:lpstr>
    </vt:vector>
  </TitlesOfParts>
  <Company>KEK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solution for secure use of Kibana and ElasticSearch in multi-user environment</dc:title>
  <dc:creator>Takase Wataru</dc:creator>
  <cp:lastModifiedBy>Bustio Martínez Lázaro</cp:lastModifiedBy>
  <cp:revision>58</cp:revision>
  <dcterms:created xsi:type="dcterms:W3CDTF">2017-02-03T05:38:22Z</dcterms:created>
  <dcterms:modified xsi:type="dcterms:W3CDTF">2026-05-18T16:21:56Z</dcterms:modified>
</cp:coreProperties>
</file>